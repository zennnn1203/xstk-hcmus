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3"/>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59" autoAdjust="0"/>
  </p:normalViewPr>
  <p:slideViewPr>
    <p:cSldViewPr>
      <p:cViewPr>
        <p:scale>
          <a:sx n="76" d="100"/>
          <a:sy n="76" d="100"/>
        </p:scale>
        <p:origin x="-2598" y="-8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8A0791-FFE0-4E8F-BEB7-E95EC09952A4}" type="datetimeFigureOut">
              <a:rPr lang="en-US" smtClean="0"/>
              <a:t>12/14/2018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F78187-56D4-4930-9CAA-55304F27937D}" type="slidenum">
              <a:rPr lang="en-US" smtClean="0"/>
              <a:t>‹#›</a:t>
            </a:fld>
            <a:endParaRPr lang="en-US"/>
          </a:p>
        </p:txBody>
      </p:sp>
    </p:spTree>
    <p:extLst>
      <p:ext uri="{BB962C8B-B14F-4D97-AF65-F5344CB8AC3E}">
        <p14:creationId xmlns:p14="http://schemas.microsoft.com/office/powerpoint/2010/main" val="261082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F78187-56D4-4930-9CAA-55304F27937D}" type="slidenum">
              <a:rPr lang="en-US" smtClean="0"/>
              <a:t>16</a:t>
            </a:fld>
            <a:endParaRPr lang="en-US"/>
          </a:p>
        </p:txBody>
      </p:sp>
    </p:spTree>
    <p:extLst>
      <p:ext uri="{BB962C8B-B14F-4D97-AF65-F5344CB8AC3E}">
        <p14:creationId xmlns:p14="http://schemas.microsoft.com/office/powerpoint/2010/main" val="636563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F78187-56D4-4930-9CAA-55304F27937D}" type="slidenum">
              <a:rPr lang="en-US" smtClean="0"/>
              <a:t>17</a:t>
            </a:fld>
            <a:endParaRPr lang="en-US"/>
          </a:p>
        </p:txBody>
      </p:sp>
    </p:spTree>
    <p:extLst>
      <p:ext uri="{BB962C8B-B14F-4D97-AF65-F5344CB8AC3E}">
        <p14:creationId xmlns:p14="http://schemas.microsoft.com/office/powerpoint/2010/main" val="10448734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3EE4C170-9AAD-4163-BCEE-CEE6A2B346D9}" type="datetimeFigureOut">
              <a:rPr lang="en-AU" smtClean="0"/>
              <a:t>14/12/2018</a:t>
            </a:fld>
            <a:endParaRPr lang="en-AU"/>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AU"/>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93EB2B93-FA95-4C1E-B237-430A95AFF995}"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93EB2B93-FA95-4C1E-B237-430A95AFF995}" type="slidenum">
              <a:rPr lang="en-AU" smtClean="0"/>
              <a:t>‹#›</a:t>
            </a:fld>
            <a:endParaRPr lang="en-AU"/>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93EB2B93-FA95-4C1E-B237-430A95AFF995}" type="slidenum">
              <a:rPr lang="en-AU" smtClean="0"/>
              <a:t>‹#›</a:t>
            </a:fld>
            <a:endParaRPr lang="en-AU"/>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93EB2B93-FA95-4C1E-B237-430A95AFF995}" type="slidenum">
              <a:rPr lang="en-AU" smtClean="0"/>
              <a:t>‹#›</a:t>
            </a:fld>
            <a:endParaRPr lang="en-AU"/>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8" name="Footer Placeholder 7"/>
          <p:cNvSpPr>
            <a:spLocks noGrp="1"/>
          </p:cNvSpPr>
          <p:nvPr>
            <p:ph type="ftr" sz="quarter" idx="11"/>
          </p:nvPr>
        </p:nvSpPr>
        <p:spPr/>
        <p:txBody>
          <a:bodyPr/>
          <a:lstStyle>
            <a:extLst/>
          </a:lstStyle>
          <a:p>
            <a:endParaRPr lang="en-AU"/>
          </a:p>
        </p:txBody>
      </p:sp>
      <p:sp>
        <p:nvSpPr>
          <p:cNvPr id="9" name="Slide Number Placeholder 8"/>
          <p:cNvSpPr>
            <a:spLocks noGrp="1"/>
          </p:cNvSpPr>
          <p:nvPr>
            <p:ph type="sldNum" sz="quarter" idx="12"/>
          </p:nvPr>
        </p:nvSpPr>
        <p:spPr/>
        <p:txBody>
          <a:bodyPr/>
          <a:lstStyle>
            <a:extLst/>
          </a:lstStyle>
          <a:p>
            <a:fld id="{93EB2B93-FA95-4C1E-B237-430A95AFF995}"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4" name="Footer Placeholder 3"/>
          <p:cNvSpPr>
            <a:spLocks noGrp="1"/>
          </p:cNvSpPr>
          <p:nvPr>
            <p:ph type="ftr" sz="quarter" idx="11"/>
          </p:nvPr>
        </p:nvSpPr>
        <p:spPr/>
        <p:txBody>
          <a:bodyPr/>
          <a:lstStyle>
            <a:extLst/>
          </a:lstStyle>
          <a:p>
            <a:endParaRPr lang="en-AU"/>
          </a:p>
        </p:txBody>
      </p:sp>
      <p:sp>
        <p:nvSpPr>
          <p:cNvPr id="5" name="Slide Number Placeholder 4"/>
          <p:cNvSpPr>
            <a:spLocks noGrp="1"/>
          </p:cNvSpPr>
          <p:nvPr>
            <p:ph type="sldNum" sz="quarter" idx="12"/>
          </p:nvPr>
        </p:nvSpPr>
        <p:spPr/>
        <p:txBody>
          <a:bodyPr/>
          <a:lstStyle>
            <a:extLst/>
          </a:lstStyle>
          <a:p>
            <a:fld id="{93EB2B93-FA95-4C1E-B237-430A95AFF995}" type="slidenum">
              <a:rPr lang="en-AU" smtClean="0"/>
              <a:t>‹#›</a:t>
            </a:fld>
            <a:endParaRPr lang="en-AU"/>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3" name="Footer Placeholder 2"/>
          <p:cNvSpPr>
            <a:spLocks noGrp="1"/>
          </p:cNvSpPr>
          <p:nvPr>
            <p:ph type="ftr" sz="quarter" idx="11"/>
          </p:nvPr>
        </p:nvSpPr>
        <p:spPr/>
        <p:txBody>
          <a:bodyPr/>
          <a:lstStyle>
            <a:extLst/>
          </a:lstStyle>
          <a:p>
            <a:endParaRPr lang="en-AU"/>
          </a:p>
        </p:txBody>
      </p:sp>
      <p:sp>
        <p:nvSpPr>
          <p:cNvPr id="4" name="Slide Number Placeholder 3"/>
          <p:cNvSpPr>
            <a:spLocks noGrp="1"/>
          </p:cNvSpPr>
          <p:nvPr>
            <p:ph type="sldNum" sz="quarter" idx="12"/>
          </p:nvPr>
        </p:nvSpPr>
        <p:spPr/>
        <p:txBody>
          <a:bodyPr/>
          <a:lstStyle>
            <a:extLst/>
          </a:lstStyle>
          <a:p>
            <a:fld id="{93EB2B93-FA95-4C1E-B237-430A95AFF99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3EE4C170-9AAD-4163-BCEE-CEE6A2B346D9}" type="datetimeFigureOut">
              <a:rPr lang="en-AU" smtClean="0"/>
              <a:t>14/12/2018</a:t>
            </a:fld>
            <a:endParaRPr lang="en-AU"/>
          </a:p>
        </p:txBody>
      </p:sp>
      <p:sp>
        <p:nvSpPr>
          <p:cNvPr id="6" name="Footer Placeholder 5"/>
          <p:cNvSpPr>
            <a:spLocks noGrp="1"/>
          </p:cNvSpPr>
          <p:nvPr>
            <p:ph type="ftr" sz="quarter" idx="11"/>
          </p:nvPr>
        </p:nvSpPr>
        <p:spPr/>
        <p:txBody>
          <a:bodyPr/>
          <a:lstStyle>
            <a:extLst/>
          </a:lstStyle>
          <a:p>
            <a:endParaRPr lang="en-AU"/>
          </a:p>
        </p:txBody>
      </p:sp>
      <p:sp>
        <p:nvSpPr>
          <p:cNvPr id="7" name="Slide Number Placeholder 6"/>
          <p:cNvSpPr>
            <a:spLocks noGrp="1"/>
          </p:cNvSpPr>
          <p:nvPr>
            <p:ph type="sldNum" sz="quarter" idx="12"/>
          </p:nvPr>
        </p:nvSpPr>
        <p:spPr/>
        <p:txBody>
          <a:bodyPr/>
          <a:lstStyle>
            <a:extLst/>
          </a:lstStyle>
          <a:p>
            <a:fld id="{93EB2B93-FA95-4C1E-B237-430A95AFF995}"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3EE4C170-9AAD-4163-BCEE-CEE6A2B346D9}" type="datetimeFigureOut">
              <a:rPr lang="en-AU" smtClean="0"/>
              <a:t>14/12/2018</a:t>
            </a:fld>
            <a:endParaRPr lang="en-AU"/>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AU"/>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93EB2B93-FA95-4C1E-B237-430A95AFF995}" type="slidenum">
              <a:rPr lang="en-AU" smtClean="0"/>
              <a:t>‹#›</a:t>
            </a:fld>
            <a:endParaRPr lang="en-AU"/>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93EB2B93-FA95-4C1E-B237-430A95AFF99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EE4C170-9AAD-4163-BCEE-CEE6A2B346D9}" type="datetimeFigureOut">
              <a:rPr lang="en-AU" smtClean="0"/>
              <a:t>14/12/2018</a:t>
            </a:fld>
            <a:endParaRPr lang="en-AU"/>
          </a:p>
        </p:txBody>
      </p:sp>
      <p:sp>
        <p:nvSpPr>
          <p:cNvPr id="5" name="Footer Placeholder 4"/>
          <p:cNvSpPr>
            <a:spLocks noGrp="1"/>
          </p:cNvSpPr>
          <p:nvPr>
            <p:ph type="ftr" sz="quarter" idx="11"/>
          </p:nvPr>
        </p:nvSpPr>
        <p:spPr/>
        <p:txBody>
          <a:bodyPr/>
          <a:lstStyle>
            <a:extLst/>
          </a:lstStyle>
          <a:p>
            <a:endParaRPr lang="en-AU"/>
          </a:p>
        </p:txBody>
      </p:sp>
      <p:sp>
        <p:nvSpPr>
          <p:cNvPr id="6" name="Slide Number Placeholder 5"/>
          <p:cNvSpPr>
            <a:spLocks noGrp="1"/>
          </p:cNvSpPr>
          <p:nvPr>
            <p:ph type="sldNum" sz="quarter" idx="12"/>
          </p:nvPr>
        </p:nvSpPr>
        <p:spPr/>
        <p:txBody>
          <a:bodyPr/>
          <a:lstStyle>
            <a:extLst/>
          </a:lstStyle>
          <a:p>
            <a:fld id="{93EB2B93-FA95-4C1E-B237-430A95AFF99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3EE4C170-9AAD-4163-BCEE-CEE6A2B346D9}" type="datetimeFigureOut">
              <a:rPr lang="en-AU" smtClean="0"/>
              <a:t>14/12/2018</a:t>
            </a:fld>
            <a:endParaRPr lang="en-AU"/>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AU"/>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93EB2B93-FA95-4C1E-B237-430A95AFF995}"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7.wmf"/><Relationship Id="rId5" Type="http://schemas.openxmlformats.org/officeDocument/2006/relationships/oleObject" Target="../embeddings/oleObject1.bin"/><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66836" y="1671778"/>
            <a:ext cx="8610050" cy="1200329"/>
          </a:xfrm>
          <a:prstGeom prst="rect">
            <a:avLst/>
          </a:prstGeom>
          <a:noFill/>
        </p:spPr>
        <p:txBody>
          <a:bodyPr wrap="none" lIns="91440" tIns="45720" rIns="91440" bIns="45720">
            <a:spAutoFit/>
          </a:bodyPr>
          <a:lstStyle/>
          <a:p>
            <a:pPr lvl="1" algn="ctr"/>
            <a:r>
              <a:rPr lang="en-US" sz="7200" b="1" dirty="0" smtClean="0">
                <a:ln w="10541" cmpd="sng">
                  <a:solidFill>
                    <a:schemeClr val="accent1">
                      <a:shade val="88000"/>
                      <a:satMod val="110000"/>
                    </a:schemeClr>
                  </a:solidFill>
                  <a:prstDash val="solid"/>
                </a:ln>
                <a:solidFill>
                  <a:srgbClr val="FF0000"/>
                </a:solidFill>
                <a:latin typeface="Calibri" pitchFamily="34" charset="0"/>
                <a:cs typeface="Calibri" pitchFamily="34" charset="0"/>
              </a:rPr>
              <a:t>HỒI QUI VỀ BIẾN GIẢ</a:t>
            </a: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726" y="80889"/>
            <a:ext cx="1656184" cy="1584176"/>
          </a:xfrm>
          <a:prstGeom prst="rect">
            <a:avLst/>
          </a:prstGeom>
        </p:spPr>
      </p:pic>
      <p:sp>
        <p:nvSpPr>
          <p:cNvPr id="11" name="Rectangle 10"/>
          <p:cNvSpPr/>
          <p:nvPr/>
        </p:nvSpPr>
        <p:spPr>
          <a:xfrm>
            <a:off x="2554007" y="542117"/>
            <a:ext cx="5905784" cy="661720"/>
          </a:xfrm>
          <a:prstGeom prst="rect">
            <a:avLst/>
          </a:prstGeom>
          <a:noFill/>
        </p:spPr>
        <p:txBody>
          <a:bodyPr wrap="none" lIns="91440" tIns="45720" rIns="91440" bIns="45720">
            <a:spAutoFit/>
          </a:bodyPr>
          <a:lstStyle/>
          <a:p>
            <a:pPr algn="ctr"/>
            <a:r>
              <a:rPr lang="en-US" sz="3700" b="1" cap="none" spc="300" err="1"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Calibri" pitchFamily="34" charset="0"/>
                <a:cs typeface="Calibri" pitchFamily="34" charset="0"/>
              </a:rPr>
              <a:t>Môn</a:t>
            </a:r>
            <a:r>
              <a:rPr lang="en-US" sz="3700" b="1" cap="none" spc="30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Calibri" pitchFamily="34" charset="0"/>
                <a:cs typeface="Calibri" pitchFamily="34" charset="0"/>
              </a:rPr>
              <a:t>: THỐNG KÊ KINH TẾ</a:t>
            </a:r>
            <a:endParaRPr lang="en-US" sz="3700" b="1" cap="none" spc="30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latin typeface="Calibri" pitchFamily="34" charset="0"/>
              <a:cs typeface="Calibri" pitchFamily="34" charset="0"/>
            </a:endParaRPr>
          </a:p>
        </p:txBody>
      </p:sp>
      <p:sp>
        <p:nvSpPr>
          <p:cNvPr id="12" name="Rectangle 11"/>
          <p:cNvSpPr/>
          <p:nvPr/>
        </p:nvSpPr>
        <p:spPr>
          <a:xfrm>
            <a:off x="213541" y="5733256"/>
            <a:ext cx="5824607" cy="661720"/>
          </a:xfrm>
          <a:prstGeom prst="rect">
            <a:avLst/>
          </a:prstGeom>
          <a:noFill/>
        </p:spPr>
        <p:txBody>
          <a:bodyPr wrap="non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3700" b="1" err="1" smtClean="0">
                <a:ln/>
                <a:solidFill>
                  <a:schemeClr val="bg1"/>
                </a:solidFill>
                <a:latin typeface="Calibri" pitchFamily="34" charset="0"/>
                <a:cs typeface="Calibri" pitchFamily="34" charset="0"/>
              </a:rPr>
              <a:t>Giảng</a:t>
            </a:r>
            <a:r>
              <a:rPr lang="en-US" sz="3700" b="1" smtClean="0">
                <a:ln/>
                <a:solidFill>
                  <a:schemeClr val="bg1"/>
                </a:solidFill>
                <a:latin typeface="Calibri" pitchFamily="34" charset="0"/>
                <a:cs typeface="Calibri" pitchFamily="34" charset="0"/>
              </a:rPr>
              <a:t> </a:t>
            </a:r>
            <a:r>
              <a:rPr lang="en-US" sz="3700" b="1" err="1" smtClean="0">
                <a:ln/>
                <a:solidFill>
                  <a:schemeClr val="bg1"/>
                </a:solidFill>
                <a:latin typeface="Calibri" pitchFamily="34" charset="0"/>
                <a:cs typeface="Calibri" pitchFamily="34" charset="0"/>
              </a:rPr>
              <a:t>viên</a:t>
            </a:r>
            <a:r>
              <a:rPr lang="en-US" sz="3700" b="1" smtClean="0">
                <a:ln/>
                <a:solidFill>
                  <a:schemeClr val="bg1"/>
                </a:solidFill>
                <a:latin typeface="Calibri" pitchFamily="34" charset="0"/>
                <a:cs typeface="Calibri" pitchFamily="34" charset="0"/>
              </a:rPr>
              <a:t>: </a:t>
            </a:r>
            <a:r>
              <a:rPr lang="en-US" sz="3700" b="1" err="1" smtClean="0">
                <a:ln/>
                <a:solidFill>
                  <a:schemeClr val="bg1"/>
                </a:solidFill>
                <a:latin typeface="Calibri" pitchFamily="34" charset="0"/>
                <a:cs typeface="Calibri" pitchFamily="34" charset="0"/>
              </a:rPr>
              <a:t>Nguyễn</a:t>
            </a:r>
            <a:r>
              <a:rPr lang="en-US" sz="3700" b="1" smtClean="0">
                <a:ln/>
                <a:solidFill>
                  <a:schemeClr val="bg1"/>
                </a:solidFill>
                <a:latin typeface="Calibri" pitchFamily="34" charset="0"/>
                <a:cs typeface="Calibri" pitchFamily="34" charset="0"/>
              </a:rPr>
              <a:t> </a:t>
            </a:r>
            <a:r>
              <a:rPr lang="en-US" sz="3700" b="1" err="1" smtClean="0">
                <a:ln/>
                <a:solidFill>
                  <a:schemeClr val="bg1"/>
                </a:solidFill>
                <a:latin typeface="Calibri" pitchFamily="34" charset="0"/>
                <a:cs typeface="Calibri" pitchFamily="34" charset="0"/>
              </a:rPr>
              <a:t>Văn</a:t>
            </a:r>
            <a:r>
              <a:rPr lang="en-US" sz="3700" b="1" smtClean="0">
                <a:ln/>
                <a:solidFill>
                  <a:schemeClr val="bg1"/>
                </a:solidFill>
                <a:latin typeface="Calibri" pitchFamily="34" charset="0"/>
                <a:cs typeface="Calibri" pitchFamily="34" charset="0"/>
              </a:rPr>
              <a:t> </a:t>
            </a:r>
            <a:r>
              <a:rPr lang="en-US" sz="3700" b="1" err="1" smtClean="0">
                <a:ln/>
                <a:solidFill>
                  <a:schemeClr val="bg1"/>
                </a:solidFill>
                <a:latin typeface="Calibri" pitchFamily="34" charset="0"/>
                <a:cs typeface="Calibri" pitchFamily="34" charset="0"/>
              </a:rPr>
              <a:t>Thìn</a:t>
            </a:r>
            <a:endParaRPr lang="en-US" sz="3700" b="1" cap="none" spc="0">
              <a:ln/>
              <a:solidFill>
                <a:schemeClr val="bg1"/>
              </a:solidFill>
              <a:effectLst/>
              <a:latin typeface="Calibri" pitchFamily="34" charset="0"/>
              <a:cs typeface="Calibri" pitchFamily="34" charset="0"/>
            </a:endParaRPr>
          </a:p>
        </p:txBody>
      </p:sp>
      <p:sp>
        <p:nvSpPr>
          <p:cNvPr id="13" name="TextBox 12"/>
          <p:cNvSpPr txBox="1"/>
          <p:nvPr/>
        </p:nvSpPr>
        <p:spPr>
          <a:xfrm>
            <a:off x="3500104" y="2981449"/>
            <a:ext cx="5665333" cy="2723823"/>
          </a:xfrm>
          <a:prstGeom prst="rect">
            <a:avLst/>
          </a:prstGeom>
          <a:noFill/>
        </p:spPr>
        <p:txBody>
          <a:bodyPr wrap="none" rtlCol="0">
            <a:spAutoFit/>
          </a:bodyPr>
          <a:lstStyle/>
          <a:p>
            <a:pPr marL="109728" indent="0">
              <a:buNone/>
            </a:pPr>
            <a:r>
              <a:rPr lang="en-US" sz="1900" b="1" dirty="0">
                <a:ln/>
                <a:solidFill>
                  <a:schemeClr val="accent4">
                    <a:lumMod val="75000"/>
                  </a:schemeClr>
                </a:solidFill>
                <a:latin typeface="Calibri" pitchFamily="34" charset="0"/>
                <a:cs typeface="Calibri" pitchFamily="34" charset="0"/>
              </a:rPr>
              <a:t>NHÓM 7: </a:t>
            </a:r>
          </a:p>
          <a:p>
            <a:pPr marL="514350" indent="-514350">
              <a:buFont typeface="+mj-lt"/>
              <a:buAutoNum type="arabicPeriod"/>
            </a:pPr>
            <a:r>
              <a:rPr lang="en-US" sz="1900" b="1" dirty="0" err="1">
                <a:ln/>
                <a:solidFill>
                  <a:schemeClr val="accent4">
                    <a:lumMod val="75000"/>
                  </a:schemeClr>
                </a:solidFill>
                <a:latin typeface="Calibri" pitchFamily="34" charset="0"/>
                <a:cs typeface="Calibri" pitchFamily="34" charset="0"/>
              </a:rPr>
              <a:t>Huỳnh</a:t>
            </a:r>
            <a:r>
              <a:rPr lang="en-US" sz="1900" b="1" dirty="0">
                <a:ln/>
                <a:solidFill>
                  <a:schemeClr val="accent4">
                    <a:lumMod val="75000"/>
                  </a:schemeClr>
                </a:solidFill>
                <a:latin typeface="Calibri" pitchFamily="34" charset="0"/>
                <a:cs typeface="Calibri" pitchFamily="34" charset="0"/>
              </a:rPr>
              <a:t> Kim Chi			1411024</a:t>
            </a:r>
          </a:p>
          <a:p>
            <a:pPr marL="514350" indent="-514350">
              <a:buFont typeface="+mj-lt"/>
              <a:buAutoNum type="arabicPeriod"/>
            </a:pPr>
            <a:r>
              <a:rPr lang="en-US" sz="1900" b="1" dirty="0" err="1">
                <a:ln/>
                <a:solidFill>
                  <a:schemeClr val="accent4">
                    <a:lumMod val="75000"/>
                  </a:schemeClr>
                </a:solidFill>
                <a:latin typeface="Calibri" pitchFamily="34" charset="0"/>
                <a:cs typeface="Calibri" pitchFamily="34" charset="0"/>
              </a:rPr>
              <a:t>Võ</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Thị</a:t>
            </a:r>
            <a:r>
              <a:rPr lang="en-US" sz="1900" b="1" dirty="0">
                <a:ln/>
                <a:solidFill>
                  <a:schemeClr val="accent4">
                    <a:lumMod val="75000"/>
                  </a:schemeClr>
                </a:solidFill>
                <a:latin typeface="Calibri" pitchFamily="34" charset="0"/>
                <a:cs typeface="Calibri" pitchFamily="34" charset="0"/>
              </a:rPr>
              <a:t> Thu </a:t>
            </a:r>
            <a:r>
              <a:rPr lang="en-US" sz="1900" b="1" dirty="0" err="1">
                <a:ln/>
                <a:solidFill>
                  <a:schemeClr val="accent4">
                    <a:lumMod val="75000"/>
                  </a:schemeClr>
                </a:solidFill>
                <a:latin typeface="Calibri" pitchFamily="34" charset="0"/>
                <a:cs typeface="Calibri" pitchFamily="34" charset="0"/>
              </a:rPr>
              <a:t>Hà</a:t>
            </a:r>
            <a:r>
              <a:rPr lang="en-US" sz="1900" b="1" dirty="0">
                <a:ln/>
                <a:solidFill>
                  <a:schemeClr val="accent4">
                    <a:lumMod val="75000"/>
                  </a:schemeClr>
                </a:solidFill>
                <a:latin typeface="Calibri" pitchFamily="34" charset="0"/>
                <a:cs typeface="Calibri" pitchFamily="34" charset="0"/>
              </a:rPr>
              <a:t>			</a:t>
            </a:r>
            <a:r>
              <a:rPr lang="en-US" sz="1900" b="1" dirty="0" smtClean="0">
                <a:ln/>
                <a:solidFill>
                  <a:schemeClr val="accent4">
                    <a:lumMod val="75000"/>
                  </a:schemeClr>
                </a:solidFill>
                <a:latin typeface="Calibri" pitchFamily="34" charset="0"/>
                <a:cs typeface="Calibri" pitchFamily="34" charset="0"/>
              </a:rPr>
              <a:t>1411070</a:t>
            </a:r>
            <a:endParaRPr lang="en-US" sz="1900" b="1" dirty="0">
              <a:ln/>
              <a:solidFill>
                <a:schemeClr val="accent4">
                  <a:lumMod val="75000"/>
                </a:schemeClr>
              </a:solidFill>
              <a:latin typeface="Calibri" pitchFamily="34" charset="0"/>
              <a:cs typeface="Calibri" pitchFamily="34" charset="0"/>
            </a:endParaRPr>
          </a:p>
          <a:p>
            <a:pPr marL="514350" indent="-514350">
              <a:buFont typeface="+mj-lt"/>
              <a:buAutoNum type="arabicPeriod"/>
            </a:pPr>
            <a:r>
              <a:rPr lang="en-US" sz="1900" b="1" dirty="0" err="1">
                <a:ln/>
                <a:solidFill>
                  <a:schemeClr val="accent4">
                    <a:lumMod val="75000"/>
                  </a:schemeClr>
                </a:solidFill>
                <a:latin typeface="Calibri" pitchFamily="34" charset="0"/>
                <a:cs typeface="Calibri" pitchFamily="34" charset="0"/>
              </a:rPr>
              <a:t>Nguyễn</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Huỳnh</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Phúc</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Hậu</a:t>
            </a:r>
            <a:r>
              <a:rPr lang="en-US" sz="1900" b="1" dirty="0">
                <a:ln/>
                <a:solidFill>
                  <a:schemeClr val="accent4">
                    <a:lumMod val="75000"/>
                  </a:schemeClr>
                </a:solidFill>
                <a:latin typeface="Calibri" pitchFamily="34" charset="0"/>
                <a:cs typeface="Calibri" pitchFamily="34" charset="0"/>
              </a:rPr>
              <a:t>		1411081</a:t>
            </a:r>
          </a:p>
          <a:p>
            <a:pPr marL="514350" indent="-514350">
              <a:buFont typeface="+mj-lt"/>
              <a:buAutoNum type="arabicPeriod"/>
            </a:pPr>
            <a:r>
              <a:rPr lang="en-US" sz="1900" b="1" dirty="0" err="1">
                <a:ln/>
                <a:solidFill>
                  <a:schemeClr val="accent4">
                    <a:lumMod val="75000"/>
                  </a:schemeClr>
                </a:solidFill>
                <a:latin typeface="Calibri" pitchFamily="34" charset="0"/>
                <a:cs typeface="Calibri" pitchFamily="34" charset="0"/>
              </a:rPr>
              <a:t>Lê</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Nguyễn</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Đức</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Huy</a:t>
            </a:r>
            <a:r>
              <a:rPr lang="en-US" sz="1900" b="1" dirty="0">
                <a:ln/>
                <a:solidFill>
                  <a:schemeClr val="accent4">
                    <a:lumMod val="75000"/>
                  </a:schemeClr>
                </a:solidFill>
                <a:latin typeface="Calibri" pitchFamily="34" charset="0"/>
                <a:cs typeface="Calibri" pitchFamily="34" charset="0"/>
              </a:rPr>
              <a:t>			1411109</a:t>
            </a:r>
          </a:p>
          <a:p>
            <a:pPr marL="514350" indent="-514350">
              <a:buFont typeface="+mj-lt"/>
              <a:buAutoNum type="arabicPeriod"/>
            </a:pPr>
            <a:r>
              <a:rPr lang="en-US" sz="1900" b="1" dirty="0" err="1">
                <a:ln/>
                <a:solidFill>
                  <a:schemeClr val="accent4">
                    <a:lumMod val="75000"/>
                  </a:schemeClr>
                </a:solidFill>
                <a:latin typeface="Calibri" pitchFamily="34" charset="0"/>
                <a:cs typeface="Calibri" pitchFamily="34" charset="0"/>
              </a:rPr>
              <a:t>Nguyễn</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Đức</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Thành</a:t>
            </a:r>
            <a:r>
              <a:rPr lang="en-US" sz="1900" b="1" dirty="0">
                <a:ln/>
                <a:solidFill>
                  <a:schemeClr val="accent4">
                    <a:lumMod val="75000"/>
                  </a:schemeClr>
                </a:solidFill>
                <a:latin typeface="Calibri" pitchFamily="34" charset="0"/>
                <a:cs typeface="Calibri" pitchFamily="34" charset="0"/>
              </a:rPr>
              <a:t>			1411271</a:t>
            </a:r>
          </a:p>
          <a:p>
            <a:pPr marL="514350" indent="-514350">
              <a:buFont typeface="+mj-lt"/>
              <a:buAutoNum type="arabicPeriod"/>
            </a:pPr>
            <a:r>
              <a:rPr lang="en-US" sz="1900" b="1" dirty="0" err="1">
                <a:ln/>
                <a:solidFill>
                  <a:schemeClr val="accent4">
                    <a:lumMod val="75000"/>
                  </a:schemeClr>
                </a:solidFill>
                <a:latin typeface="Calibri" pitchFamily="34" charset="0"/>
                <a:cs typeface="Calibri" pitchFamily="34" charset="0"/>
              </a:rPr>
              <a:t>Lê</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Thiện</a:t>
            </a:r>
            <a:r>
              <a:rPr lang="en-US" sz="1900" b="1" dirty="0">
                <a:ln/>
                <a:solidFill>
                  <a:schemeClr val="accent4">
                    <a:lumMod val="75000"/>
                  </a:schemeClr>
                </a:solidFill>
                <a:latin typeface="Calibri" pitchFamily="34" charset="0"/>
                <a:cs typeface="Calibri" pitchFamily="34" charset="0"/>
              </a:rPr>
              <a:t> </a:t>
            </a:r>
            <a:r>
              <a:rPr lang="en-US" sz="1900" b="1" dirty="0" err="1">
                <a:ln/>
                <a:solidFill>
                  <a:schemeClr val="accent4">
                    <a:lumMod val="75000"/>
                  </a:schemeClr>
                </a:solidFill>
                <a:latin typeface="Calibri" pitchFamily="34" charset="0"/>
                <a:cs typeface="Calibri" pitchFamily="34" charset="0"/>
              </a:rPr>
              <a:t>Thắng</a:t>
            </a:r>
            <a:r>
              <a:rPr lang="en-US" sz="1900" b="1" dirty="0">
                <a:ln/>
                <a:solidFill>
                  <a:schemeClr val="accent4">
                    <a:lumMod val="75000"/>
                  </a:schemeClr>
                </a:solidFill>
                <a:latin typeface="Calibri" pitchFamily="34" charset="0"/>
                <a:cs typeface="Calibri" pitchFamily="34" charset="0"/>
              </a:rPr>
              <a:t>			</a:t>
            </a:r>
            <a:r>
              <a:rPr lang="en-US" sz="1900" b="1" dirty="0" smtClean="0">
                <a:ln/>
                <a:solidFill>
                  <a:schemeClr val="accent4">
                    <a:lumMod val="75000"/>
                  </a:schemeClr>
                </a:solidFill>
                <a:latin typeface="Calibri" pitchFamily="34" charset="0"/>
                <a:cs typeface="Calibri" pitchFamily="34" charset="0"/>
              </a:rPr>
              <a:t>1411281</a:t>
            </a:r>
            <a:endParaRPr lang="en-US" sz="1900" b="1" dirty="0">
              <a:ln/>
              <a:solidFill>
                <a:schemeClr val="accent4">
                  <a:lumMod val="75000"/>
                </a:schemeClr>
              </a:solidFill>
              <a:latin typeface="Calibri" pitchFamily="34" charset="0"/>
              <a:cs typeface="Calibri" pitchFamily="34" charset="0"/>
            </a:endParaRPr>
          </a:p>
          <a:p>
            <a:endParaRPr lang="en-AU" sz="1900" dirty="0">
              <a:solidFill>
                <a:schemeClr val="accent4">
                  <a:lumMod val="75000"/>
                </a:schemeClr>
              </a:solidFill>
              <a:latin typeface="Calibri" pitchFamily="34" charset="0"/>
              <a:cs typeface="Calibri" pitchFamily="34" charset="0"/>
            </a:endParaRPr>
          </a:p>
          <a:p>
            <a:endParaRPr lang="en-US" sz="1900" dirty="0"/>
          </a:p>
        </p:txBody>
      </p:sp>
    </p:spTree>
    <p:extLst>
      <p:ext uri="{BB962C8B-B14F-4D97-AF65-F5344CB8AC3E}">
        <p14:creationId xmlns:p14="http://schemas.microsoft.com/office/powerpoint/2010/main" val="30938470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74077"/>
            <a:ext cx="8229600" cy="3740465"/>
          </a:xfrm>
        </p:spPr>
        <p:txBody>
          <a:bodyPr>
            <a:normAutofit/>
          </a:bodyPr>
          <a:lstStyle/>
          <a:p>
            <a:pPr algn="just"/>
            <a:r>
              <a:rPr lang="en-US" sz="2500" dirty="0" err="1" smtClean="0">
                <a:latin typeface="Calibri" pitchFamily="34" charset="0"/>
                <a:cs typeface="Calibri" pitchFamily="34" charset="0"/>
              </a:rPr>
              <a:t>Trong</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những</a:t>
            </a:r>
            <a:r>
              <a:rPr lang="en-US" sz="2500" dirty="0">
                <a:latin typeface="Calibri" pitchFamily="34" charset="0"/>
                <a:cs typeface="Calibri" pitchFamily="34" charset="0"/>
              </a:rPr>
              <a:t> </a:t>
            </a:r>
            <a:r>
              <a:rPr lang="en-US" sz="2500" dirty="0" err="1">
                <a:latin typeface="Calibri" pitchFamily="34" charset="0"/>
                <a:cs typeface="Calibri" pitchFamily="34" charset="0"/>
              </a:rPr>
              <a:t>chương</a:t>
            </a:r>
            <a:r>
              <a:rPr lang="en-US" sz="2500" dirty="0">
                <a:latin typeface="Calibri" pitchFamily="34" charset="0"/>
                <a:cs typeface="Calibri" pitchFamily="34" charset="0"/>
              </a:rPr>
              <a:t> </a:t>
            </a:r>
            <a:r>
              <a:rPr lang="en-US" sz="2500" dirty="0" err="1">
                <a:latin typeface="Calibri" pitchFamily="34" charset="0"/>
                <a:cs typeface="Calibri" pitchFamily="34" charset="0"/>
              </a:rPr>
              <a:t>trước</a:t>
            </a:r>
            <a:r>
              <a:rPr lang="en-US" sz="2500" dirty="0">
                <a:latin typeface="Calibri" pitchFamily="34" charset="0"/>
                <a:cs typeface="Calibri" pitchFamily="34" charset="0"/>
              </a:rPr>
              <a:t>, </a:t>
            </a:r>
            <a:r>
              <a:rPr lang="en-US" sz="2500" dirty="0" err="1">
                <a:latin typeface="Calibri" pitchFamily="34" charset="0"/>
                <a:cs typeface="Calibri" pitchFamily="34" charset="0"/>
              </a:rPr>
              <a:t>mọi</a:t>
            </a:r>
            <a:r>
              <a:rPr lang="en-US" sz="2500" dirty="0">
                <a:latin typeface="Calibri" pitchFamily="34" charset="0"/>
                <a:cs typeface="Calibri" pitchFamily="34" charset="0"/>
              </a:rPr>
              <a:t> </a:t>
            </a:r>
            <a:r>
              <a:rPr lang="en-US" sz="2500" dirty="0" err="1">
                <a:latin typeface="Calibri" pitchFamily="34" charset="0"/>
                <a:cs typeface="Calibri" pitchFamily="34" charset="0"/>
              </a:rPr>
              <a:t>mô</a:t>
            </a:r>
            <a:r>
              <a:rPr lang="en-US" sz="2500" dirty="0">
                <a:latin typeface="Calibri" pitchFamily="34" charset="0"/>
                <a:cs typeface="Calibri" pitchFamily="34" charset="0"/>
              </a:rPr>
              <a:t> </a:t>
            </a:r>
            <a:r>
              <a:rPr lang="en-US" sz="2500" dirty="0" err="1">
                <a:latin typeface="Calibri" pitchFamily="34" charset="0"/>
                <a:cs typeface="Calibri" pitchFamily="34" charset="0"/>
              </a:rPr>
              <a:t>hình</a:t>
            </a:r>
            <a:r>
              <a:rPr lang="en-US" sz="2500" dirty="0">
                <a:latin typeface="Calibri" pitchFamily="34" charset="0"/>
                <a:cs typeface="Calibri" pitchFamily="34" charset="0"/>
              </a:rPr>
              <a:t> </a:t>
            </a:r>
            <a:r>
              <a:rPr lang="en-US" sz="2500" dirty="0" err="1">
                <a:latin typeface="Calibri" pitchFamily="34" charset="0"/>
                <a:cs typeface="Calibri" pitchFamily="34" charset="0"/>
              </a:rPr>
              <a:t>kinh</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tế</a:t>
            </a:r>
            <a:r>
              <a:rPr lang="en-US" sz="2500" dirty="0" smtClean="0">
                <a:latin typeface="Calibri" pitchFamily="34" charset="0"/>
                <a:cs typeface="Calibri" pitchFamily="34" charset="0"/>
              </a:rPr>
              <a:t> mà </a:t>
            </a:r>
            <a:r>
              <a:rPr lang="en-US" sz="2500" dirty="0" err="1">
                <a:latin typeface="Calibri" pitchFamily="34" charset="0"/>
                <a:cs typeface="Calibri" pitchFamily="34" charset="0"/>
              </a:rPr>
              <a:t>chúng</a:t>
            </a:r>
            <a:r>
              <a:rPr lang="en-US" sz="2500" dirty="0">
                <a:latin typeface="Calibri" pitchFamily="34" charset="0"/>
                <a:cs typeface="Calibri" pitchFamily="34" charset="0"/>
              </a:rPr>
              <a:t> ta </a:t>
            </a:r>
            <a:r>
              <a:rPr lang="en-US" sz="2500" dirty="0" err="1">
                <a:latin typeface="Calibri" pitchFamily="34" charset="0"/>
                <a:cs typeface="Calibri" pitchFamily="34" charset="0"/>
              </a:rPr>
              <a:t>nghiên</a:t>
            </a:r>
            <a:r>
              <a:rPr lang="en-US" sz="2500" dirty="0">
                <a:latin typeface="Calibri" pitchFamily="34" charset="0"/>
                <a:cs typeface="Calibri" pitchFamily="34" charset="0"/>
              </a:rPr>
              <a:t> </a:t>
            </a:r>
            <a:r>
              <a:rPr lang="en-US" sz="2500" dirty="0" err="1">
                <a:latin typeface="Calibri" pitchFamily="34" charset="0"/>
                <a:cs typeface="Calibri" pitchFamily="34" charset="0"/>
              </a:rPr>
              <a:t>cứu</a:t>
            </a:r>
            <a:r>
              <a:rPr lang="en-US" sz="2500" dirty="0">
                <a:latin typeface="Calibri" pitchFamily="34" charset="0"/>
                <a:cs typeface="Calibri" pitchFamily="34" charset="0"/>
              </a:rPr>
              <a:t> </a:t>
            </a:r>
            <a:r>
              <a:rPr lang="en-US" sz="2500" dirty="0" err="1">
                <a:latin typeface="Calibri" pitchFamily="34" charset="0"/>
                <a:cs typeface="Calibri" pitchFamily="34" charset="0"/>
              </a:rPr>
              <a:t>đều</a:t>
            </a:r>
            <a:r>
              <a:rPr lang="en-US" sz="2500" dirty="0">
                <a:latin typeface="Calibri" pitchFamily="34" charset="0"/>
                <a:cs typeface="Calibri" pitchFamily="34" charset="0"/>
              </a:rPr>
              <a:t> </a:t>
            </a:r>
            <a:r>
              <a:rPr lang="en-US" sz="2500" dirty="0" err="1">
                <a:latin typeface="Calibri" pitchFamily="34" charset="0"/>
                <a:cs typeface="Calibri" pitchFamily="34" charset="0"/>
              </a:rPr>
              <a:t>quy</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về</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biến</a:t>
            </a:r>
            <a:r>
              <a:rPr lang="en-US" sz="2500" dirty="0">
                <a:latin typeface="Calibri" pitchFamily="34" charset="0"/>
                <a:cs typeface="Calibri" pitchFamily="34" charset="0"/>
              </a:rPr>
              <a:t> </a:t>
            </a:r>
            <a:r>
              <a:rPr lang="en-US" sz="2500" dirty="0" err="1">
                <a:latin typeface="Calibri" pitchFamily="34" charset="0"/>
                <a:cs typeface="Calibri" pitchFamily="34" charset="0"/>
              </a:rPr>
              <a:t>định</a:t>
            </a:r>
            <a:r>
              <a:rPr lang="en-US" sz="2500" dirty="0">
                <a:latin typeface="Calibri" pitchFamily="34" charset="0"/>
                <a:cs typeface="Calibri" pitchFamily="34" charset="0"/>
              </a:rPr>
              <a:t> </a:t>
            </a:r>
            <a:r>
              <a:rPr lang="en-US" sz="2500" dirty="0" err="1">
                <a:latin typeface="Calibri" pitchFamily="34" charset="0"/>
                <a:cs typeface="Calibri" pitchFamily="34" charset="0"/>
              </a:rPr>
              <a:t>lượng</a:t>
            </a:r>
            <a:r>
              <a:rPr lang="en-US" sz="2500" dirty="0">
                <a:latin typeface="Calibri" pitchFamily="34" charset="0"/>
                <a:cs typeface="Calibri" pitchFamily="34" charset="0"/>
              </a:rPr>
              <a:t>, </a:t>
            </a:r>
            <a:r>
              <a:rPr lang="en-US" sz="2500" dirty="0" err="1">
                <a:latin typeface="Calibri" pitchFamily="34" charset="0"/>
                <a:cs typeface="Calibri" pitchFamily="34" charset="0"/>
              </a:rPr>
              <a:t>tức</a:t>
            </a:r>
            <a:r>
              <a:rPr lang="en-US" sz="2500" dirty="0">
                <a:latin typeface="Calibri" pitchFamily="34" charset="0"/>
                <a:cs typeface="Calibri" pitchFamily="34" charset="0"/>
              </a:rPr>
              <a:t> là </a:t>
            </a:r>
            <a:r>
              <a:rPr lang="en-US" sz="2500" dirty="0" err="1">
                <a:latin typeface="Calibri" pitchFamily="34" charset="0"/>
                <a:cs typeface="Calibri" pitchFamily="34" charset="0"/>
              </a:rPr>
              <a:t>những</a:t>
            </a:r>
            <a:r>
              <a:rPr lang="en-US" sz="2500" dirty="0">
                <a:latin typeface="Calibri" pitchFamily="34" charset="0"/>
                <a:cs typeface="Calibri" pitchFamily="34" charset="0"/>
              </a:rPr>
              <a:t> </a:t>
            </a:r>
            <a:r>
              <a:rPr lang="en-US" sz="2500" dirty="0" err="1">
                <a:latin typeface="Calibri" pitchFamily="34" charset="0"/>
                <a:cs typeface="Calibri" pitchFamily="34" charset="0"/>
              </a:rPr>
              <a:t>biến</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thể</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hiện</a:t>
            </a:r>
            <a:r>
              <a:rPr lang="en-US" sz="2500" dirty="0">
                <a:latin typeface="Calibri" pitchFamily="34" charset="0"/>
                <a:cs typeface="Calibri" pitchFamily="34" charset="0"/>
              </a:rPr>
              <a:t> </a:t>
            </a:r>
            <a:r>
              <a:rPr lang="en-US" sz="2500" dirty="0" err="1">
                <a:latin typeface="Calibri" pitchFamily="34" charset="0"/>
                <a:cs typeface="Calibri" pitchFamily="34" charset="0"/>
              </a:rPr>
              <a:t>bằng</a:t>
            </a:r>
            <a:r>
              <a:rPr lang="en-US" sz="2500" dirty="0">
                <a:latin typeface="Calibri" pitchFamily="34" charset="0"/>
                <a:cs typeface="Calibri" pitchFamily="34" charset="0"/>
              </a:rPr>
              <a:t> </a:t>
            </a:r>
            <a:r>
              <a:rPr lang="en-US" sz="2500" dirty="0" err="1">
                <a:latin typeface="Calibri" pitchFamily="34" charset="0"/>
                <a:cs typeface="Calibri" pitchFamily="34" charset="0"/>
              </a:rPr>
              <a:t>những</a:t>
            </a:r>
            <a:r>
              <a:rPr lang="en-US" sz="2500" dirty="0">
                <a:latin typeface="Calibri" pitchFamily="34" charset="0"/>
                <a:cs typeface="Calibri" pitchFamily="34" charset="0"/>
              </a:rPr>
              <a:t> con </a:t>
            </a:r>
            <a:r>
              <a:rPr lang="en-US" sz="2500" dirty="0" err="1" smtClean="0">
                <a:latin typeface="Calibri" pitchFamily="34" charset="0"/>
                <a:cs typeface="Calibri" pitchFamily="34" charset="0"/>
              </a:rPr>
              <a:t>số</a:t>
            </a:r>
            <a:r>
              <a:rPr lang="en-US" sz="2500" dirty="0" smtClean="0">
                <a:latin typeface="Calibri" pitchFamily="34" charset="0"/>
                <a:cs typeface="Calibri" pitchFamily="34" charset="0"/>
              </a:rPr>
              <a:t> </a:t>
            </a:r>
            <a:r>
              <a:rPr lang="en-US" sz="2500" dirty="0">
                <a:latin typeface="Calibri" pitchFamily="34" charset="0"/>
                <a:cs typeface="Calibri" pitchFamily="34" charset="0"/>
              </a:rPr>
              <a:t>cụ </a:t>
            </a:r>
            <a:r>
              <a:rPr lang="en-US" sz="2500" dirty="0" err="1" smtClean="0">
                <a:latin typeface="Calibri" pitchFamily="34" charset="0"/>
                <a:cs typeface="Calibri" pitchFamily="34" charset="0"/>
              </a:rPr>
              <a:t>thể</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Trong</a:t>
            </a:r>
            <a:r>
              <a:rPr lang="en-US" sz="2500" dirty="0">
                <a:latin typeface="Calibri" pitchFamily="34" charset="0"/>
                <a:cs typeface="Calibri" pitchFamily="34" charset="0"/>
              </a:rPr>
              <a:t> </a:t>
            </a:r>
            <a:r>
              <a:rPr lang="en-US" sz="2500" dirty="0" err="1">
                <a:latin typeface="Calibri" pitchFamily="34" charset="0"/>
                <a:cs typeface="Calibri" pitchFamily="34" charset="0"/>
              </a:rPr>
              <a:t>chương</a:t>
            </a:r>
            <a:r>
              <a:rPr lang="en-US" sz="2500" dirty="0">
                <a:latin typeface="Calibri" pitchFamily="34" charset="0"/>
                <a:cs typeface="Calibri" pitchFamily="34" charset="0"/>
              </a:rPr>
              <a:t> </a:t>
            </a:r>
            <a:r>
              <a:rPr lang="en-US" sz="2500" dirty="0" err="1">
                <a:latin typeface="Calibri" pitchFamily="34" charset="0"/>
                <a:cs typeface="Calibri" pitchFamily="34" charset="0"/>
              </a:rPr>
              <a:t>này</a:t>
            </a:r>
            <a:r>
              <a:rPr lang="en-US" sz="2500" dirty="0">
                <a:latin typeface="Calibri" pitchFamily="34" charset="0"/>
                <a:cs typeface="Calibri" pitchFamily="34" charset="0"/>
              </a:rPr>
              <a:t>, </a:t>
            </a:r>
            <a:r>
              <a:rPr lang="en-US" sz="2500" dirty="0" err="1">
                <a:latin typeface="Calibri" pitchFamily="34" charset="0"/>
                <a:cs typeface="Calibri" pitchFamily="34" charset="0"/>
              </a:rPr>
              <a:t>ngoài</a:t>
            </a:r>
            <a:r>
              <a:rPr lang="en-US" sz="2500" dirty="0">
                <a:latin typeface="Calibri" pitchFamily="34" charset="0"/>
                <a:cs typeface="Calibri" pitchFamily="34" charset="0"/>
              </a:rPr>
              <a:t> </a:t>
            </a:r>
            <a:r>
              <a:rPr lang="en-US" sz="2500" dirty="0" err="1">
                <a:latin typeface="Calibri" pitchFamily="34" charset="0"/>
                <a:cs typeface="Calibri" pitchFamily="34" charset="0"/>
              </a:rPr>
              <a:t>biến</a:t>
            </a:r>
            <a:r>
              <a:rPr lang="en-US" sz="2500" dirty="0">
                <a:latin typeface="Calibri" pitchFamily="34" charset="0"/>
                <a:cs typeface="Calibri" pitchFamily="34" charset="0"/>
              </a:rPr>
              <a:t> </a:t>
            </a:r>
            <a:r>
              <a:rPr lang="en-US" sz="2500" dirty="0" err="1">
                <a:latin typeface="Calibri" pitchFamily="34" charset="0"/>
                <a:cs typeface="Calibri" pitchFamily="34" charset="0"/>
              </a:rPr>
              <a:t>định</a:t>
            </a:r>
            <a:r>
              <a:rPr lang="en-US" sz="2500" dirty="0">
                <a:latin typeface="Calibri" pitchFamily="34" charset="0"/>
                <a:cs typeface="Calibri" pitchFamily="34" charset="0"/>
              </a:rPr>
              <a:t> </a:t>
            </a:r>
            <a:r>
              <a:rPr lang="en-US" sz="2500" dirty="0" err="1">
                <a:latin typeface="Calibri" pitchFamily="34" charset="0"/>
                <a:cs typeface="Calibri" pitchFamily="34" charset="0"/>
              </a:rPr>
              <a:t>lượng</a:t>
            </a:r>
            <a:r>
              <a:rPr lang="en-US" sz="2500" dirty="0">
                <a:latin typeface="Calibri" pitchFamily="34" charset="0"/>
                <a:cs typeface="Calibri" pitchFamily="34" charset="0"/>
              </a:rPr>
              <a:t> </a:t>
            </a:r>
            <a:r>
              <a:rPr lang="en-US" sz="2500" dirty="0" err="1">
                <a:latin typeface="Calibri" pitchFamily="34" charset="0"/>
                <a:cs typeface="Calibri" pitchFamily="34" charset="0"/>
              </a:rPr>
              <a:t>ra</a:t>
            </a:r>
            <a:r>
              <a:rPr lang="en-US" sz="2500" dirty="0">
                <a:latin typeface="Calibri" pitchFamily="34" charset="0"/>
                <a:cs typeface="Calibri" pitchFamily="34" charset="0"/>
              </a:rPr>
              <a:t> </a:t>
            </a:r>
            <a:r>
              <a:rPr lang="en-US" sz="2500" dirty="0" err="1">
                <a:latin typeface="Calibri" pitchFamily="34" charset="0"/>
                <a:cs typeface="Calibri" pitchFamily="34" charset="0"/>
              </a:rPr>
              <a:t>chúng</a:t>
            </a:r>
            <a:r>
              <a:rPr lang="en-US" sz="2500" dirty="0">
                <a:latin typeface="Calibri" pitchFamily="34" charset="0"/>
                <a:cs typeface="Calibri" pitchFamily="34" charset="0"/>
              </a:rPr>
              <a:t> ta </a:t>
            </a:r>
            <a:r>
              <a:rPr lang="en-US" sz="2500" dirty="0" err="1" smtClean="0">
                <a:latin typeface="Calibri" pitchFamily="34" charset="0"/>
                <a:cs typeface="Calibri" pitchFamily="34" charset="0"/>
              </a:rPr>
              <a:t>có</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thể</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sử</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dụng</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biến</a:t>
            </a:r>
            <a:r>
              <a:rPr lang="en-US" sz="2500" dirty="0">
                <a:latin typeface="Calibri" pitchFamily="34" charset="0"/>
                <a:cs typeface="Calibri" pitchFamily="34" charset="0"/>
              </a:rPr>
              <a:t> </a:t>
            </a:r>
            <a:r>
              <a:rPr lang="en-US" sz="2500" dirty="0" err="1">
                <a:latin typeface="Calibri" pitchFamily="34" charset="0"/>
                <a:cs typeface="Calibri" pitchFamily="34" charset="0"/>
              </a:rPr>
              <a:t>định</a:t>
            </a:r>
            <a:r>
              <a:rPr lang="en-US" sz="2500" dirty="0">
                <a:latin typeface="Calibri" pitchFamily="34" charset="0"/>
                <a:cs typeface="Calibri" pitchFamily="34" charset="0"/>
              </a:rPr>
              <a:t> </a:t>
            </a:r>
            <a:r>
              <a:rPr lang="en-US" sz="2500" dirty="0" err="1">
                <a:latin typeface="Calibri" pitchFamily="34" charset="0"/>
                <a:cs typeface="Calibri" pitchFamily="34" charset="0"/>
              </a:rPr>
              <a:t>tính</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để</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biểu</a:t>
            </a:r>
            <a:r>
              <a:rPr lang="en-US" sz="2500" dirty="0">
                <a:latin typeface="Calibri" pitchFamily="34" charset="0"/>
                <a:cs typeface="Calibri" pitchFamily="34" charset="0"/>
              </a:rPr>
              <a:t> </a:t>
            </a:r>
            <a:r>
              <a:rPr lang="en-US" sz="2500" dirty="0" err="1">
                <a:latin typeface="Calibri" pitchFamily="34" charset="0"/>
                <a:cs typeface="Calibri" pitchFamily="34" charset="0"/>
              </a:rPr>
              <a:t>hiện</a:t>
            </a:r>
            <a:r>
              <a:rPr lang="en-US" sz="2500" dirty="0">
                <a:latin typeface="Calibri" pitchFamily="34" charset="0"/>
                <a:cs typeface="Calibri" pitchFamily="34" charset="0"/>
              </a:rPr>
              <a:t> </a:t>
            </a:r>
            <a:r>
              <a:rPr lang="en-US" sz="2500" dirty="0" err="1">
                <a:latin typeface="Calibri" pitchFamily="34" charset="0"/>
                <a:cs typeface="Calibri" pitchFamily="34" charset="0"/>
              </a:rPr>
              <a:t>tính</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chất</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của</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một</a:t>
            </a:r>
            <a:r>
              <a:rPr lang="en-US" sz="2500" dirty="0">
                <a:latin typeface="Calibri" pitchFamily="34" charset="0"/>
                <a:cs typeface="Calibri" pitchFamily="34" charset="0"/>
              </a:rPr>
              <a:t> </a:t>
            </a:r>
            <a:r>
              <a:rPr lang="en-US" sz="2500" dirty="0" err="1">
                <a:latin typeface="Calibri" pitchFamily="34" charset="0"/>
                <a:cs typeface="Calibri" pitchFamily="34" charset="0"/>
              </a:rPr>
              <a:t>vấn</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đề</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nghiên</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cứu</a:t>
            </a:r>
            <a:r>
              <a:rPr lang="en-US" sz="2500" dirty="0" smtClean="0">
                <a:latin typeface="Calibri" pitchFamily="34" charset="0"/>
                <a:cs typeface="Calibri" pitchFamily="34" charset="0"/>
              </a:rPr>
              <a:t>.</a:t>
            </a:r>
          </a:p>
          <a:p>
            <a:pPr marL="109728" indent="0" algn="just">
              <a:buNone/>
            </a:pPr>
            <a:endParaRPr lang="en-US" sz="2500" dirty="0" smtClean="0">
              <a:latin typeface="Calibri" pitchFamily="34" charset="0"/>
              <a:cs typeface="Calibri" pitchFamily="34" charset="0"/>
            </a:endParaRPr>
          </a:p>
          <a:p>
            <a:pPr algn="just"/>
            <a:r>
              <a:rPr lang="en-US" sz="2500" dirty="0" smtClean="0">
                <a:latin typeface="Calibri" pitchFamily="34" charset="0"/>
                <a:cs typeface="Calibri" pitchFamily="34" charset="0"/>
              </a:rPr>
              <a:t>Sau </a:t>
            </a:r>
            <a:r>
              <a:rPr lang="en-US" sz="2500" dirty="0" err="1">
                <a:latin typeface="Calibri" pitchFamily="34" charset="0"/>
                <a:cs typeface="Calibri" pitchFamily="34" charset="0"/>
              </a:rPr>
              <a:t>đây</a:t>
            </a:r>
            <a:r>
              <a:rPr lang="en-US" sz="2500" dirty="0">
                <a:latin typeface="Calibri" pitchFamily="34" charset="0"/>
                <a:cs typeface="Calibri" pitchFamily="34" charset="0"/>
              </a:rPr>
              <a:t> </a:t>
            </a:r>
            <a:r>
              <a:rPr lang="en-US" sz="2500" dirty="0" err="1">
                <a:latin typeface="Calibri" pitchFamily="34" charset="0"/>
                <a:cs typeface="Calibri" pitchFamily="34" charset="0"/>
              </a:rPr>
              <a:t>chúng</a:t>
            </a:r>
            <a:r>
              <a:rPr lang="en-US" sz="2500" dirty="0">
                <a:latin typeface="Calibri" pitchFamily="34" charset="0"/>
                <a:cs typeface="Calibri" pitchFamily="34" charset="0"/>
              </a:rPr>
              <a:t> ta </a:t>
            </a:r>
            <a:r>
              <a:rPr lang="en-US" sz="2500" dirty="0" err="1">
                <a:latin typeface="Calibri" pitchFamily="34" charset="0"/>
                <a:cs typeface="Calibri" pitchFamily="34" charset="0"/>
              </a:rPr>
              <a:t>tìm</a:t>
            </a:r>
            <a:r>
              <a:rPr lang="en-US" sz="2500" dirty="0">
                <a:latin typeface="Calibri" pitchFamily="34" charset="0"/>
                <a:cs typeface="Calibri" pitchFamily="34" charset="0"/>
              </a:rPr>
              <a:t> </a:t>
            </a:r>
            <a:r>
              <a:rPr lang="en-US" sz="2500" dirty="0" err="1">
                <a:latin typeface="Calibri" pitchFamily="34" charset="0"/>
                <a:cs typeface="Calibri" pitchFamily="34" charset="0"/>
              </a:rPr>
              <a:t>hiểu</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xem</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sự</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khác</a:t>
            </a:r>
            <a:r>
              <a:rPr lang="en-US" sz="2500" dirty="0">
                <a:latin typeface="Calibri" pitchFamily="34" charset="0"/>
                <a:cs typeface="Calibri" pitchFamily="34" charset="0"/>
              </a:rPr>
              <a:t> </a:t>
            </a:r>
            <a:r>
              <a:rPr lang="en-US" sz="2500" dirty="0" err="1">
                <a:latin typeface="Calibri" pitchFamily="34" charset="0"/>
                <a:cs typeface="Calibri" pitchFamily="34" charset="0"/>
              </a:rPr>
              <a:t>biệt</a:t>
            </a:r>
            <a:r>
              <a:rPr lang="en-US" sz="2500" dirty="0">
                <a:latin typeface="Calibri" pitchFamily="34" charset="0"/>
                <a:cs typeface="Calibri" pitchFamily="34" charset="0"/>
              </a:rPr>
              <a:t> </a:t>
            </a:r>
            <a:r>
              <a:rPr lang="en-US" sz="2500" dirty="0" err="1">
                <a:latin typeface="Calibri" pitchFamily="34" charset="0"/>
                <a:cs typeface="Calibri" pitchFamily="34" charset="0"/>
              </a:rPr>
              <a:t>của</a:t>
            </a:r>
            <a:r>
              <a:rPr lang="en-US" sz="2500" dirty="0">
                <a:latin typeface="Calibri" pitchFamily="34" charset="0"/>
                <a:cs typeface="Calibri" pitchFamily="34" charset="0"/>
              </a:rPr>
              <a:t> 2 </a:t>
            </a:r>
            <a:r>
              <a:rPr lang="en-US" sz="2500" dirty="0" err="1">
                <a:latin typeface="Calibri" pitchFamily="34" charset="0"/>
                <a:cs typeface="Calibri" pitchFamily="34" charset="0"/>
              </a:rPr>
              <a:t>biến</a:t>
            </a:r>
            <a:r>
              <a:rPr lang="en-US" sz="2500" dirty="0">
                <a:latin typeface="Calibri" pitchFamily="34" charset="0"/>
                <a:cs typeface="Calibri" pitchFamily="34" charset="0"/>
              </a:rPr>
              <a:t> </a:t>
            </a:r>
            <a:r>
              <a:rPr lang="en-US" sz="2500" dirty="0" err="1">
                <a:latin typeface="Calibri" pitchFamily="34" charset="0"/>
                <a:cs typeface="Calibri" pitchFamily="34" charset="0"/>
              </a:rPr>
              <a:t>này</a:t>
            </a:r>
            <a:r>
              <a:rPr lang="en-US" sz="2500" dirty="0">
                <a:latin typeface="Calibri" pitchFamily="34" charset="0"/>
                <a:cs typeface="Calibri" pitchFamily="34" charset="0"/>
              </a:rPr>
              <a:t> </a:t>
            </a:r>
            <a:r>
              <a:rPr lang="en-US" sz="2500" dirty="0" smtClean="0">
                <a:latin typeface="Calibri" pitchFamily="34" charset="0"/>
                <a:cs typeface="Calibri" pitchFamily="34" charset="0"/>
              </a:rPr>
              <a:t>là </a:t>
            </a:r>
            <a:r>
              <a:rPr lang="en-US" sz="2500" dirty="0" err="1" smtClean="0">
                <a:latin typeface="Calibri" pitchFamily="34" charset="0"/>
                <a:cs typeface="Calibri" pitchFamily="34" charset="0"/>
              </a:rPr>
              <a:t>thế</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nào</a:t>
            </a:r>
            <a:r>
              <a:rPr lang="en-US" sz="2500" dirty="0">
                <a:latin typeface="Calibri" pitchFamily="34" charset="0"/>
                <a:cs typeface="Calibri" pitchFamily="34" charset="0"/>
              </a:rPr>
              <a:t>.</a:t>
            </a:r>
            <a:endParaRPr lang="en-AU" sz="250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AU" sz="3700" dirty="0" err="1" smtClean="0">
                <a:solidFill>
                  <a:srgbClr val="FF0000"/>
                </a:solidFill>
                <a:latin typeface="Calibri" pitchFamily="34" charset="0"/>
                <a:cs typeface="Calibri" pitchFamily="34" charset="0"/>
              </a:rPr>
              <a:t>Lời</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mở</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đầu</a:t>
            </a:r>
            <a:r>
              <a:rPr lang="en-AU" sz="3700" dirty="0" smtClean="0">
                <a:solidFill>
                  <a:srgbClr val="FF0000"/>
                </a:solidFill>
                <a:latin typeface="Calibri" pitchFamily="34" charset="0"/>
                <a:cs typeface="Calibri" pitchFamily="34" charset="0"/>
              </a:rPr>
              <a:t>: </a:t>
            </a:r>
            <a:endParaRPr lang="en-AU" sz="3700" dirty="0">
              <a:solidFill>
                <a:srgbClr val="FF0000"/>
              </a:solidFill>
              <a:latin typeface="Calibri" pitchFamily="34" charset="0"/>
              <a:cs typeface="Calibri" pitchFamily="34" charset="0"/>
            </a:endParaRPr>
          </a:p>
        </p:txBody>
      </p:sp>
    </p:spTree>
    <p:extLst>
      <p:ext uri="{BB962C8B-B14F-4D97-AF65-F5344CB8AC3E}">
        <p14:creationId xmlns:p14="http://schemas.microsoft.com/office/powerpoint/2010/main" val="3549505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AU" sz="2500" b="1" dirty="0" err="1" smtClean="0">
                <a:latin typeface="Calibri" pitchFamily="34" charset="0"/>
                <a:cs typeface="Calibri" pitchFamily="34" charset="0"/>
              </a:rPr>
              <a:t>Biến</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giả</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là</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gì</a:t>
            </a:r>
            <a:r>
              <a:rPr lang="en-AU" sz="2500" b="1" dirty="0" smtClean="0">
                <a:latin typeface="Calibri" pitchFamily="34" charset="0"/>
                <a:cs typeface="Calibri" pitchFamily="34" charset="0"/>
              </a:rPr>
              <a:t>?</a:t>
            </a:r>
          </a:p>
          <a:p>
            <a:pPr marL="109728" indent="0" algn="just">
              <a:buNone/>
            </a:pPr>
            <a:endParaRPr lang="en-AU" sz="2500" dirty="0" smtClean="0">
              <a:latin typeface="Calibri" pitchFamily="34" charset="0"/>
              <a:cs typeface="Calibri" pitchFamily="34" charset="0"/>
            </a:endParaRPr>
          </a:p>
          <a:p>
            <a:pPr marL="109728" indent="0" algn="just">
              <a:buNone/>
            </a:pPr>
            <a:r>
              <a:rPr lang="en-AU" sz="2500" dirty="0" smtClean="0">
                <a:latin typeface="Calibri" pitchFamily="34" charset="0"/>
                <a:cs typeface="Calibri" pitchFamily="34" charset="0"/>
                <a:sym typeface="Wingdings"/>
              </a:rPr>
              <a:t> </a:t>
            </a:r>
            <a:r>
              <a:rPr lang="en-AU" sz="2500" dirty="0" err="1" smtClean="0">
                <a:latin typeface="Calibri" pitchFamily="34" charset="0"/>
                <a:cs typeface="Calibri" pitchFamily="34" charset="0"/>
              </a:rPr>
              <a:t>Để</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lượng</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hóa</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những</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biến</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định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tính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trong</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phân</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tích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hồi</a:t>
            </a:r>
            <a:r>
              <a:rPr lang="en-AU" sz="2500" dirty="0" smtClean="0">
                <a:latin typeface="Calibri" pitchFamily="34" charset="0"/>
                <a:cs typeface="Calibri" pitchFamily="34" charset="0"/>
              </a:rPr>
              <a:t> qui </a:t>
            </a:r>
            <a:r>
              <a:rPr lang="en-AU" sz="2500" dirty="0" err="1" smtClean="0">
                <a:latin typeface="Calibri" pitchFamily="34" charset="0"/>
                <a:cs typeface="Calibri" pitchFamily="34" charset="0"/>
              </a:rPr>
              <a:t>người</a:t>
            </a:r>
            <a:r>
              <a:rPr lang="en-AU" sz="2500" dirty="0" smtClean="0">
                <a:latin typeface="Calibri" pitchFamily="34" charset="0"/>
                <a:cs typeface="Calibri" pitchFamily="34" charset="0"/>
              </a:rPr>
              <a:t> ta </a:t>
            </a:r>
            <a:r>
              <a:rPr lang="en-AU" sz="2500" dirty="0" err="1" smtClean="0">
                <a:latin typeface="Calibri" pitchFamily="34" charset="0"/>
                <a:cs typeface="Calibri" pitchFamily="34" charset="0"/>
              </a:rPr>
              <a:t>sử</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dụng</a:t>
            </a:r>
            <a:r>
              <a:rPr lang="en-AU" sz="2500" dirty="0" smtClean="0">
                <a:latin typeface="Calibri" pitchFamily="34" charset="0"/>
                <a:cs typeface="Calibri" pitchFamily="34" charset="0"/>
              </a:rPr>
              <a:t> </a:t>
            </a:r>
            <a:r>
              <a:rPr lang="en-AU" sz="2500" dirty="0" err="1" smtClean="0">
                <a:solidFill>
                  <a:srgbClr val="FF0000"/>
                </a:solidFill>
                <a:latin typeface="Calibri" pitchFamily="34" charset="0"/>
                <a:cs typeface="Calibri" pitchFamily="34" charset="0"/>
              </a:rPr>
              <a:t>biến</a:t>
            </a:r>
            <a:r>
              <a:rPr lang="en-AU" sz="2500" dirty="0" smtClean="0">
                <a:solidFill>
                  <a:srgbClr val="FF0000"/>
                </a:solidFill>
                <a:latin typeface="Calibri" pitchFamily="34" charset="0"/>
                <a:cs typeface="Calibri" pitchFamily="34" charset="0"/>
              </a:rPr>
              <a:t> </a:t>
            </a:r>
            <a:r>
              <a:rPr lang="en-AU" sz="2500" dirty="0" err="1" smtClean="0">
                <a:solidFill>
                  <a:srgbClr val="FF0000"/>
                </a:solidFill>
                <a:latin typeface="Calibri" pitchFamily="34" charset="0"/>
                <a:cs typeface="Calibri" pitchFamily="34" charset="0"/>
              </a:rPr>
              <a:t>giả</a:t>
            </a:r>
            <a:r>
              <a:rPr lang="en-AU" sz="2500" dirty="0" smtClean="0">
                <a:latin typeface="Calibri" pitchFamily="34" charset="0"/>
                <a:cs typeface="Calibri" pitchFamily="34" charset="0"/>
              </a:rPr>
              <a:t> (dummy variables). </a:t>
            </a:r>
            <a:r>
              <a:rPr lang="en-US" sz="2500" dirty="0" err="1" smtClean="0">
                <a:latin typeface="Calibri" pitchFamily="34" charset="0"/>
                <a:cs typeface="Calibri" pitchFamily="34" charset="0"/>
              </a:rPr>
              <a:t>Va</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thường</a:t>
            </a:r>
            <a:r>
              <a:rPr lang="en-US" sz="2500" dirty="0">
                <a:latin typeface="Calibri" pitchFamily="34" charset="0"/>
                <a:cs typeface="Calibri" pitchFamily="34" charset="0"/>
              </a:rPr>
              <a:t> </a:t>
            </a:r>
            <a:r>
              <a:rPr lang="en-US" sz="2500" dirty="0" err="1" smtClean="0">
                <a:latin typeface="Calibri" pitchFamily="34" charset="0"/>
                <a:cs typeface="Calibri" pitchFamily="34" charset="0"/>
              </a:rPr>
              <a:t>thể</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hiện</a:t>
            </a:r>
            <a:r>
              <a:rPr lang="en-US" sz="2500" dirty="0">
                <a:latin typeface="Calibri" pitchFamily="34" charset="0"/>
                <a:cs typeface="Calibri" pitchFamily="34" charset="0"/>
              </a:rPr>
              <a:t> qua </a:t>
            </a:r>
            <a:r>
              <a:rPr lang="en-US" sz="2500" dirty="0" err="1">
                <a:latin typeface="Calibri" pitchFamily="34" charset="0"/>
                <a:cs typeface="Calibri" pitchFamily="34" charset="0"/>
              </a:rPr>
              <a:t>các</a:t>
            </a:r>
            <a:r>
              <a:rPr lang="en-US" sz="2500" dirty="0">
                <a:latin typeface="Calibri" pitchFamily="34" charset="0"/>
                <a:cs typeface="Calibri" pitchFamily="34" charset="0"/>
              </a:rPr>
              <a:t> </a:t>
            </a:r>
            <a:r>
              <a:rPr lang="en-US" sz="2500" dirty="0" err="1">
                <a:latin typeface="Calibri" pitchFamily="34" charset="0"/>
                <a:cs typeface="Calibri" pitchFamily="34" charset="0"/>
              </a:rPr>
              <a:t>gia</a:t>
            </a:r>
            <a:r>
              <a:rPr lang="en-US" sz="2500" dirty="0">
                <a:latin typeface="Calibri" pitchFamily="34" charset="0"/>
                <a:cs typeface="Calibri" pitchFamily="34" charset="0"/>
              </a:rPr>
              <a:t>́ trị </a:t>
            </a:r>
            <a:r>
              <a:rPr lang="en-US" sz="2500" dirty="0" err="1" smtClean="0">
                <a:latin typeface="Calibri" pitchFamily="34" charset="0"/>
                <a:cs typeface="Calibri" pitchFamily="34" charset="0"/>
              </a:rPr>
              <a:t>bằng</a:t>
            </a:r>
            <a:r>
              <a:rPr lang="en-US" sz="2500" dirty="0" smtClean="0">
                <a:latin typeface="Calibri" pitchFamily="34" charset="0"/>
                <a:cs typeface="Calibri" pitchFamily="34" charset="0"/>
              </a:rPr>
              <a:t> </a:t>
            </a:r>
            <a:r>
              <a:rPr lang="en-US" sz="2500" dirty="0">
                <a:latin typeface="Calibri" pitchFamily="34" charset="0"/>
                <a:cs typeface="Calibri" pitchFamily="34" charset="0"/>
              </a:rPr>
              <a:t>0 </a:t>
            </a:r>
            <a:r>
              <a:rPr lang="en-US" sz="2500" dirty="0" err="1">
                <a:latin typeface="Calibri" pitchFamily="34" charset="0"/>
                <a:cs typeface="Calibri" pitchFamily="34" charset="0"/>
              </a:rPr>
              <a:t>va</a:t>
            </a:r>
            <a:r>
              <a:rPr lang="en-US" sz="2500" dirty="0">
                <a:latin typeface="Calibri" pitchFamily="34" charset="0"/>
                <a:cs typeface="Calibri" pitchFamily="34" charset="0"/>
              </a:rPr>
              <a:t>̀ </a:t>
            </a:r>
            <a:r>
              <a:rPr lang="en-US" sz="2500" dirty="0" smtClean="0">
                <a:latin typeface="Calibri" pitchFamily="34" charset="0"/>
                <a:cs typeface="Calibri" pitchFamily="34" charset="0"/>
              </a:rPr>
              <a:t>1 (</a:t>
            </a:r>
            <a:r>
              <a:rPr lang="en-US" sz="2500" dirty="0" err="1" smtClean="0">
                <a:latin typeface="Calibri" pitchFamily="34" charset="0"/>
                <a:cs typeface="Calibri" pitchFamily="34" charset="0"/>
              </a:rPr>
              <a:t>biến</a:t>
            </a:r>
            <a:r>
              <a:rPr lang="en-US" sz="2500" dirty="0" smtClean="0">
                <a:latin typeface="Calibri" pitchFamily="34" charset="0"/>
                <a:cs typeface="Calibri" pitchFamily="34" charset="0"/>
              </a:rPr>
              <a:t> </a:t>
            </a:r>
            <a:r>
              <a:rPr lang="en-US" sz="2500" dirty="0" err="1" smtClean="0">
                <a:latin typeface="Calibri" pitchFamily="34" charset="0"/>
                <a:cs typeface="Calibri" pitchFamily="34" charset="0"/>
              </a:rPr>
              <a:t>nhị</a:t>
            </a:r>
            <a:r>
              <a:rPr lang="en-US" sz="2500" dirty="0" smtClean="0">
                <a:latin typeface="Calibri" pitchFamily="34" charset="0"/>
                <a:cs typeface="Calibri" pitchFamily="34" charset="0"/>
              </a:rPr>
              <a:t> </a:t>
            </a:r>
            <a:r>
              <a:rPr lang="en-US" sz="2500" dirty="0" err="1">
                <a:latin typeface="Calibri" pitchFamily="34" charset="0"/>
                <a:cs typeface="Calibri" pitchFamily="34" charset="0"/>
              </a:rPr>
              <a:t>nguyên</a:t>
            </a:r>
            <a:r>
              <a:rPr lang="en-US" sz="2500" dirty="0" smtClean="0">
                <a:latin typeface="Calibri" pitchFamily="34" charset="0"/>
                <a:cs typeface="Calibri" pitchFamily="34" charset="0"/>
              </a:rPr>
              <a:t>).</a:t>
            </a:r>
          </a:p>
          <a:p>
            <a:pPr marL="109728" indent="0" algn="just">
              <a:buNone/>
            </a:pPr>
            <a:endParaRPr lang="en-AU" sz="2500" dirty="0" smtClean="0">
              <a:latin typeface="Calibri" pitchFamily="34" charset="0"/>
              <a:cs typeface="Calibri" pitchFamily="34" charset="0"/>
            </a:endParaRPr>
          </a:p>
          <a:p>
            <a:pPr algn="just"/>
            <a:r>
              <a:rPr lang="en-AU" sz="2500" b="1" dirty="0" err="1" smtClean="0">
                <a:latin typeface="Calibri" pitchFamily="34" charset="0"/>
                <a:cs typeface="Calibri" pitchFamily="34" charset="0"/>
              </a:rPr>
              <a:t>Biến</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định</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tính</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là</a:t>
            </a:r>
            <a:r>
              <a:rPr lang="en-AU" sz="2500" b="1" dirty="0" smtClean="0">
                <a:latin typeface="Calibri" pitchFamily="34" charset="0"/>
                <a:cs typeface="Calibri" pitchFamily="34" charset="0"/>
              </a:rPr>
              <a:t> </a:t>
            </a:r>
            <a:r>
              <a:rPr lang="en-AU" sz="2500" b="1" dirty="0" err="1" smtClean="0">
                <a:latin typeface="Calibri" pitchFamily="34" charset="0"/>
                <a:cs typeface="Calibri" pitchFamily="34" charset="0"/>
              </a:rPr>
              <a:t>gì</a:t>
            </a:r>
            <a:r>
              <a:rPr lang="en-AU" sz="2500" b="1" dirty="0" smtClean="0">
                <a:latin typeface="Calibri" pitchFamily="34" charset="0"/>
                <a:cs typeface="Calibri" pitchFamily="34" charset="0"/>
              </a:rPr>
              <a:t>? </a:t>
            </a:r>
          </a:p>
          <a:p>
            <a:pPr marL="109728" indent="0" algn="just">
              <a:buNone/>
            </a:pPr>
            <a:endParaRPr lang="en-AU" sz="2500" dirty="0" smtClean="0">
              <a:latin typeface="Calibri" pitchFamily="34" charset="0"/>
              <a:cs typeface="Calibri" pitchFamily="34" charset="0"/>
            </a:endParaRPr>
          </a:p>
          <a:p>
            <a:pPr marL="109728" indent="0" algn="just">
              <a:buNone/>
            </a:pPr>
            <a:r>
              <a:rPr lang="en-AU" sz="2500" dirty="0" smtClean="0">
                <a:latin typeface="Calibri" pitchFamily="34" charset="0"/>
                <a:cs typeface="Calibri" pitchFamily="34" charset="0"/>
                <a:sym typeface="Wingdings"/>
              </a:rPr>
              <a:t> </a:t>
            </a:r>
            <a:r>
              <a:rPr lang="en-AU" sz="2500" dirty="0" err="1" smtClean="0">
                <a:latin typeface="Calibri" pitchFamily="34" charset="0"/>
                <a:cs typeface="Calibri" pitchFamily="34" charset="0"/>
              </a:rPr>
              <a:t>Biến</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định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tính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thường</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được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biểu</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thị</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có</a:t>
            </a:r>
            <a:r>
              <a:rPr lang="en-AU" sz="2500" dirty="0" smtClean="0">
                <a:latin typeface="Calibri" pitchFamily="34" charset="0"/>
                <a:cs typeface="Calibri" pitchFamily="34" charset="0"/>
              </a:rPr>
              <a:t> hay </a:t>
            </a:r>
            <a:r>
              <a:rPr lang="en-AU" sz="2500" dirty="0" err="1" smtClean="0">
                <a:latin typeface="Calibri" pitchFamily="34" charset="0"/>
                <a:cs typeface="Calibri" pitchFamily="34" charset="0"/>
              </a:rPr>
              <a:t>không</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có</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một</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tính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chất</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hoặc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biểu</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thị</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các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mức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độ</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khác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nhau</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của</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một</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tiêu</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thức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thuộc</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tính</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nào</a:t>
            </a:r>
            <a:r>
              <a:rPr lang="en-AU" sz="2500" dirty="0" smtClean="0">
                <a:latin typeface="Calibri" pitchFamily="34" charset="0"/>
                <a:cs typeface="Calibri" pitchFamily="34" charset="0"/>
              </a:rPr>
              <a:t> </a:t>
            </a:r>
            <a:r>
              <a:rPr lang="en-AU" sz="2500" dirty="0" err="1" smtClean="0">
                <a:latin typeface="Calibri" pitchFamily="34" charset="0"/>
                <a:cs typeface="Calibri" pitchFamily="34" charset="0"/>
              </a:rPr>
              <a:t>đó</a:t>
            </a:r>
            <a:r>
              <a:rPr lang="en-AU" sz="2500" dirty="0" smtClean="0">
                <a:latin typeface="Calibri" pitchFamily="34" charset="0"/>
                <a:cs typeface="Calibri" pitchFamily="34" charset="0"/>
              </a:rPr>
              <a:t>. </a:t>
            </a:r>
            <a:endParaRPr lang="en-AU" sz="250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AU" sz="3700" dirty="0" err="1" smtClean="0">
                <a:solidFill>
                  <a:srgbClr val="FF0000"/>
                </a:solidFill>
                <a:latin typeface="Calibri" pitchFamily="34" charset="0"/>
                <a:cs typeface="Calibri" pitchFamily="34" charset="0"/>
              </a:rPr>
              <a:t>Định</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nghĩa</a:t>
            </a:r>
            <a:r>
              <a:rPr lang="en-AU" sz="3700" dirty="0" smtClean="0">
                <a:solidFill>
                  <a:srgbClr val="FF0000"/>
                </a:solidFill>
                <a:latin typeface="Calibri" pitchFamily="34" charset="0"/>
                <a:cs typeface="Calibri" pitchFamily="34" charset="0"/>
              </a:rPr>
              <a:t>:</a:t>
            </a:r>
            <a:endParaRPr lang="en-AU" sz="3700" dirty="0">
              <a:solidFill>
                <a:srgbClr val="FF0000"/>
              </a:solidFill>
              <a:latin typeface="Calibri" pitchFamily="34" charset="0"/>
              <a:cs typeface="Calibri"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35896" y="260648"/>
            <a:ext cx="2088232" cy="1988840"/>
          </a:xfrm>
          <a:prstGeom prst="rect">
            <a:avLst/>
          </a:prstGeom>
        </p:spPr>
      </p:pic>
    </p:spTree>
    <p:extLst>
      <p:ext uri="{BB962C8B-B14F-4D97-AF65-F5344CB8AC3E}">
        <p14:creationId xmlns:p14="http://schemas.microsoft.com/office/powerpoint/2010/main" val="38018120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2966243871"/>
              </p:ext>
            </p:extLst>
          </p:nvPr>
        </p:nvGraphicFramePr>
        <p:xfrm>
          <a:off x="484434" y="1134122"/>
          <a:ext cx="8229600" cy="5535238"/>
        </p:xfrm>
        <a:graphic>
          <a:graphicData uri="http://schemas.openxmlformats.org/drawingml/2006/table">
            <a:tbl>
              <a:tblPr firstRow="1" bandRow="1">
                <a:tableStyleId>{5C22544A-7EE6-4342-B048-85BDC9FD1C3A}</a:tableStyleId>
              </a:tblPr>
              <a:tblGrid>
                <a:gridCol w="4114800"/>
                <a:gridCol w="4114800"/>
              </a:tblGrid>
              <a:tr h="499893">
                <a:tc>
                  <a:txBody>
                    <a:bodyPr/>
                    <a:lstStyle/>
                    <a:p>
                      <a:r>
                        <a:rPr lang="en-AU" sz="2400" dirty="0" smtClean="0">
                          <a:latin typeface="Calibri" pitchFamily="34" charset="0"/>
                          <a:cs typeface="Calibri" pitchFamily="34" charset="0"/>
                        </a:rPr>
                        <a:t>ĐỊNH</a:t>
                      </a:r>
                      <a:r>
                        <a:rPr lang="en-AU" sz="2400" baseline="0" dirty="0" smtClean="0">
                          <a:latin typeface="Calibri" pitchFamily="34" charset="0"/>
                          <a:cs typeface="Calibri" pitchFamily="34" charset="0"/>
                        </a:rPr>
                        <a:t> TÍNH</a:t>
                      </a:r>
                      <a:endParaRPr lang="en-AU" sz="2400" dirty="0">
                        <a:latin typeface="Calibri" pitchFamily="34" charset="0"/>
                        <a:cs typeface="Calibri" pitchFamily="34" charset="0"/>
                      </a:endParaRPr>
                    </a:p>
                  </a:txBody>
                  <a:tcPr/>
                </a:tc>
                <a:tc>
                  <a:txBody>
                    <a:bodyPr/>
                    <a:lstStyle/>
                    <a:p>
                      <a:r>
                        <a:rPr lang="en-AU" sz="2400" dirty="0" smtClean="0">
                          <a:latin typeface="Calibri" pitchFamily="34" charset="0"/>
                          <a:cs typeface="Calibri" pitchFamily="34" charset="0"/>
                        </a:rPr>
                        <a:t>ĐỊNH</a:t>
                      </a:r>
                      <a:r>
                        <a:rPr lang="en-AU" sz="2400" baseline="0" dirty="0" smtClean="0">
                          <a:latin typeface="Calibri" pitchFamily="34" charset="0"/>
                          <a:cs typeface="Calibri" pitchFamily="34" charset="0"/>
                        </a:rPr>
                        <a:t> LƯỢNG</a:t>
                      </a:r>
                      <a:endParaRPr lang="en-AU" sz="2400" dirty="0">
                        <a:latin typeface="Calibri" pitchFamily="34" charset="0"/>
                        <a:cs typeface="Calibri" pitchFamily="34" charset="0"/>
                      </a:endParaRPr>
                    </a:p>
                  </a:txBody>
                  <a:tcPr/>
                </a:tc>
              </a:tr>
              <a:tr h="5035345">
                <a:tc>
                  <a:txBody>
                    <a:bodyPr/>
                    <a:lstStyle/>
                    <a:p>
                      <a:pPr algn="just"/>
                      <a:r>
                        <a:rPr kumimoji="0" lang="en-US" sz="1900" kern="1200" dirty="0" smtClean="0">
                          <a:solidFill>
                            <a:schemeClr val="dk1"/>
                          </a:solidFill>
                          <a:effectLst/>
                          <a:latin typeface="Calibri" pitchFamily="34" charset="0"/>
                          <a:ea typeface="+mn-ea"/>
                          <a:cs typeface="Calibri" pitchFamily="34" charset="0"/>
                        </a:rPr>
                        <a:t>-</a:t>
                      </a:r>
                      <a:r>
                        <a:rPr kumimoji="0" lang="en-US" sz="1900" kern="1200" dirty="0" err="1" smtClean="0">
                          <a:solidFill>
                            <a:schemeClr val="dk1"/>
                          </a:solidFill>
                          <a:effectLst/>
                          <a:latin typeface="Calibri" pitchFamily="34" charset="0"/>
                          <a:ea typeface="+mn-ea"/>
                          <a:cs typeface="Calibri" pitchFamily="34" charset="0"/>
                        </a:rPr>
                        <a:t>Dư</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liệu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định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tính</a:t>
                      </a:r>
                      <a:r>
                        <a:rPr kumimoji="0" lang="en-US" sz="1900" kern="1200" dirty="0" smtClean="0">
                          <a:solidFill>
                            <a:schemeClr val="dk1"/>
                          </a:solidFill>
                          <a:effectLst/>
                          <a:latin typeface="Calibri" pitchFamily="34" charset="0"/>
                          <a:ea typeface="+mn-ea"/>
                          <a:cs typeface="Calibri" pitchFamily="34" charset="0"/>
                        </a:rPr>
                        <a:t>:</a:t>
                      </a:r>
                    </a:p>
                    <a:p>
                      <a:pPr marL="285750" indent="-285750" algn="just">
                        <a:buFont typeface="Arial" pitchFamily="34" charset="0"/>
                        <a:buChar char="•"/>
                      </a:pPr>
                      <a:r>
                        <a:rPr kumimoji="0" lang="en-US" sz="1900" kern="1200" dirty="0" err="1" smtClean="0">
                          <a:solidFill>
                            <a:schemeClr val="dk1"/>
                          </a:solidFill>
                          <a:effectLst/>
                          <a:latin typeface="Calibri" pitchFamily="34" charset="0"/>
                          <a:ea typeface="+mn-ea"/>
                          <a:cs typeface="Calibri" pitchFamily="34" charset="0"/>
                        </a:rPr>
                        <a:t>Sự</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phân</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biệt</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nhau</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của</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b="1" kern="1200" baseline="0" dirty="0" err="1" smtClean="0">
                          <a:solidFill>
                            <a:schemeClr val="dk1"/>
                          </a:solidFill>
                          <a:effectLst/>
                          <a:latin typeface="Calibri" pitchFamily="34" charset="0"/>
                          <a:ea typeface="+mn-ea"/>
                          <a:cs typeface="Calibri" pitchFamily="34" charset="0"/>
                        </a:rPr>
                        <a:t>tính</a:t>
                      </a:r>
                      <a:r>
                        <a:rPr kumimoji="0" lang="en-US" sz="1900" b="1" kern="1200" baseline="0" dirty="0" smtClean="0">
                          <a:solidFill>
                            <a:schemeClr val="dk1"/>
                          </a:solidFill>
                          <a:effectLst/>
                          <a:latin typeface="Calibri" pitchFamily="34" charset="0"/>
                          <a:ea typeface="+mn-ea"/>
                          <a:cs typeface="Calibri" pitchFamily="34" charset="0"/>
                        </a:rPr>
                        <a:t> </a:t>
                      </a:r>
                      <a:r>
                        <a:rPr kumimoji="0" lang="en-US" sz="1900" b="1" kern="1200" baseline="0" dirty="0" err="1" smtClean="0">
                          <a:solidFill>
                            <a:schemeClr val="dk1"/>
                          </a:solidFill>
                          <a:effectLst/>
                          <a:latin typeface="Calibri" pitchFamily="34" charset="0"/>
                          <a:ea typeface="+mn-ea"/>
                          <a:cs typeface="Calibri" pitchFamily="34" charset="0"/>
                        </a:rPr>
                        <a:t>chất</a:t>
                      </a:r>
                      <a:r>
                        <a:rPr kumimoji="0" lang="en-US" sz="1900" kern="1200" dirty="0" smtClean="0">
                          <a:solidFill>
                            <a:schemeClr val="dk1"/>
                          </a:solidFill>
                          <a:effectLst/>
                          <a:latin typeface="Calibri" pitchFamily="34" charset="0"/>
                          <a:ea typeface="+mn-ea"/>
                          <a:cs typeface="Calibri" pitchFamily="34" charset="0"/>
                        </a:rPr>
                        <a:t>.</a:t>
                      </a:r>
                    </a:p>
                    <a:p>
                      <a:pPr marL="285750" indent="-285750" algn="just">
                        <a:buFont typeface="Arial" pitchFamily="34" charset="0"/>
                        <a:buChar char="•"/>
                      </a:pPr>
                      <a:r>
                        <a:rPr kumimoji="0" lang="en-US" sz="1900" kern="1200" dirty="0" err="1" smtClean="0">
                          <a:solidFill>
                            <a:schemeClr val="dk1"/>
                          </a:solidFill>
                          <a:effectLst/>
                          <a:latin typeface="Calibri" pitchFamily="34" charset="0"/>
                          <a:ea typeface="+mn-ea"/>
                          <a:cs typeface="Calibri" pitchFamily="34" charset="0"/>
                        </a:rPr>
                        <a:t>Lấy</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giá</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trị</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b="1" kern="1200" baseline="0" dirty="0" err="1" smtClean="0">
                          <a:solidFill>
                            <a:schemeClr val="dk1"/>
                          </a:solidFill>
                          <a:effectLst/>
                          <a:latin typeface="Calibri" pitchFamily="34" charset="0"/>
                          <a:ea typeface="+mn-ea"/>
                          <a:cs typeface="Calibri" pitchFamily="34" charset="0"/>
                        </a:rPr>
                        <a:t>chữ</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như</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tên</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nhãn</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hiệu</a:t>
                      </a:r>
                      <a:r>
                        <a:rPr kumimoji="0" lang="en-US" sz="1900" kern="1200" baseline="0" dirty="0" smtClean="0">
                          <a:solidFill>
                            <a:schemeClr val="dk1"/>
                          </a:solidFill>
                          <a:effectLst/>
                          <a:latin typeface="Calibri" pitchFamily="34" charset="0"/>
                          <a:ea typeface="+mn-ea"/>
                          <a:cs typeface="Calibri" pitchFamily="34" charset="0"/>
                        </a:rPr>
                        <a:t>…</a:t>
                      </a:r>
                      <a:endParaRPr kumimoji="0" lang="en-US" sz="1900" kern="1200" dirty="0" smtClean="0">
                        <a:solidFill>
                          <a:schemeClr val="dk1"/>
                        </a:solidFill>
                        <a:effectLst/>
                        <a:latin typeface="Calibri" pitchFamily="34" charset="0"/>
                        <a:ea typeface="+mn-ea"/>
                        <a:cs typeface="Calibri" pitchFamily="34" charset="0"/>
                      </a:endParaRPr>
                    </a:p>
                    <a:p>
                      <a:pPr marL="285750" indent="-285750" algn="just">
                        <a:buFont typeface="Arial" pitchFamily="34" charset="0"/>
                        <a:buChar char="•"/>
                      </a:pPr>
                      <a:r>
                        <a:rPr kumimoji="0" lang="en-US" sz="1900" kern="1200" dirty="0" smtClean="0">
                          <a:solidFill>
                            <a:schemeClr val="dk1"/>
                          </a:solidFill>
                          <a:effectLst/>
                          <a:latin typeface="Calibri" pitchFamily="34" charset="0"/>
                          <a:ea typeface="+mn-ea"/>
                          <a:cs typeface="Calibri" pitchFamily="34" charset="0"/>
                        </a:rPr>
                        <a:t>Ta </a:t>
                      </a:r>
                      <a:r>
                        <a:rPr kumimoji="0" lang="en-US" sz="1900" kern="1200" dirty="0" err="1" smtClean="0">
                          <a:solidFill>
                            <a:schemeClr val="dk1"/>
                          </a:solidFill>
                          <a:effectLst/>
                          <a:latin typeface="Calibri" pitchFamily="34" charset="0"/>
                          <a:ea typeface="+mn-ea"/>
                          <a:cs typeface="Calibri" pitchFamily="34" charset="0"/>
                        </a:rPr>
                        <a:t>không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tính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được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trị</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trung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bình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của</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dữ</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liệu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dạng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định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tính</a:t>
                      </a:r>
                      <a:r>
                        <a:rPr kumimoji="0" lang="en-US" sz="1900" kern="1200" dirty="0" smtClean="0">
                          <a:solidFill>
                            <a:schemeClr val="dk1"/>
                          </a:solidFill>
                          <a:effectLst/>
                          <a:latin typeface="Calibri" pitchFamily="34" charset="0"/>
                          <a:ea typeface="+mn-ea"/>
                          <a:cs typeface="Calibri" pitchFamily="34" charset="0"/>
                        </a:rPr>
                        <a:t>.</a:t>
                      </a:r>
                    </a:p>
                    <a:p>
                      <a:pPr marL="285750" marR="0" indent="-28575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1900" kern="1200" dirty="0" smtClean="0">
                        <a:solidFill>
                          <a:schemeClr val="dk1"/>
                        </a:solidFill>
                        <a:effectLst/>
                        <a:latin typeface="Calibri" pitchFamily="34" charset="0"/>
                        <a:ea typeface="+mn-ea"/>
                        <a:cs typeface="Calibri" pitchFamily="34" charset="0"/>
                      </a:endParaRPr>
                    </a:p>
                    <a:p>
                      <a:pPr marL="285750" marR="0" indent="-28575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1900" kern="1200" dirty="0" smtClean="0">
                        <a:solidFill>
                          <a:schemeClr val="dk1"/>
                        </a:solidFill>
                        <a:effectLst/>
                        <a:latin typeface="Calibri" pitchFamily="34" charset="0"/>
                        <a:ea typeface="+mn-ea"/>
                        <a:cs typeface="Calibri" pitchFamily="34" charset="0"/>
                      </a:endParaRPr>
                    </a:p>
                    <a:p>
                      <a:pPr marL="285750" marR="0" indent="-285750" algn="just"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US" sz="1900" kern="1200" dirty="0" smtClean="0">
                        <a:solidFill>
                          <a:schemeClr val="dk1"/>
                        </a:solidFill>
                        <a:effectLst/>
                        <a:latin typeface="Calibri" pitchFamily="34" charset="0"/>
                        <a:ea typeface="+mn-ea"/>
                        <a:cs typeface="Calibri" pitchFamily="34" charset="0"/>
                      </a:endParaRPr>
                    </a:p>
                    <a:p>
                      <a:pPr marL="285750" marR="0" indent="-28575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900" kern="1200" dirty="0" err="1" smtClean="0">
                          <a:solidFill>
                            <a:schemeClr val="dk1"/>
                          </a:solidFill>
                          <a:effectLst/>
                          <a:latin typeface="Calibri" pitchFamily="34" charset="0"/>
                          <a:ea typeface="+mn-ea"/>
                          <a:cs typeface="Calibri" pitchFamily="34" charset="0"/>
                        </a:rPr>
                        <a:t>Trả</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lời</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cho</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các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câu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hỏi</a:t>
                      </a:r>
                      <a:r>
                        <a:rPr kumimoji="0" lang="en-US" sz="1900"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thế</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nào</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cái</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gì</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tại</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sao</a:t>
                      </a:r>
                      <a:r>
                        <a:rPr kumimoji="0" lang="en-US" sz="1900" b="1" kern="1200" dirty="0" smtClean="0">
                          <a:solidFill>
                            <a:schemeClr val="dk1"/>
                          </a:solidFill>
                          <a:effectLst/>
                          <a:latin typeface="Calibri" pitchFamily="34" charset="0"/>
                          <a:ea typeface="+mn-ea"/>
                          <a:cs typeface="Calibri" pitchFamily="34" charset="0"/>
                        </a:rPr>
                        <a:t>?</a:t>
                      </a:r>
                      <a:r>
                        <a:rPr kumimoji="0" lang="en-US" sz="1900" b="0" kern="1200" dirty="0" smtClean="0">
                          <a:solidFill>
                            <a:schemeClr val="dk1"/>
                          </a:solidFill>
                          <a:effectLst/>
                          <a:latin typeface="Calibri" pitchFamily="34" charset="0"/>
                          <a:ea typeface="+mn-ea"/>
                          <a:cs typeface="Calibri" pitchFamily="34" charset="0"/>
                        </a:rPr>
                        <a:t>...</a:t>
                      </a:r>
                      <a:endParaRPr kumimoji="0" lang="en-AU" sz="1900" b="0" kern="1200" dirty="0" smtClean="0">
                        <a:solidFill>
                          <a:schemeClr val="dk1"/>
                        </a:solidFill>
                        <a:effectLst/>
                        <a:latin typeface="Calibri" pitchFamily="34" charset="0"/>
                        <a:ea typeface="+mn-ea"/>
                        <a:cs typeface="Calibri" pitchFamily="34" charset="0"/>
                      </a:endParaRPr>
                    </a:p>
                    <a:p>
                      <a:pPr marL="285750" indent="-285750" algn="just">
                        <a:buFont typeface="Arial" pitchFamily="34" charset="0"/>
                        <a:buChar char="•"/>
                      </a:pPr>
                      <a:r>
                        <a:rPr kumimoji="0" lang="en-US" sz="1900" kern="1200" dirty="0" err="1" smtClean="0">
                          <a:solidFill>
                            <a:schemeClr val="dk1"/>
                          </a:solidFill>
                          <a:effectLst/>
                          <a:latin typeface="Calibri" pitchFamily="34" charset="0"/>
                          <a:ea typeface="+mn-ea"/>
                          <a:cs typeface="Calibri" pitchFamily="34" charset="0"/>
                        </a:rPr>
                        <a:t>Ví</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dụ</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giới</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tính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nam</a:t>
                      </a:r>
                      <a:r>
                        <a:rPr kumimoji="0" lang="en-US" sz="1900" kern="1200" dirty="0" smtClean="0">
                          <a:solidFill>
                            <a:schemeClr val="dk1"/>
                          </a:solidFill>
                          <a:effectLst/>
                          <a:latin typeface="Calibri" pitchFamily="34" charset="0"/>
                          <a:ea typeface="+mn-ea"/>
                          <a:cs typeface="Calibri" pitchFamily="34" charset="0"/>
                        </a:rPr>
                        <a:t> hay </a:t>
                      </a:r>
                      <a:r>
                        <a:rPr kumimoji="0" lang="en-US" sz="1900" kern="1200" dirty="0" err="1" smtClean="0">
                          <a:solidFill>
                            <a:schemeClr val="dk1"/>
                          </a:solidFill>
                          <a:effectLst/>
                          <a:latin typeface="Calibri" pitchFamily="34" charset="0"/>
                          <a:ea typeface="+mn-ea"/>
                          <a:cs typeface="Calibri" pitchFamily="34" charset="0"/>
                        </a:rPr>
                        <a:t>nữ</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kết</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quả</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học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tập</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của</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sinh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viên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giỏi</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khá</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trung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bình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yếu</a:t>
                      </a:r>
                      <a:r>
                        <a:rPr kumimoji="0" lang="en-US" sz="1900" kern="1200" dirty="0" smtClean="0">
                          <a:solidFill>
                            <a:schemeClr val="dk1"/>
                          </a:solidFill>
                          <a:effectLst/>
                          <a:latin typeface="Calibri" pitchFamily="34" charset="0"/>
                          <a:ea typeface="+mn-ea"/>
                          <a:cs typeface="Calibri" pitchFamily="34" charset="0"/>
                        </a:rPr>
                        <a:t>…);… </a:t>
                      </a:r>
                    </a:p>
                    <a:p>
                      <a:pPr algn="just"/>
                      <a:r>
                        <a:rPr kumimoji="0" lang="en-US" sz="1900" kern="1200" dirty="0" smtClean="0">
                          <a:solidFill>
                            <a:schemeClr val="dk1"/>
                          </a:solidFill>
                          <a:effectLst/>
                          <a:latin typeface="Calibri" pitchFamily="34" charset="0"/>
                          <a:ea typeface="+mn-ea"/>
                          <a:cs typeface="Calibri" pitchFamily="34" charset="0"/>
                        </a:rPr>
                        <a:t>- </a:t>
                      </a:r>
                      <a:r>
                        <a:rPr kumimoji="0" lang="en-US" sz="1900" b="1" kern="1200" dirty="0" smtClean="0">
                          <a:solidFill>
                            <a:schemeClr val="dk1"/>
                          </a:solidFill>
                          <a:effectLst/>
                          <a:latin typeface="Calibri" pitchFamily="34" charset="0"/>
                          <a:ea typeface="+mn-ea"/>
                          <a:cs typeface="Calibri" pitchFamily="34" charset="0"/>
                        </a:rPr>
                        <a:t>NGHIÊN CỨU ĐỊNH TÍNH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là</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các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nghiên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cứu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trong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đó</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dữ</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liệu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cần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thập</a:t>
                      </a:r>
                      <a:r>
                        <a:rPr kumimoji="0" lang="en-US" sz="1900" kern="1200" dirty="0" smtClean="0">
                          <a:solidFill>
                            <a:schemeClr val="dk1"/>
                          </a:solidFill>
                          <a:effectLst/>
                          <a:latin typeface="Calibri" pitchFamily="34" charset="0"/>
                          <a:ea typeface="+mn-ea"/>
                          <a:cs typeface="Calibri" pitchFamily="34" charset="0"/>
                        </a:rPr>
                        <a:t> ở </a:t>
                      </a:r>
                      <a:r>
                        <a:rPr kumimoji="0" lang="en-US" sz="1900" kern="1200" dirty="0" err="1" smtClean="0">
                          <a:solidFill>
                            <a:schemeClr val="dk1"/>
                          </a:solidFill>
                          <a:effectLst/>
                          <a:latin typeface="Calibri" pitchFamily="34" charset="0"/>
                          <a:ea typeface="+mn-ea"/>
                          <a:cs typeface="Calibri" pitchFamily="34" charset="0"/>
                        </a:rPr>
                        <a:t>dạng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định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tính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không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thể</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đo</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lường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bằng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số</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lượng</a:t>
                      </a:r>
                      <a:r>
                        <a:rPr kumimoji="0" lang="en-US" sz="1900" kern="1200" dirty="0" smtClean="0">
                          <a:solidFill>
                            <a:schemeClr val="dk1"/>
                          </a:solidFill>
                          <a:effectLst/>
                          <a:latin typeface="Calibri" pitchFamily="34" charset="0"/>
                          <a:ea typeface="+mn-ea"/>
                          <a:cs typeface="Calibri" pitchFamily="34" charset="0"/>
                        </a:rPr>
                        <a:t>).</a:t>
                      </a:r>
                      <a:endParaRPr lang="en-AU" sz="1900" dirty="0">
                        <a:latin typeface="Calibri" pitchFamily="34" charset="0"/>
                        <a:cs typeface="Calibri" pitchFamily="34" charset="0"/>
                      </a:endParaRPr>
                    </a:p>
                  </a:txBody>
                  <a:tcPr/>
                </a:tc>
                <a:tc>
                  <a:txBody>
                    <a:bodyPr/>
                    <a:lstStyle/>
                    <a:p>
                      <a:pPr algn="just"/>
                      <a:r>
                        <a:rPr kumimoji="0" lang="en-US" sz="1900" kern="1200" dirty="0" smtClean="0">
                          <a:solidFill>
                            <a:schemeClr val="dk1"/>
                          </a:solidFill>
                          <a:effectLst/>
                          <a:latin typeface="Calibri" pitchFamily="34" charset="0"/>
                          <a:ea typeface="+mn-ea"/>
                          <a:cs typeface="Calibri" pitchFamily="34" charset="0"/>
                        </a:rPr>
                        <a:t>-</a:t>
                      </a:r>
                      <a:r>
                        <a:rPr kumimoji="0" lang="en-US" sz="1900" kern="1200" dirty="0" err="1" smtClean="0">
                          <a:solidFill>
                            <a:schemeClr val="dk1"/>
                          </a:solidFill>
                          <a:effectLst/>
                          <a:latin typeface="Calibri" pitchFamily="34" charset="0"/>
                          <a:ea typeface="+mn-ea"/>
                          <a:cs typeface="Calibri" pitchFamily="34" charset="0"/>
                        </a:rPr>
                        <a:t>Dư</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liệu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định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lượng</a:t>
                      </a:r>
                      <a:r>
                        <a:rPr kumimoji="0" lang="en-US" sz="1900" kern="1200" dirty="0" smtClean="0">
                          <a:solidFill>
                            <a:schemeClr val="dk1"/>
                          </a:solidFill>
                          <a:effectLst/>
                          <a:latin typeface="Calibri" pitchFamily="34" charset="0"/>
                          <a:ea typeface="+mn-ea"/>
                          <a:cs typeface="Calibri" pitchFamily="34" charset="0"/>
                        </a:rPr>
                        <a:t>: </a:t>
                      </a:r>
                    </a:p>
                    <a:p>
                      <a:pPr marL="285750" indent="-285750" algn="just">
                        <a:buFont typeface="Arial" pitchFamily="34" charset="0"/>
                        <a:buChar char="•"/>
                      </a:pPr>
                      <a:r>
                        <a:rPr kumimoji="0" lang="en-US" sz="1900" kern="1200" dirty="0" err="1" smtClean="0">
                          <a:solidFill>
                            <a:schemeClr val="dk1"/>
                          </a:solidFill>
                          <a:effectLst/>
                          <a:latin typeface="Calibri" pitchFamily="34" charset="0"/>
                          <a:ea typeface="+mn-ea"/>
                          <a:cs typeface="Calibri" pitchFamily="34" charset="0"/>
                        </a:rPr>
                        <a:t>Thể</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hiện</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sự</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b="1" kern="1200" baseline="0" dirty="0" err="1" smtClean="0">
                          <a:solidFill>
                            <a:schemeClr val="dk1"/>
                          </a:solidFill>
                          <a:effectLst/>
                          <a:latin typeface="Calibri" pitchFamily="34" charset="0"/>
                          <a:ea typeface="+mn-ea"/>
                          <a:cs typeface="Calibri" pitchFamily="34" charset="0"/>
                        </a:rPr>
                        <a:t>đo</a:t>
                      </a:r>
                      <a:r>
                        <a:rPr kumimoji="0" lang="en-US" sz="1900" b="1" kern="1200" baseline="0" dirty="0" smtClean="0">
                          <a:solidFill>
                            <a:schemeClr val="dk1"/>
                          </a:solidFill>
                          <a:effectLst/>
                          <a:latin typeface="Calibri" pitchFamily="34" charset="0"/>
                          <a:ea typeface="+mn-ea"/>
                          <a:cs typeface="Calibri" pitchFamily="34" charset="0"/>
                        </a:rPr>
                        <a:t> </a:t>
                      </a:r>
                      <a:r>
                        <a:rPr kumimoji="0" lang="en-US" sz="1900" b="1" kern="1200" baseline="0" dirty="0" err="1" smtClean="0">
                          <a:solidFill>
                            <a:schemeClr val="dk1"/>
                          </a:solidFill>
                          <a:effectLst/>
                          <a:latin typeface="Calibri" pitchFamily="34" charset="0"/>
                          <a:ea typeface="+mn-ea"/>
                          <a:cs typeface="Calibri" pitchFamily="34" charset="0"/>
                        </a:rPr>
                        <a:t>lường</a:t>
                      </a:r>
                      <a:r>
                        <a:rPr kumimoji="0" lang="en-US" sz="1900" kern="1200" dirty="0" smtClean="0">
                          <a:solidFill>
                            <a:schemeClr val="dk1"/>
                          </a:solidFill>
                          <a:effectLst/>
                          <a:latin typeface="Calibri" pitchFamily="34" charset="0"/>
                          <a:ea typeface="+mn-ea"/>
                          <a:cs typeface="Calibri" pitchFamily="34" charset="0"/>
                        </a:rPr>
                        <a:t>.</a:t>
                      </a:r>
                    </a:p>
                    <a:p>
                      <a:pPr marL="285750" indent="-285750" algn="just">
                        <a:buFont typeface="Arial" pitchFamily="34" charset="0"/>
                        <a:buChar char="•"/>
                      </a:pPr>
                      <a:r>
                        <a:rPr kumimoji="0" lang="en-US" sz="1900" kern="1200" dirty="0" err="1" smtClean="0">
                          <a:solidFill>
                            <a:schemeClr val="dk1"/>
                          </a:solidFill>
                          <a:effectLst/>
                          <a:latin typeface="Calibri" pitchFamily="34" charset="0"/>
                          <a:ea typeface="+mn-ea"/>
                          <a:cs typeface="Calibri" pitchFamily="34" charset="0"/>
                        </a:rPr>
                        <a:t>Lấy</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giá</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trị</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là</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những</a:t>
                      </a:r>
                      <a:r>
                        <a:rPr kumimoji="0" lang="en-US" sz="1900" kern="1200" baseline="0" dirty="0" smtClean="0">
                          <a:solidFill>
                            <a:schemeClr val="dk1"/>
                          </a:solidFill>
                          <a:effectLst/>
                          <a:latin typeface="Calibri" pitchFamily="34" charset="0"/>
                          <a:ea typeface="+mn-ea"/>
                          <a:cs typeface="Calibri" pitchFamily="34" charset="0"/>
                        </a:rPr>
                        <a:t> con </a:t>
                      </a:r>
                      <a:r>
                        <a:rPr kumimoji="0" lang="en-US" sz="1900" b="1" kern="1200" baseline="0" dirty="0" err="1" smtClean="0">
                          <a:solidFill>
                            <a:schemeClr val="dk1"/>
                          </a:solidFill>
                          <a:effectLst/>
                          <a:latin typeface="Calibri" pitchFamily="34" charset="0"/>
                          <a:ea typeface="+mn-ea"/>
                          <a:cs typeface="Calibri" pitchFamily="34" charset="0"/>
                        </a:rPr>
                        <a:t>số</a:t>
                      </a:r>
                      <a:r>
                        <a:rPr kumimoji="0" lang="en-US" sz="1900" kern="1200" baseline="0" dirty="0" smtClean="0">
                          <a:solidFill>
                            <a:schemeClr val="dk1"/>
                          </a:solidFill>
                          <a:effectLst/>
                          <a:latin typeface="Calibri" pitchFamily="34" charset="0"/>
                          <a:ea typeface="+mn-ea"/>
                          <a:cs typeface="Calibri" pitchFamily="34" charset="0"/>
                        </a:rPr>
                        <a:t>.</a:t>
                      </a:r>
                      <a:endParaRPr kumimoji="0" lang="en-US" sz="1900" kern="1200" dirty="0" smtClean="0">
                        <a:solidFill>
                          <a:schemeClr val="dk1"/>
                        </a:solidFill>
                        <a:effectLst/>
                        <a:latin typeface="Calibri" pitchFamily="34" charset="0"/>
                        <a:ea typeface="+mn-ea"/>
                        <a:cs typeface="Calibri" pitchFamily="34" charset="0"/>
                      </a:endParaRPr>
                    </a:p>
                    <a:p>
                      <a:pPr marL="285750" indent="-285750" algn="just">
                        <a:buFont typeface="Arial" pitchFamily="34" charset="0"/>
                        <a:buChar char="•"/>
                      </a:pPr>
                      <a:r>
                        <a:rPr kumimoji="0" lang="en-US" sz="1900" kern="1200" dirty="0" smtClean="0">
                          <a:solidFill>
                            <a:schemeClr val="dk1"/>
                          </a:solidFill>
                          <a:effectLst/>
                          <a:latin typeface="Calibri" pitchFamily="34" charset="0"/>
                          <a:ea typeface="+mn-ea"/>
                          <a:cs typeface="Calibri" pitchFamily="34" charset="0"/>
                        </a:rPr>
                        <a:t>Ta </a:t>
                      </a:r>
                      <a:r>
                        <a:rPr kumimoji="0" lang="en-US" sz="1900" kern="1200" dirty="0" err="1" smtClean="0">
                          <a:solidFill>
                            <a:schemeClr val="dk1"/>
                          </a:solidFill>
                          <a:effectLst/>
                          <a:latin typeface="Calibri" pitchFamily="34" charset="0"/>
                          <a:ea typeface="+mn-ea"/>
                          <a:cs typeface="Calibri" pitchFamily="34" charset="0"/>
                        </a:rPr>
                        <a:t>tính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được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giá</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trị</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trung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bình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Nó</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thể</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hiện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bằng</a:t>
                      </a:r>
                      <a:r>
                        <a:rPr kumimoji="0" lang="en-US" sz="1900" kern="1200" dirty="0" smtClean="0">
                          <a:solidFill>
                            <a:schemeClr val="dk1"/>
                          </a:solidFill>
                          <a:effectLst/>
                          <a:latin typeface="Calibri" pitchFamily="34" charset="0"/>
                          <a:ea typeface="+mn-ea"/>
                          <a:cs typeface="Calibri" pitchFamily="34" charset="0"/>
                        </a:rPr>
                        <a:t> con </a:t>
                      </a:r>
                      <a:r>
                        <a:rPr kumimoji="0" lang="en-US" sz="1900" kern="1200" dirty="0" err="1" smtClean="0">
                          <a:solidFill>
                            <a:schemeClr val="dk1"/>
                          </a:solidFill>
                          <a:effectLst/>
                          <a:latin typeface="Calibri" pitchFamily="34" charset="0"/>
                          <a:ea typeface="+mn-ea"/>
                          <a:cs typeface="Calibri" pitchFamily="34" charset="0"/>
                        </a:rPr>
                        <a:t>số</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thập</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được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ngay</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trong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quá</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trình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điều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tra</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khảo</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sát</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các</a:t>
                      </a:r>
                      <a:r>
                        <a:rPr kumimoji="0" lang="en-US" sz="1900" kern="1200" dirty="0" smtClean="0">
                          <a:solidFill>
                            <a:schemeClr val="dk1"/>
                          </a:solidFill>
                          <a:effectLst/>
                          <a:latin typeface="Calibri" pitchFamily="34" charset="0"/>
                          <a:ea typeface="+mn-ea"/>
                          <a:cs typeface="Calibri" pitchFamily="34" charset="0"/>
                        </a:rPr>
                        <a:t> con </a:t>
                      </a:r>
                      <a:r>
                        <a:rPr kumimoji="0" lang="en-US" sz="1900" kern="1200" dirty="0" err="1" smtClean="0">
                          <a:solidFill>
                            <a:schemeClr val="dk1"/>
                          </a:solidFill>
                          <a:effectLst/>
                          <a:latin typeface="Calibri" pitchFamily="34" charset="0"/>
                          <a:ea typeface="+mn-ea"/>
                          <a:cs typeface="Calibri" pitchFamily="34" charset="0"/>
                        </a:rPr>
                        <a:t>số</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này</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có</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thể</a:t>
                      </a:r>
                      <a:r>
                        <a:rPr kumimoji="0" lang="en-US" sz="1900" kern="1200" dirty="0" smtClean="0">
                          <a:solidFill>
                            <a:schemeClr val="dk1"/>
                          </a:solidFill>
                          <a:effectLst/>
                          <a:latin typeface="Calibri" pitchFamily="34" charset="0"/>
                          <a:ea typeface="+mn-ea"/>
                          <a:cs typeface="Calibri" pitchFamily="34" charset="0"/>
                        </a:rPr>
                        <a:t> ở </a:t>
                      </a:r>
                      <a:r>
                        <a:rPr kumimoji="0" lang="en-US" sz="1900" kern="1200" dirty="0" err="1" smtClean="0">
                          <a:solidFill>
                            <a:schemeClr val="dk1"/>
                          </a:solidFill>
                          <a:effectLst/>
                          <a:latin typeface="Calibri" pitchFamily="34" charset="0"/>
                          <a:ea typeface="+mn-ea"/>
                          <a:cs typeface="Calibri" pitchFamily="34" charset="0"/>
                        </a:rPr>
                        <a:t>dạng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biến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thiên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liên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tục</a:t>
                      </a:r>
                      <a:r>
                        <a:rPr kumimoji="0" lang="en-US" sz="1900" kern="1200" dirty="0" smtClean="0">
                          <a:solidFill>
                            <a:schemeClr val="dk1"/>
                          </a:solidFill>
                          <a:effectLst/>
                          <a:latin typeface="Calibri" pitchFamily="34" charset="0"/>
                          <a:ea typeface="+mn-ea"/>
                          <a:cs typeface="Calibri" pitchFamily="34" charset="0"/>
                        </a:rPr>
                        <a:t> hay </a:t>
                      </a:r>
                      <a:r>
                        <a:rPr kumimoji="0" lang="en-US" sz="1900" kern="1200" dirty="0" err="1" smtClean="0">
                          <a:solidFill>
                            <a:schemeClr val="dk1"/>
                          </a:solidFill>
                          <a:effectLst/>
                          <a:latin typeface="Calibri" pitchFamily="34" charset="0"/>
                          <a:ea typeface="+mn-ea"/>
                          <a:cs typeface="Calibri" pitchFamily="34" charset="0"/>
                        </a:rPr>
                        <a:t>rời</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rạc</a:t>
                      </a:r>
                      <a:r>
                        <a:rPr kumimoji="0" lang="en-US" sz="1900" kern="1200" dirty="0" smtClean="0">
                          <a:solidFill>
                            <a:schemeClr val="dk1"/>
                          </a:solidFill>
                          <a:effectLst/>
                          <a:latin typeface="Calibri" pitchFamily="34" charset="0"/>
                          <a:ea typeface="+mn-ea"/>
                          <a:cs typeface="Calibri" pitchFamily="34" charset="0"/>
                        </a:rPr>
                        <a:t>.</a:t>
                      </a:r>
                    </a:p>
                    <a:p>
                      <a:pPr marL="285750" indent="-285750" algn="just">
                        <a:buFont typeface="Arial" pitchFamily="34" charset="0"/>
                        <a:buChar char="•"/>
                      </a:pPr>
                      <a:r>
                        <a:rPr kumimoji="0" lang="en-US" sz="1900" kern="1200" dirty="0" err="1" smtClean="0">
                          <a:solidFill>
                            <a:schemeClr val="dk1"/>
                          </a:solidFill>
                          <a:effectLst/>
                          <a:latin typeface="Calibri" pitchFamily="34" charset="0"/>
                          <a:ea typeface="+mn-ea"/>
                          <a:cs typeface="Calibri" pitchFamily="34" charset="0"/>
                        </a:rPr>
                        <a:t>Trả</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lời</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cho</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các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câu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hỏi</a:t>
                      </a:r>
                      <a:r>
                        <a:rPr kumimoji="0" lang="en-US" sz="1900"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bao</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nhiêu</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khi</a:t>
                      </a:r>
                      <a:r>
                        <a:rPr kumimoji="0" lang="en-US" sz="1900" b="1" kern="1200" dirty="0" smtClean="0">
                          <a:solidFill>
                            <a:schemeClr val="dk1"/>
                          </a:solidFill>
                          <a:effectLst/>
                          <a:latin typeface="Calibri" pitchFamily="34" charset="0"/>
                          <a:ea typeface="+mn-ea"/>
                          <a:cs typeface="Calibri" pitchFamily="34" charset="0"/>
                        </a:rPr>
                        <a:t> </a:t>
                      </a:r>
                      <a:r>
                        <a:rPr kumimoji="0" lang="en-US" sz="1900" b="1" kern="1200" dirty="0" err="1" smtClean="0">
                          <a:solidFill>
                            <a:schemeClr val="dk1"/>
                          </a:solidFill>
                          <a:effectLst/>
                          <a:latin typeface="Calibri" pitchFamily="34" charset="0"/>
                          <a:ea typeface="+mn-ea"/>
                          <a:cs typeface="Calibri" pitchFamily="34" charset="0"/>
                        </a:rPr>
                        <a:t>nào</a:t>
                      </a:r>
                      <a:r>
                        <a:rPr kumimoji="0" lang="en-US" sz="1900" b="1" kern="1200" dirty="0" smtClean="0">
                          <a:solidFill>
                            <a:schemeClr val="dk1"/>
                          </a:solidFill>
                          <a:effectLst/>
                          <a:latin typeface="Calibri" pitchFamily="34" charset="0"/>
                          <a:ea typeface="+mn-ea"/>
                          <a:cs typeface="Calibri" pitchFamily="34" charset="0"/>
                        </a:rPr>
                        <a:t>?</a:t>
                      </a:r>
                      <a:r>
                        <a:rPr kumimoji="0" lang="en-US" sz="1900" b="0" kern="1200" dirty="0" smtClean="0">
                          <a:solidFill>
                            <a:schemeClr val="dk1"/>
                          </a:solidFill>
                          <a:effectLst/>
                          <a:latin typeface="Calibri" pitchFamily="34" charset="0"/>
                          <a:ea typeface="+mn-ea"/>
                          <a:cs typeface="Calibri" pitchFamily="34" charset="0"/>
                        </a:rPr>
                        <a:t>...</a:t>
                      </a:r>
                    </a:p>
                    <a:p>
                      <a:pPr marL="285750" marR="0" indent="-285750" algn="just"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900" kern="1200" dirty="0" err="1" smtClean="0">
                          <a:solidFill>
                            <a:schemeClr val="dk1"/>
                          </a:solidFill>
                          <a:effectLst/>
                          <a:latin typeface="Calibri" pitchFamily="34" charset="0"/>
                          <a:ea typeface="+mn-ea"/>
                          <a:cs typeface="Calibri" pitchFamily="34" charset="0"/>
                        </a:rPr>
                        <a:t>Ví</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dụ</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thu</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nhập</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tháng</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năm</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số</a:t>
                      </a:r>
                      <a:r>
                        <a:rPr kumimoji="0" lang="en-US" sz="1900" kern="1200" baseline="0" dirty="0" smtClean="0">
                          <a:solidFill>
                            <a:schemeClr val="dk1"/>
                          </a:solidFill>
                          <a:effectLst/>
                          <a:latin typeface="Calibri" pitchFamily="34" charset="0"/>
                          <a:ea typeface="+mn-ea"/>
                          <a:cs typeface="Calibri" pitchFamily="34" charset="0"/>
                        </a:rPr>
                        <a:t> </a:t>
                      </a:r>
                      <a:r>
                        <a:rPr kumimoji="0" lang="en-US" sz="1900" kern="1200" baseline="0" dirty="0" err="1" smtClean="0">
                          <a:solidFill>
                            <a:schemeClr val="dk1"/>
                          </a:solidFill>
                          <a:effectLst/>
                          <a:latin typeface="Calibri" pitchFamily="34" charset="0"/>
                          <a:ea typeface="+mn-ea"/>
                          <a:cs typeface="Calibri" pitchFamily="34" charset="0"/>
                        </a:rPr>
                        <a:t>lượng</a:t>
                      </a:r>
                      <a:r>
                        <a:rPr kumimoji="0" lang="en-US" sz="1900" kern="1200" baseline="0" dirty="0" smtClean="0">
                          <a:solidFill>
                            <a:schemeClr val="dk1"/>
                          </a:solidFill>
                          <a:effectLst/>
                          <a:latin typeface="Calibri" pitchFamily="34" charset="0"/>
                          <a:ea typeface="+mn-ea"/>
                          <a:cs typeface="Calibri" pitchFamily="34" charset="0"/>
                        </a:rPr>
                        <a:t>,…</a:t>
                      </a:r>
                      <a:endParaRPr kumimoji="0" lang="en-AU" sz="1900" kern="1200" dirty="0" smtClean="0">
                        <a:solidFill>
                          <a:schemeClr val="dk1"/>
                        </a:solidFill>
                        <a:effectLst/>
                        <a:latin typeface="Calibri" pitchFamily="34" charset="0"/>
                        <a:ea typeface="+mn-ea"/>
                        <a:cs typeface="Calibri" pitchFamily="34" charset="0"/>
                      </a:endParaRPr>
                    </a:p>
                    <a:p>
                      <a:pPr algn="just"/>
                      <a:endParaRPr kumimoji="0" lang="en-AU" sz="1900" kern="1200" dirty="0" smtClean="0">
                        <a:solidFill>
                          <a:schemeClr val="dk1"/>
                        </a:solidFill>
                        <a:effectLst/>
                        <a:latin typeface="Calibri" pitchFamily="34" charset="0"/>
                        <a:ea typeface="+mn-ea"/>
                        <a:cs typeface="Calibri" pitchFamily="34" charset="0"/>
                      </a:endParaRPr>
                    </a:p>
                    <a:p>
                      <a:pPr algn="just"/>
                      <a:r>
                        <a:rPr kumimoji="0" lang="en-US" sz="1900" kern="1200" dirty="0" smtClean="0">
                          <a:solidFill>
                            <a:schemeClr val="dk1"/>
                          </a:solidFill>
                          <a:effectLst/>
                          <a:latin typeface="Calibri" pitchFamily="34" charset="0"/>
                          <a:ea typeface="+mn-ea"/>
                          <a:cs typeface="Calibri" pitchFamily="34" charset="0"/>
                        </a:rPr>
                        <a:t>-</a:t>
                      </a:r>
                      <a:r>
                        <a:rPr kumimoji="0" lang="en-US" sz="1900" b="1" kern="1200" dirty="0" smtClean="0">
                          <a:solidFill>
                            <a:schemeClr val="dk1"/>
                          </a:solidFill>
                          <a:effectLst/>
                          <a:latin typeface="Calibri" pitchFamily="34" charset="0"/>
                          <a:ea typeface="+mn-ea"/>
                          <a:cs typeface="Calibri" pitchFamily="34" charset="0"/>
                        </a:rPr>
                        <a:t> NGHIÊN CỨU ĐỊNH LƯỢNG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là</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các</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nghiên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cứu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trong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đó</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dữ</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liệu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cần</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thu</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thập</a:t>
                      </a:r>
                      <a:r>
                        <a:rPr kumimoji="0" lang="en-US" sz="1900" kern="1200" dirty="0" smtClean="0">
                          <a:solidFill>
                            <a:schemeClr val="dk1"/>
                          </a:solidFill>
                          <a:effectLst/>
                          <a:latin typeface="Calibri" pitchFamily="34" charset="0"/>
                          <a:ea typeface="+mn-ea"/>
                          <a:cs typeface="Calibri" pitchFamily="34" charset="0"/>
                        </a:rPr>
                        <a:t> ở </a:t>
                      </a:r>
                      <a:r>
                        <a:rPr kumimoji="0" lang="en-US" sz="1900" kern="1200" dirty="0" err="1" smtClean="0">
                          <a:solidFill>
                            <a:schemeClr val="dk1"/>
                          </a:solidFill>
                          <a:effectLst/>
                          <a:latin typeface="Calibri" pitchFamily="34" charset="0"/>
                          <a:ea typeface="+mn-ea"/>
                          <a:cs typeface="Calibri" pitchFamily="34" charset="0"/>
                        </a:rPr>
                        <a:t>dạng</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định</a:t>
                      </a:r>
                      <a:r>
                        <a:rPr kumimoji="0" lang="en-US" sz="1900" kern="1200" dirty="0" smtClean="0">
                          <a:solidFill>
                            <a:schemeClr val="dk1"/>
                          </a:solidFill>
                          <a:effectLst/>
                          <a:latin typeface="Calibri" pitchFamily="34" charset="0"/>
                          <a:ea typeface="+mn-ea"/>
                          <a:cs typeface="Calibri" pitchFamily="34" charset="0"/>
                        </a:rPr>
                        <a:t> </a:t>
                      </a:r>
                      <a:r>
                        <a:rPr kumimoji="0" lang="en-US" sz="1900" kern="1200" dirty="0" err="1" smtClean="0">
                          <a:solidFill>
                            <a:schemeClr val="dk1"/>
                          </a:solidFill>
                          <a:effectLst/>
                          <a:latin typeface="Calibri" pitchFamily="34" charset="0"/>
                          <a:ea typeface="+mn-ea"/>
                          <a:cs typeface="Calibri" pitchFamily="34" charset="0"/>
                        </a:rPr>
                        <a:t>lượng</a:t>
                      </a:r>
                      <a:r>
                        <a:rPr kumimoji="0" lang="en-US" sz="1900" kern="1200" dirty="0" smtClean="0">
                          <a:solidFill>
                            <a:schemeClr val="dk1"/>
                          </a:solidFill>
                          <a:effectLst/>
                          <a:latin typeface="Calibri" pitchFamily="34" charset="0"/>
                          <a:ea typeface="+mn-ea"/>
                          <a:cs typeface="Calibri" pitchFamily="34" charset="0"/>
                        </a:rPr>
                        <a:t>.</a:t>
                      </a:r>
                      <a:endParaRPr lang="en-AU" sz="1900" dirty="0">
                        <a:latin typeface="Calibri" pitchFamily="34" charset="0"/>
                        <a:cs typeface="Calibri" pitchFamily="34" charset="0"/>
                      </a:endParaRPr>
                    </a:p>
                  </a:txBody>
                  <a:tcPr/>
                </a:tc>
              </a:tr>
            </a:tbl>
          </a:graphicData>
        </a:graphic>
      </p:graphicFrame>
      <p:sp>
        <p:nvSpPr>
          <p:cNvPr id="3" name="Title 2"/>
          <p:cNvSpPr>
            <a:spLocks noGrp="1"/>
          </p:cNvSpPr>
          <p:nvPr>
            <p:ph type="title"/>
          </p:nvPr>
        </p:nvSpPr>
        <p:spPr>
          <a:xfrm>
            <a:off x="457200" y="274638"/>
            <a:ext cx="8229600" cy="778098"/>
          </a:xfrm>
        </p:spPr>
        <p:txBody>
          <a:bodyPr>
            <a:normAutofit/>
          </a:bodyPr>
          <a:lstStyle/>
          <a:p>
            <a:r>
              <a:rPr lang="en-AU" sz="3700" dirty="0" err="1" smtClean="0">
                <a:solidFill>
                  <a:srgbClr val="FF0000"/>
                </a:solidFill>
                <a:latin typeface="Calibri" pitchFamily="34" charset="0"/>
                <a:cs typeface="Calibri" pitchFamily="34" charset="0"/>
              </a:rPr>
              <a:t>Phân</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biệt</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Định</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Tính</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và</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Định</a:t>
            </a:r>
            <a:r>
              <a:rPr lang="en-AU" sz="3700" dirty="0" smtClean="0">
                <a:solidFill>
                  <a:srgbClr val="FF0000"/>
                </a:solidFill>
                <a:latin typeface="Calibri" pitchFamily="34" charset="0"/>
                <a:cs typeface="Calibri" pitchFamily="34" charset="0"/>
              </a:rPr>
              <a:t> </a:t>
            </a:r>
            <a:r>
              <a:rPr lang="en-AU" sz="3700" dirty="0" err="1" smtClean="0">
                <a:solidFill>
                  <a:srgbClr val="FF0000"/>
                </a:solidFill>
                <a:latin typeface="Calibri" pitchFamily="34" charset="0"/>
                <a:cs typeface="Calibri" pitchFamily="34" charset="0"/>
              </a:rPr>
              <a:t>Lượng</a:t>
            </a:r>
            <a:endParaRPr lang="en-AU" sz="3700" dirty="0">
              <a:solidFill>
                <a:srgbClr val="FF0000"/>
              </a:solidFill>
              <a:latin typeface="Calibri" pitchFamily="34" charset="0"/>
              <a:cs typeface="Calibri" pitchFamily="34" charset="0"/>
            </a:endParaRPr>
          </a:p>
        </p:txBody>
      </p:sp>
    </p:spTree>
    <p:extLst>
      <p:ext uri="{BB962C8B-B14F-4D97-AF65-F5344CB8AC3E}">
        <p14:creationId xmlns:p14="http://schemas.microsoft.com/office/powerpoint/2010/main" val="20938213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1560" y="1628800"/>
            <a:ext cx="8229600" cy="4525963"/>
          </a:xfrm>
        </p:spPr>
        <p:txBody>
          <a:bodyPr>
            <a:normAutofit/>
          </a:bodyPr>
          <a:lstStyle/>
          <a:p>
            <a:pPr algn="just"/>
            <a:r>
              <a:rPr lang="en-US" sz="2000" dirty="0" err="1">
                <a:latin typeface="Calibri" pitchFamily="34" charset="0"/>
                <a:cs typeface="Calibri" pitchFamily="34" charset="0"/>
              </a:rPr>
              <a:t>Bản</a:t>
            </a:r>
            <a:r>
              <a:rPr lang="en-US" sz="2000" dirty="0">
                <a:latin typeface="Calibri" pitchFamily="34" charset="0"/>
                <a:cs typeface="Calibri" pitchFamily="34" charset="0"/>
              </a:rPr>
              <a:t> </a:t>
            </a:r>
            <a:r>
              <a:rPr lang="en-US" sz="2000" dirty="0" err="1">
                <a:latin typeface="Calibri" pitchFamily="34" charset="0"/>
                <a:cs typeface="Calibri" pitchFamily="34" charset="0"/>
              </a:rPr>
              <a:t>chất</a:t>
            </a:r>
            <a:r>
              <a:rPr lang="en-US" sz="2000" dirty="0">
                <a:latin typeface="Calibri" pitchFamily="34" charset="0"/>
                <a:cs typeface="Calibri" pitchFamily="34" charset="0"/>
              </a:rPr>
              <a:t> </a:t>
            </a:r>
            <a:r>
              <a:rPr lang="en-US" sz="2000" dirty="0" err="1">
                <a:latin typeface="Calibri" pitchFamily="34" charset="0"/>
                <a:cs typeface="Calibri" pitchFamily="34" charset="0"/>
              </a:rPr>
              <a:t>của</a:t>
            </a:r>
            <a:r>
              <a:rPr lang="en-US" sz="2000" dirty="0">
                <a:latin typeface="Calibri" pitchFamily="34" charset="0"/>
                <a:cs typeface="Calibri" pitchFamily="34" charset="0"/>
              </a:rPr>
              <a:t> </a:t>
            </a:r>
            <a:r>
              <a:rPr lang="en-US" sz="2000" dirty="0" err="1">
                <a:latin typeface="Calibri" pitchFamily="34" charset="0"/>
                <a:cs typeface="Calibri" pitchFamily="34" charset="0"/>
              </a:rPr>
              <a:t>hiện</a:t>
            </a:r>
            <a:r>
              <a:rPr lang="en-US" sz="2000" dirty="0">
                <a:latin typeface="Calibri" pitchFamily="34" charset="0"/>
                <a:cs typeface="Calibri" pitchFamily="34" charset="0"/>
              </a:rPr>
              <a:t> </a:t>
            </a:r>
            <a:r>
              <a:rPr lang="en-US" sz="2000" dirty="0" err="1">
                <a:latin typeface="Calibri" pitchFamily="34" charset="0"/>
                <a:cs typeface="Calibri" pitchFamily="34" charset="0"/>
              </a:rPr>
              <a:t>tượng</a:t>
            </a:r>
            <a:r>
              <a:rPr lang="en-US" sz="2000" dirty="0">
                <a:latin typeface="Calibri" pitchFamily="34" charset="0"/>
                <a:cs typeface="Calibri" pitchFamily="34" charset="0"/>
              </a:rPr>
              <a:t> </a:t>
            </a:r>
            <a:r>
              <a:rPr lang="en-US" sz="2000" dirty="0" err="1">
                <a:latin typeface="Calibri" pitchFamily="34" charset="0"/>
                <a:cs typeface="Calibri" pitchFamily="34" charset="0"/>
              </a:rPr>
              <a:t>xa</a:t>
            </a:r>
            <a:r>
              <a:rPr lang="en-US" sz="2000" dirty="0">
                <a:latin typeface="Calibri" pitchFamily="34" charset="0"/>
                <a:cs typeface="Calibri" pitchFamily="34" charset="0"/>
              </a:rPr>
              <a:t>̃ </a:t>
            </a:r>
            <a:r>
              <a:rPr lang="en-US" sz="2000" dirty="0" err="1">
                <a:latin typeface="Calibri" pitchFamily="34" charset="0"/>
                <a:cs typeface="Calibri" pitchFamily="34" charset="0"/>
              </a:rPr>
              <a:t>hội</a:t>
            </a:r>
            <a:r>
              <a:rPr lang="en-US" sz="2000" dirty="0">
                <a:latin typeface="Calibri" pitchFamily="34" charset="0"/>
                <a:cs typeface="Calibri" pitchFamily="34" charset="0"/>
              </a:rPr>
              <a:t> là </a:t>
            </a:r>
            <a:r>
              <a:rPr lang="en-US" sz="2000" dirty="0" err="1">
                <a:latin typeface="Calibri" pitchFamily="34" charset="0"/>
                <a:cs typeface="Calibri" pitchFamily="34" charset="0"/>
              </a:rPr>
              <a:t>đa</a:t>
            </a:r>
            <a:r>
              <a:rPr lang="en-US" sz="2000" dirty="0">
                <a:latin typeface="Calibri" pitchFamily="34" charset="0"/>
                <a:cs typeface="Calibri" pitchFamily="34" charset="0"/>
              </a:rPr>
              <a:t> </a:t>
            </a:r>
            <a:r>
              <a:rPr lang="en-US" sz="2000" dirty="0" err="1">
                <a:latin typeface="Calibri" pitchFamily="34" charset="0"/>
                <a:cs typeface="Calibri" pitchFamily="34" charset="0"/>
              </a:rPr>
              <a:t>chiều</a:t>
            </a:r>
            <a:r>
              <a:rPr lang="en-US" sz="2000" dirty="0">
                <a:latin typeface="Calibri" pitchFamily="34" charset="0"/>
                <a:cs typeface="Calibri" pitchFamily="34" charset="0"/>
              </a:rPr>
              <a:t>, </a:t>
            </a:r>
            <a:r>
              <a:rPr lang="en-US" sz="2000" dirty="0" err="1">
                <a:latin typeface="Calibri" pitchFamily="34" charset="0"/>
                <a:cs typeface="Calibri" pitchFamily="34" charset="0"/>
              </a:rPr>
              <a:t>muốn</a:t>
            </a:r>
            <a:r>
              <a:rPr lang="en-US" sz="2000" dirty="0">
                <a:latin typeface="Calibri" pitchFamily="34" charset="0"/>
                <a:cs typeface="Calibri" pitchFamily="34" charset="0"/>
              </a:rPr>
              <a:t> </a:t>
            </a:r>
            <a:r>
              <a:rPr lang="en-US" sz="2000" dirty="0" err="1">
                <a:latin typeface="Calibri" pitchFamily="34" charset="0"/>
                <a:cs typeface="Calibri" pitchFamily="34" charset="0"/>
              </a:rPr>
              <a:t>hiểu</a:t>
            </a:r>
            <a:r>
              <a:rPr lang="en-US" sz="2000" dirty="0">
                <a:latin typeface="Calibri" pitchFamily="34" charset="0"/>
                <a:cs typeface="Calibri" pitchFamily="34" charset="0"/>
              </a:rPr>
              <a:t> </a:t>
            </a:r>
            <a:r>
              <a:rPr lang="en-US" sz="2000" dirty="0" err="1">
                <a:latin typeface="Calibri" pitchFamily="34" charset="0"/>
                <a:cs typeface="Calibri" pitchFamily="34" charset="0"/>
              </a:rPr>
              <a:t>ro</a:t>
            </a:r>
            <a:r>
              <a:rPr lang="en-US" sz="2000" dirty="0">
                <a:latin typeface="Calibri" pitchFamily="34" charset="0"/>
                <a:cs typeface="Calibri" pitchFamily="34" charset="0"/>
              </a:rPr>
              <a:t>̃ </a:t>
            </a:r>
            <a:r>
              <a:rPr lang="en-US" sz="2000" dirty="0" err="1">
                <a:latin typeface="Calibri" pitchFamily="34" charset="0"/>
                <a:cs typeface="Calibri" pitchFamily="34" charset="0"/>
              </a:rPr>
              <a:t>các</a:t>
            </a:r>
            <a:r>
              <a:rPr lang="en-US" sz="2000" dirty="0">
                <a:latin typeface="Calibri" pitchFamily="34" charset="0"/>
                <a:cs typeface="Calibri" pitchFamily="34" charset="0"/>
              </a:rPr>
              <a:t> </a:t>
            </a:r>
            <a:r>
              <a:rPr lang="en-US" sz="2000" dirty="0" err="1">
                <a:latin typeface="Calibri" pitchFamily="34" charset="0"/>
                <a:cs typeface="Calibri" pitchFamily="34" charset="0"/>
              </a:rPr>
              <a:t>hiện</a:t>
            </a:r>
            <a:r>
              <a:rPr lang="en-US" sz="2000" dirty="0">
                <a:latin typeface="Calibri" pitchFamily="34" charset="0"/>
                <a:cs typeface="Calibri" pitchFamily="34" charset="0"/>
              </a:rPr>
              <a:t> </a:t>
            </a:r>
            <a:r>
              <a:rPr lang="en-US" sz="2000" dirty="0" err="1">
                <a:latin typeface="Calibri" pitchFamily="34" charset="0"/>
                <a:cs typeface="Calibri" pitchFamily="34" charset="0"/>
              </a:rPr>
              <a:t>tượng</a:t>
            </a:r>
            <a:r>
              <a:rPr lang="en-US" sz="2000" dirty="0">
                <a:latin typeface="Calibri" pitchFamily="34" charset="0"/>
                <a:cs typeface="Calibri" pitchFamily="34" charset="0"/>
              </a:rPr>
              <a:t> </a:t>
            </a:r>
            <a:r>
              <a:rPr lang="en-US" sz="2000" dirty="0" err="1">
                <a:latin typeface="Calibri" pitchFamily="34" charset="0"/>
                <a:cs typeface="Calibri" pitchFamily="34" charset="0"/>
              </a:rPr>
              <a:t>đo</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thì</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cần</a:t>
            </a:r>
            <a:r>
              <a:rPr lang="en-US" sz="2000" dirty="0">
                <a:latin typeface="Calibri" pitchFamily="34" charset="0"/>
                <a:cs typeface="Calibri" pitchFamily="34" charset="0"/>
              </a:rPr>
              <a:t> </a:t>
            </a:r>
            <a:r>
              <a:rPr lang="en-US" sz="2000" dirty="0" err="1">
                <a:latin typeface="Calibri" pitchFamily="34" charset="0"/>
                <a:cs typeface="Calibri" pitchFamily="34" charset="0"/>
              </a:rPr>
              <a:t>phải</a:t>
            </a:r>
            <a:r>
              <a:rPr lang="en-US" sz="2000" dirty="0">
                <a:latin typeface="Calibri" pitchFamily="34" charset="0"/>
                <a:cs typeface="Calibri" pitchFamily="34" charset="0"/>
              </a:rPr>
              <a:t> có </a:t>
            </a:r>
            <a:r>
              <a:rPr lang="en-US" sz="2000" dirty="0" err="1" smtClean="0">
                <a:latin typeface="Calibri" pitchFamily="34" charset="0"/>
                <a:cs typeface="Calibri" pitchFamily="34" charset="0"/>
              </a:rPr>
              <a:t>nhiều</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phương</a:t>
            </a:r>
            <a:r>
              <a:rPr lang="en-US" sz="2000" dirty="0">
                <a:latin typeface="Calibri" pitchFamily="34" charset="0"/>
                <a:cs typeface="Calibri" pitchFamily="34" charset="0"/>
              </a:rPr>
              <a:t> </a:t>
            </a:r>
            <a:r>
              <a:rPr lang="en-US" sz="2000" dirty="0" err="1">
                <a:latin typeface="Calibri" pitchFamily="34" charset="0"/>
                <a:cs typeface="Calibri" pitchFamily="34" charset="0"/>
              </a:rPr>
              <a:t>pháp</a:t>
            </a:r>
            <a:r>
              <a:rPr lang="en-US" sz="2000" dirty="0">
                <a:latin typeface="Calibri" pitchFamily="34" charset="0"/>
                <a:cs typeface="Calibri" pitchFamily="34" charset="0"/>
              </a:rPr>
              <a:t>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a:t>
            </a:r>
            <a:r>
              <a:rPr lang="en-US" sz="2000" dirty="0" err="1">
                <a:latin typeface="Calibri" pitchFamily="34" charset="0"/>
                <a:cs typeface="Calibri" pitchFamily="34" charset="0"/>
              </a:rPr>
              <a:t>khác</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nhau</a:t>
            </a:r>
            <a:r>
              <a:rPr lang="en-US" sz="2000" dirty="0">
                <a:latin typeface="Calibri" pitchFamily="34" charset="0"/>
                <a:cs typeface="Calibri" pitchFamily="34" charset="0"/>
              </a:rPr>
              <a:t>.</a:t>
            </a:r>
            <a:endParaRPr lang="en-US" sz="2000" dirty="0" smtClean="0">
              <a:latin typeface="Calibri" pitchFamily="34" charset="0"/>
              <a:cs typeface="Calibri" pitchFamily="34" charset="0"/>
            </a:endParaRPr>
          </a:p>
          <a:p>
            <a:pPr marL="109728" indent="0" algn="just">
              <a:buNone/>
            </a:pPr>
            <a:endParaRPr lang="en-US" sz="2000" dirty="0">
              <a:latin typeface="Calibri" pitchFamily="34" charset="0"/>
              <a:cs typeface="Calibri" pitchFamily="34" charset="0"/>
            </a:endParaRPr>
          </a:p>
          <a:p>
            <a:pPr algn="just"/>
            <a:r>
              <a:rPr lang="en-US" sz="2000" dirty="0" err="1">
                <a:latin typeface="Calibri" pitchFamily="34" charset="0"/>
                <a:cs typeface="Calibri" pitchFamily="34" charset="0"/>
              </a:rPr>
              <a:t>Các</a:t>
            </a:r>
            <a:r>
              <a:rPr lang="en-US" sz="2000" dirty="0">
                <a:latin typeface="Calibri" pitchFamily="34" charset="0"/>
                <a:cs typeface="Calibri" pitchFamily="34" charset="0"/>
              </a:rPr>
              <a:t> </a:t>
            </a:r>
            <a:r>
              <a:rPr lang="en-US" sz="2000" dirty="0" err="1">
                <a:latin typeface="Calibri" pitchFamily="34" charset="0"/>
                <a:cs typeface="Calibri" pitchFamily="34" charset="0"/>
              </a:rPr>
              <a:t>phương</a:t>
            </a:r>
            <a:r>
              <a:rPr lang="en-US" sz="2000" dirty="0">
                <a:latin typeface="Calibri" pitchFamily="34" charset="0"/>
                <a:cs typeface="Calibri" pitchFamily="34" charset="0"/>
              </a:rPr>
              <a:t> </a:t>
            </a:r>
            <a:r>
              <a:rPr lang="en-US" sz="2000" dirty="0" err="1">
                <a:latin typeface="Calibri" pitchFamily="34" charset="0"/>
                <a:cs typeface="Calibri" pitchFamily="34" charset="0"/>
              </a:rPr>
              <a:t>pháp</a:t>
            </a:r>
            <a:r>
              <a:rPr lang="en-US" sz="2000" dirty="0">
                <a:latin typeface="Calibri" pitchFamily="34" charset="0"/>
                <a:cs typeface="Calibri" pitchFamily="34" charset="0"/>
              </a:rPr>
              <a:t>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có </a:t>
            </a:r>
            <a:r>
              <a:rPr lang="en-US" sz="2000" dirty="0" err="1" smtClean="0">
                <a:latin typeface="Calibri" pitchFamily="34" charset="0"/>
                <a:cs typeface="Calibri" pitchFamily="34" charset="0"/>
              </a:rPr>
              <a:t>thể</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bổ</a:t>
            </a:r>
            <a:r>
              <a:rPr lang="en-US" sz="2000" dirty="0" smtClean="0">
                <a:latin typeface="Calibri" pitchFamily="34" charset="0"/>
                <a:cs typeface="Calibri" pitchFamily="34" charset="0"/>
              </a:rPr>
              <a:t> sung </a:t>
            </a:r>
            <a:r>
              <a:rPr lang="en-US" sz="2000" dirty="0" err="1" smtClean="0">
                <a:latin typeface="Calibri" pitchFamily="34" charset="0"/>
                <a:cs typeface="Calibri" pitchFamily="34" charset="0"/>
              </a:rPr>
              <a:t>hỗ</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trơ</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cho</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nhau</a:t>
            </a:r>
            <a:r>
              <a:rPr lang="en-US" sz="2000" dirty="0" smtClean="0">
                <a:latin typeface="Calibri" pitchFamily="34" charset="0"/>
                <a:cs typeface="Calibri" pitchFamily="34" charset="0"/>
              </a:rPr>
              <a:t>.</a:t>
            </a:r>
          </a:p>
          <a:p>
            <a:pPr marL="109728" indent="0" algn="just">
              <a:buNone/>
            </a:pPr>
            <a:endParaRPr lang="en-US" sz="2000" dirty="0">
              <a:latin typeface="Calibri" pitchFamily="34" charset="0"/>
              <a:cs typeface="Calibri" pitchFamily="34" charset="0"/>
            </a:endParaRPr>
          </a:p>
          <a:p>
            <a:pPr algn="just"/>
            <a:r>
              <a:rPr lang="en-US" sz="2000" dirty="0" err="1">
                <a:latin typeface="Calibri" pitchFamily="34" charset="0"/>
                <a:cs typeface="Calibri" pitchFamily="34" charset="0"/>
              </a:rPr>
              <a:t>Không</a:t>
            </a:r>
            <a:r>
              <a:rPr lang="en-US" sz="2000" dirty="0">
                <a:latin typeface="Calibri" pitchFamily="34" charset="0"/>
                <a:cs typeface="Calibri" pitchFamily="34" charset="0"/>
              </a:rPr>
              <a:t> </a:t>
            </a:r>
            <a:r>
              <a:rPr lang="en-US" sz="2000" dirty="0" err="1">
                <a:latin typeface="Calibri" pitchFamily="34" charset="0"/>
                <a:cs typeface="Calibri" pitchFamily="34" charset="0"/>
              </a:rPr>
              <a:t>phải</a:t>
            </a:r>
            <a:r>
              <a:rPr lang="en-US" sz="2000" dirty="0">
                <a:latin typeface="Calibri" pitchFamily="34" charset="0"/>
                <a:cs typeface="Calibri" pitchFamily="34" charset="0"/>
              </a:rPr>
              <a:t> </a:t>
            </a:r>
            <a:r>
              <a:rPr lang="en-US" sz="2000" dirty="0" err="1">
                <a:latin typeface="Calibri" pitchFamily="34" charset="0"/>
                <a:cs typeface="Calibri" pitchFamily="34" charset="0"/>
              </a:rPr>
              <a:t>vấn</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đề</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nào</a:t>
            </a:r>
            <a:r>
              <a:rPr lang="en-US" sz="2000" dirty="0">
                <a:latin typeface="Calibri" pitchFamily="34" charset="0"/>
                <a:cs typeface="Calibri" pitchFamily="34" charset="0"/>
              </a:rPr>
              <a:t> </a:t>
            </a:r>
            <a:r>
              <a:rPr lang="en-US" sz="2000" dirty="0" err="1">
                <a:latin typeface="Calibri" pitchFamily="34" charset="0"/>
                <a:cs typeface="Calibri" pitchFamily="34" charset="0"/>
              </a:rPr>
              <a:t>trong</a:t>
            </a:r>
            <a:r>
              <a:rPr lang="en-US" sz="2000" dirty="0">
                <a:latin typeface="Calibri" pitchFamily="34" charset="0"/>
                <a:cs typeface="Calibri" pitchFamily="34" charset="0"/>
              </a:rPr>
              <a:t> </a:t>
            </a:r>
            <a:r>
              <a:rPr lang="en-US" sz="2000" dirty="0" err="1">
                <a:latin typeface="Calibri" pitchFamily="34" charset="0"/>
                <a:cs typeface="Calibri" pitchFamily="34" charset="0"/>
              </a:rPr>
              <a:t>xa</a:t>
            </a:r>
            <a:r>
              <a:rPr lang="en-US" sz="2000" dirty="0">
                <a:latin typeface="Calibri" pitchFamily="34" charset="0"/>
                <a:cs typeface="Calibri" pitchFamily="34" charset="0"/>
              </a:rPr>
              <a:t>̃ </a:t>
            </a:r>
            <a:r>
              <a:rPr lang="en-US" sz="2000" dirty="0" err="1">
                <a:latin typeface="Calibri" pitchFamily="34" charset="0"/>
                <a:cs typeface="Calibri" pitchFamily="34" charset="0"/>
              </a:rPr>
              <a:t>hội</a:t>
            </a:r>
            <a:r>
              <a:rPr lang="en-US" sz="2000" dirty="0">
                <a:latin typeface="Calibri" pitchFamily="34" charset="0"/>
                <a:cs typeface="Calibri" pitchFamily="34" charset="0"/>
              </a:rPr>
              <a:t>,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a:t>
            </a:r>
            <a:r>
              <a:rPr lang="en-US" sz="2000" dirty="0" err="1">
                <a:latin typeface="Calibri" pitchFamily="34" charset="0"/>
                <a:cs typeface="Calibri" pitchFamily="34" charset="0"/>
              </a:rPr>
              <a:t>thi</a:t>
            </a:r>
            <a:r>
              <a:rPr lang="en-US" sz="2000" dirty="0">
                <a:latin typeface="Calibri" pitchFamily="34" charset="0"/>
                <a:cs typeface="Calibri" pitchFamily="34" charset="0"/>
              </a:rPr>
              <a:t>̣ </a:t>
            </a:r>
            <a:r>
              <a:rPr lang="en-US" sz="2000" dirty="0" err="1">
                <a:latin typeface="Calibri" pitchFamily="34" charset="0"/>
                <a:cs typeface="Calibri" pitchFamily="34" charset="0"/>
              </a:rPr>
              <a:t>trường</a:t>
            </a:r>
            <a:r>
              <a:rPr lang="en-US" sz="2000" dirty="0">
                <a:latin typeface="Calibri" pitchFamily="34" charset="0"/>
                <a:cs typeface="Calibri" pitchFamily="34" charset="0"/>
              </a:rPr>
              <a:t> </a:t>
            </a:r>
            <a:r>
              <a:rPr lang="en-US" sz="2000" dirty="0" err="1">
                <a:latin typeface="Calibri" pitchFamily="34" charset="0"/>
                <a:cs typeface="Calibri" pitchFamily="34" charset="0"/>
              </a:rPr>
              <a:t>trong</a:t>
            </a:r>
            <a:r>
              <a:rPr lang="en-US" sz="2000" dirty="0">
                <a:latin typeface="Calibri" pitchFamily="34" charset="0"/>
                <a:cs typeface="Calibri" pitchFamily="34" charset="0"/>
              </a:rPr>
              <a:t> </a:t>
            </a:r>
            <a:r>
              <a:rPr lang="en-US" sz="2000" dirty="0" err="1">
                <a:latin typeface="Calibri" pitchFamily="34" charset="0"/>
                <a:cs typeface="Calibri" pitchFamily="34" charset="0"/>
              </a:rPr>
              <a:t>kinh</a:t>
            </a:r>
            <a:r>
              <a:rPr lang="en-US" sz="2000" dirty="0">
                <a:latin typeface="Calibri" pitchFamily="34" charset="0"/>
                <a:cs typeface="Calibri" pitchFamily="34" charset="0"/>
              </a:rPr>
              <a:t> </a:t>
            </a:r>
            <a:r>
              <a:rPr lang="en-US" sz="2000" dirty="0" err="1">
                <a:latin typeface="Calibri" pitchFamily="34" charset="0"/>
                <a:cs typeface="Calibri" pitchFamily="34" charset="0"/>
              </a:rPr>
              <a:t>t</a:t>
            </a:r>
            <a:r>
              <a:rPr lang="en-US" sz="2000" dirty="0" err="1" smtClean="0">
                <a:latin typeface="Calibri" pitchFamily="34" charset="0"/>
                <a:cs typeface="Calibri" pitchFamily="34" charset="0"/>
              </a:rPr>
              <a:t>ế</a:t>
            </a:r>
            <a:r>
              <a:rPr lang="en-US" sz="2000" dirty="0" smtClean="0">
                <a:latin typeface="Calibri" pitchFamily="34" charset="0"/>
                <a:cs typeface="Calibri" pitchFamily="34" charset="0"/>
              </a:rPr>
              <a:t> </a:t>
            </a:r>
            <a:r>
              <a:rPr lang="en-US" sz="2000" dirty="0">
                <a:latin typeface="Calibri" pitchFamily="34" charset="0"/>
                <a:cs typeface="Calibri" pitchFamily="34" charset="0"/>
              </a:rPr>
              <a:t>có </a:t>
            </a:r>
            <a:r>
              <a:rPr lang="en-US" sz="2000" dirty="0" err="1" smtClean="0">
                <a:latin typeface="Calibri" pitchFamily="34" charset="0"/>
                <a:cs typeface="Calibri" pitchFamily="34" charset="0"/>
              </a:rPr>
              <a:t>thể</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đo</a:t>
            </a:r>
            <a:r>
              <a:rPr lang="en-US" sz="2000" dirty="0">
                <a:latin typeface="Calibri" pitchFamily="34" charset="0"/>
                <a:cs typeface="Calibri" pitchFamily="34" charset="0"/>
              </a:rPr>
              <a:t> </a:t>
            </a:r>
            <a:r>
              <a:rPr lang="en-US" sz="2000" dirty="0" err="1">
                <a:latin typeface="Calibri" pitchFamily="34" charset="0"/>
                <a:cs typeface="Calibri" pitchFamily="34" charset="0"/>
              </a:rPr>
              <a:t>lường</a:t>
            </a:r>
            <a:r>
              <a:rPr lang="en-US" sz="2000" dirty="0">
                <a:latin typeface="Calibri" pitchFamily="34" charset="0"/>
                <a:cs typeface="Calibri" pitchFamily="34" charset="0"/>
              </a:rPr>
              <a:t> </a:t>
            </a:r>
            <a:r>
              <a:rPr lang="en-US" sz="2000" dirty="0" err="1">
                <a:latin typeface="Calibri" pitchFamily="34" charset="0"/>
                <a:cs typeface="Calibri" pitchFamily="34" charset="0"/>
              </a:rPr>
              <a:t>bằng</a:t>
            </a:r>
            <a:r>
              <a:rPr lang="en-US" sz="2000" dirty="0">
                <a:latin typeface="Calibri" pitchFamily="34" charset="0"/>
                <a:cs typeface="Calibri" pitchFamily="34" charset="0"/>
              </a:rPr>
              <a:t> 1 con </a:t>
            </a:r>
            <a:r>
              <a:rPr lang="en-US" sz="2000" dirty="0" err="1" smtClean="0">
                <a:latin typeface="Calibri" pitchFamily="34" charset="0"/>
                <a:cs typeface="Calibri" pitchFamily="34" charset="0"/>
              </a:rPr>
              <a:t>số</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cụ</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thể</a:t>
            </a:r>
            <a:r>
              <a:rPr lang="en-US" sz="2000" dirty="0" smtClean="0">
                <a:latin typeface="Calibri" pitchFamily="34" charset="0"/>
                <a:cs typeface="Calibri" pitchFamily="34" charset="0"/>
              </a:rPr>
              <a:t>→ </a:t>
            </a:r>
            <a:r>
              <a:rPr lang="en-US" sz="2000" dirty="0">
                <a:latin typeface="Calibri" pitchFamily="34" charset="0"/>
                <a:cs typeface="Calibri" pitchFamily="34" charset="0"/>
              </a:rPr>
              <a:t>có </a:t>
            </a:r>
            <a:r>
              <a:rPr lang="en-US" sz="2000" dirty="0" err="1">
                <a:latin typeface="Calibri" pitchFamily="34" charset="0"/>
                <a:cs typeface="Calibri" pitchFamily="34" charset="0"/>
              </a:rPr>
              <a:t>những</a:t>
            </a:r>
            <a:r>
              <a:rPr lang="en-US" sz="2000" dirty="0">
                <a:latin typeface="Calibri" pitchFamily="34" charset="0"/>
                <a:cs typeface="Calibri" pitchFamily="34" charset="0"/>
              </a:rPr>
              <a:t> </a:t>
            </a:r>
            <a:r>
              <a:rPr lang="en-US" sz="2000" dirty="0" err="1">
                <a:latin typeface="Calibri" pitchFamily="34" charset="0"/>
                <a:cs typeface="Calibri" pitchFamily="34" charset="0"/>
              </a:rPr>
              <a:t>vấn</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đề</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không</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th̉ể</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giải</a:t>
            </a:r>
            <a:r>
              <a:rPr lang="en-US" sz="2000" dirty="0">
                <a:latin typeface="Calibri" pitchFamily="34" charset="0"/>
                <a:cs typeface="Calibri" pitchFamily="34" charset="0"/>
              </a:rPr>
              <a:t> </a:t>
            </a:r>
            <a:r>
              <a:rPr lang="en-US" sz="2000" dirty="0" err="1">
                <a:latin typeface="Calibri" pitchFamily="34" charset="0"/>
                <a:cs typeface="Calibri" pitchFamily="34" charset="0"/>
              </a:rPr>
              <a:t>quyết</a:t>
            </a:r>
            <a:r>
              <a:rPr lang="en-US" sz="2000" dirty="0">
                <a:latin typeface="Calibri" pitchFamily="34" charset="0"/>
                <a:cs typeface="Calibri" pitchFamily="34" charset="0"/>
              </a:rPr>
              <a:t> </a:t>
            </a:r>
            <a:r>
              <a:rPr lang="en-US" sz="2000" dirty="0" err="1">
                <a:latin typeface="Calibri" pitchFamily="34" charset="0"/>
                <a:cs typeface="Calibri" pitchFamily="34" charset="0"/>
              </a:rPr>
              <a:t>được</a:t>
            </a:r>
            <a:r>
              <a:rPr lang="en-US" sz="2000" dirty="0">
                <a:latin typeface="Calibri" pitchFamily="34" charset="0"/>
                <a:cs typeface="Calibri" pitchFamily="34" charset="0"/>
              </a:rPr>
              <a:t> </a:t>
            </a:r>
            <a:r>
              <a:rPr lang="en-US" sz="2000" dirty="0" err="1">
                <a:latin typeface="Calibri" pitchFamily="34" charset="0"/>
                <a:cs typeface="Calibri" pitchFamily="34" charset="0"/>
              </a:rPr>
              <a:t>bằng</a:t>
            </a:r>
            <a:r>
              <a:rPr lang="en-US" sz="2000" dirty="0">
                <a:latin typeface="Calibri" pitchFamily="34" charset="0"/>
                <a:cs typeface="Calibri" pitchFamily="34" charset="0"/>
              </a:rPr>
              <a:t>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a:t>
            </a:r>
            <a:r>
              <a:rPr lang="en-US" sz="2000" dirty="0" err="1">
                <a:latin typeface="Calibri" pitchFamily="34" charset="0"/>
                <a:cs typeface="Calibri" pitchFamily="34" charset="0"/>
              </a:rPr>
              <a:t>định</a:t>
            </a:r>
            <a:r>
              <a:rPr lang="en-US" sz="2000" dirty="0">
                <a:latin typeface="Calibri" pitchFamily="34" charset="0"/>
                <a:cs typeface="Calibri" pitchFamily="34" charset="0"/>
              </a:rPr>
              <a:t> </a:t>
            </a:r>
            <a:r>
              <a:rPr lang="en-US" sz="2000" dirty="0" err="1">
                <a:latin typeface="Calibri" pitchFamily="34" charset="0"/>
                <a:cs typeface="Calibri" pitchFamily="34" charset="0"/>
              </a:rPr>
              <a:t>lượng</a:t>
            </a:r>
            <a:r>
              <a:rPr lang="en-US" sz="2000" dirty="0">
                <a:latin typeface="Calibri" pitchFamily="34" charset="0"/>
                <a:cs typeface="Calibri" pitchFamily="34" charset="0"/>
              </a:rPr>
              <a:t> →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a:t>
            </a:r>
            <a:r>
              <a:rPr lang="en-US" sz="2000" dirty="0" err="1">
                <a:latin typeface="Calibri" pitchFamily="34" charset="0"/>
                <a:cs typeface="Calibri" pitchFamily="34" charset="0"/>
              </a:rPr>
              <a:t>định</a:t>
            </a:r>
            <a:r>
              <a:rPr lang="en-US" sz="2000" dirty="0">
                <a:latin typeface="Calibri" pitchFamily="34" charset="0"/>
                <a:cs typeface="Calibri" pitchFamily="34" charset="0"/>
              </a:rPr>
              <a:t> </a:t>
            </a:r>
            <a:r>
              <a:rPr lang="en-US" sz="2000" dirty="0" err="1">
                <a:latin typeface="Calibri" pitchFamily="34" charset="0"/>
                <a:cs typeface="Calibri" pitchFamily="34" charset="0"/>
              </a:rPr>
              <a:t>lượng</a:t>
            </a:r>
            <a:r>
              <a:rPr lang="en-US" sz="2000" dirty="0">
                <a:latin typeface="Calibri" pitchFamily="34" charset="0"/>
                <a:cs typeface="Calibri" pitchFamily="34" charset="0"/>
              </a:rPr>
              <a:t> </a:t>
            </a:r>
            <a:r>
              <a:rPr lang="en-US" sz="2000" dirty="0" err="1">
                <a:latin typeface="Calibri" pitchFamily="34" charset="0"/>
                <a:cs typeface="Calibri" pitchFamily="34" charset="0"/>
              </a:rPr>
              <a:t>không</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thể</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cho</a:t>
            </a:r>
            <a:r>
              <a:rPr lang="en-US" sz="2000" dirty="0">
                <a:latin typeface="Calibri" pitchFamily="34" charset="0"/>
                <a:cs typeface="Calibri" pitchFamily="34" charset="0"/>
              </a:rPr>
              <a:t> ta </a:t>
            </a:r>
            <a:r>
              <a:rPr lang="en-US" sz="2000" dirty="0" err="1">
                <a:latin typeface="Calibri" pitchFamily="34" charset="0"/>
                <a:cs typeface="Calibri" pitchFamily="34" charset="0"/>
              </a:rPr>
              <a:t>nhìn</a:t>
            </a:r>
            <a:r>
              <a:rPr lang="en-US" sz="2000" dirty="0">
                <a:latin typeface="Calibri" pitchFamily="34" charset="0"/>
                <a:cs typeface="Calibri" pitchFamily="34" charset="0"/>
              </a:rPr>
              <a:t> </a:t>
            </a:r>
            <a:r>
              <a:rPr lang="en-US" sz="2000" dirty="0" err="1">
                <a:latin typeface="Calibri" pitchFamily="34" charset="0"/>
                <a:cs typeface="Calibri" pitchFamily="34" charset="0"/>
              </a:rPr>
              <a:t>vấn</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đề</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đo</a:t>
            </a:r>
            <a:r>
              <a:rPr lang="en-US" sz="2000" dirty="0">
                <a:latin typeface="Calibri" pitchFamily="34" charset="0"/>
                <a:cs typeface="Calibri" pitchFamily="34" charset="0"/>
              </a:rPr>
              <a:t>́ </a:t>
            </a:r>
            <a:r>
              <a:rPr lang="en-US" sz="2000" dirty="0" err="1">
                <a:latin typeface="Calibri" pitchFamily="34" charset="0"/>
                <a:cs typeface="Calibri" pitchFamily="34" charset="0"/>
              </a:rPr>
              <a:t>chính</a:t>
            </a:r>
            <a:r>
              <a:rPr lang="en-US" sz="2000" dirty="0">
                <a:latin typeface="Calibri" pitchFamily="34" charset="0"/>
                <a:cs typeface="Calibri" pitchFamily="34" charset="0"/>
              </a:rPr>
              <a:t> </a:t>
            </a:r>
            <a:r>
              <a:rPr lang="en-US" sz="2000" dirty="0" err="1">
                <a:latin typeface="Calibri" pitchFamily="34" charset="0"/>
                <a:cs typeface="Calibri" pitchFamily="34" charset="0"/>
              </a:rPr>
              <a:t>xác</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a:t>
            </a:r>
          </a:p>
          <a:p>
            <a:pPr marL="109728" indent="0" algn="just">
              <a:buNone/>
            </a:pPr>
            <a:endParaRPr lang="en-US" sz="2000" dirty="0">
              <a:latin typeface="Calibri" pitchFamily="34" charset="0"/>
              <a:cs typeface="Calibri" pitchFamily="34" charset="0"/>
            </a:endParaRPr>
          </a:p>
          <a:p>
            <a:pPr algn="just"/>
            <a:r>
              <a:rPr lang="en-US" sz="2000" dirty="0" err="1" smtClean="0">
                <a:latin typeface="Calibri" pitchFamily="34" charset="0"/>
                <a:cs typeface="Calibri" pitchFamily="34" charset="0"/>
              </a:rPr>
              <a:t>Để</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điều</a:t>
            </a:r>
            <a:r>
              <a:rPr lang="en-US" sz="2000" dirty="0">
                <a:latin typeface="Calibri" pitchFamily="34" charset="0"/>
                <a:cs typeface="Calibri" pitchFamily="34" charset="0"/>
              </a:rPr>
              <a:t> </a:t>
            </a:r>
            <a:r>
              <a:rPr lang="en-US" sz="2000" dirty="0" err="1">
                <a:latin typeface="Calibri" pitchFamily="34" charset="0"/>
                <a:cs typeface="Calibri" pitchFamily="34" charset="0"/>
              </a:rPr>
              <a:t>chỉnh</a:t>
            </a:r>
            <a:r>
              <a:rPr lang="en-US" sz="2000" dirty="0">
                <a:latin typeface="Calibri" pitchFamily="34" charset="0"/>
                <a:cs typeface="Calibri" pitchFamily="34" charset="0"/>
              </a:rPr>
              <a:t> </a:t>
            </a:r>
            <a:r>
              <a:rPr lang="en-US" sz="2000" dirty="0" err="1">
                <a:latin typeface="Calibri" pitchFamily="34" charset="0"/>
                <a:cs typeface="Calibri" pitchFamily="34" charset="0"/>
              </a:rPr>
              <a:t>khiếm</a:t>
            </a:r>
            <a:r>
              <a:rPr lang="en-US" sz="2000" dirty="0">
                <a:latin typeface="Calibri" pitchFamily="34" charset="0"/>
                <a:cs typeface="Calibri" pitchFamily="34" charset="0"/>
              </a:rPr>
              <a:t> </a:t>
            </a:r>
            <a:r>
              <a:rPr lang="en-US" sz="2000" dirty="0" err="1">
                <a:latin typeface="Calibri" pitchFamily="34" charset="0"/>
                <a:cs typeface="Calibri" pitchFamily="34" charset="0"/>
              </a:rPr>
              <a:t>khuyết</a:t>
            </a:r>
            <a:r>
              <a:rPr lang="en-US" sz="2000" dirty="0">
                <a:latin typeface="Calibri" pitchFamily="34" charset="0"/>
                <a:cs typeface="Calibri" pitchFamily="34" charset="0"/>
              </a:rPr>
              <a:t> </a:t>
            </a:r>
            <a:r>
              <a:rPr lang="en-US" sz="2000" dirty="0" err="1">
                <a:latin typeface="Calibri" pitchFamily="34" charset="0"/>
                <a:cs typeface="Calibri" pitchFamily="34" charset="0"/>
              </a:rPr>
              <a:t>của</a:t>
            </a:r>
            <a:r>
              <a:rPr lang="en-US" sz="2000" dirty="0">
                <a:latin typeface="Calibri" pitchFamily="34" charset="0"/>
                <a:cs typeface="Calibri" pitchFamily="34" charset="0"/>
              </a:rPr>
              <a:t>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a:t>
            </a:r>
            <a:r>
              <a:rPr lang="en-US" sz="2000" dirty="0" err="1">
                <a:latin typeface="Calibri" pitchFamily="34" charset="0"/>
                <a:cs typeface="Calibri" pitchFamily="34" charset="0"/>
              </a:rPr>
              <a:t>định</a:t>
            </a:r>
            <a:r>
              <a:rPr lang="en-US" sz="2000" dirty="0">
                <a:latin typeface="Calibri" pitchFamily="34" charset="0"/>
                <a:cs typeface="Calibri" pitchFamily="34" charset="0"/>
              </a:rPr>
              <a:t> </a:t>
            </a:r>
            <a:r>
              <a:rPr lang="en-US" sz="2000" dirty="0" err="1">
                <a:latin typeface="Calibri" pitchFamily="34" charset="0"/>
                <a:cs typeface="Calibri" pitchFamily="34" charset="0"/>
              </a:rPr>
              <a:t>lượng</a:t>
            </a:r>
            <a:r>
              <a:rPr lang="en-US" sz="2000" dirty="0">
                <a:latin typeface="Calibri" pitchFamily="34" charset="0"/>
                <a:cs typeface="Calibri" pitchFamily="34" charset="0"/>
              </a:rPr>
              <a:t>, ta </a:t>
            </a:r>
            <a:r>
              <a:rPr lang="en-US" sz="2000" dirty="0" err="1">
                <a:latin typeface="Calibri" pitchFamily="34" charset="0"/>
                <a:cs typeface="Calibri" pitchFamily="34" charset="0"/>
              </a:rPr>
              <a:t>cần</a:t>
            </a:r>
            <a:r>
              <a:rPr lang="en-US" sz="2000" dirty="0">
                <a:latin typeface="Calibri" pitchFamily="34" charset="0"/>
                <a:cs typeface="Calibri" pitchFamily="34" charset="0"/>
              </a:rPr>
              <a:t> </a:t>
            </a:r>
            <a:r>
              <a:rPr lang="en-US" sz="2000" dirty="0" err="1">
                <a:latin typeface="Calibri" pitchFamily="34" charset="0"/>
                <a:cs typeface="Calibri" pitchFamily="34" charset="0"/>
              </a:rPr>
              <a:t>phải</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bổ</a:t>
            </a:r>
            <a:r>
              <a:rPr lang="en-US" sz="2000" dirty="0" smtClean="0">
                <a:latin typeface="Calibri" pitchFamily="34" charset="0"/>
                <a:cs typeface="Calibri" pitchFamily="34" charset="0"/>
              </a:rPr>
              <a:t> </a:t>
            </a:r>
            <a:r>
              <a:rPr lang="en-US" sz="2000" dirty="0">
                <a:latin typeface="Calibri" pitchFamily="34" charset="0"/>
                <a:cs typeface="Calibri" pitchFamily="34" charset="0"/>
              </a:rPr>
              <a:t>sung </a:t>
            </a:r>
            <a:r>
              <a:rPr lang="en-US" sz="2000" dirty="0" err="1">
                <a:latin typeface="Calibri" pitchFamily="34" charset="0"/>
                <a:cs typeface="Calibri" pitchFamily="34" charset="0"/>
              </a:rPr>
              <a:t>phương</a:t>
            </a:r>
            <a:r>
              <a:rPr lang="en-US" sz="2000" dirty="0">
                <a:latin typeface="Calibri" pitchFamily="34" charset="0"/>
                <a:cs typeface="Calibri" pitchFamily="34" charset="0"/>
              </a:rPr>
              <a:t> </a:t>
            </a:r>
            <a:r>
              <a:rPr lang="en-US" sz="2000" dirty="0" err="1">
                <a:latin typeface="Calibri" pitchFamily="34" charset="0"/>
                <a:cs typeface="Calibri" pitchFamily="34" charset="0"/>
              </a:rPr>
              <a:t>pháp</a:t>
            </a:r>
            <a:r>
              <a:rPr lang="en-US" sz="2000" dirty="0">
                <a:latin typeface="Calibri" pitchFamily="34" charset="0"/>
                <a:cs typeface="Calibri" pitchFamily="34" charset="0"/>
              </a:rPr>
              <a:t> </a:t>
            </a:r>
            <a:r>
              <a:rPr lang="en-US" sz="2000" dirty="0" err="1">
                <a:latin typeface="Calibri" pitchFamily="34" charset="0"/>
                <a:cs typeface="Calibri" pitchFamily="34" charset="0"/>
              </a:rPr>
              <a:t>nghiên</a:t>
            </a:r>
            <a:r>
              <a:rPr lang="en-US" sz="2000" dirty="0">
                <a:latin typeface="Calibri" pitchFamily="34" charset="0"/>
                <a:cs typeface="Calibri" pitchFamily="34" charset="0"/>
              </a:rPr>
              <a:t> </a:t>
            </a:r>
            <a:r>
              <a:rPr lang="en-US" sz="2000" dirty="0" err="1">
                <a:latin typeface="Calibri" pitchFamily="34" charset="0"/>
                <a:cs typeface="Calibri" pitchFamily="34" charset="0"/>
              </a:rPr>
              <a:t>cứu</a:t>
            </a:r>
            <a:r>
              <a:rPr lang="en-US" sz="2000" dirty="0">
                <a:latin typeface="Calibri" pitchFamily="34" charset="0"/>
                <a:cs typeface="Calibri" pitchFamily="34" charset="0"/>
              </a:rPr>
              <a:t> </a:t>
            </a:r>
            <a:r>
              <a:rPr lang="en-US" sz="2000" dirty="0" err="1">
                <a:latin typeface="Calibri" pitchFamily="34" charset="0"/>
                <a:cs typeface="Calibri" pitchFamily="34" charset="0"/>
              </a:rPr>
              <a:t>định</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tính</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để</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lượng</a:t>
            </a:r>
            <a:r>
              <a:rPr lang="en-US" sz="2000" dirty="0">
                <a:latin typeface="Calibri" pitchFamily="34" charset="0"/>
                <a:cs typeface="Calibri" pitchFamily="34" charset="0"/>
              </a:rPr>
              <a:t> </a:t>
            </a:r>
            <a:r>
              <a:rPr lang="en-US" sz="2000" dirty="0" err="1">
                <a:latin typeface="Calibri" pitchFamily="34" charset="0"/>
                <a:cs typeface="Calibri" pitchFamily="34" charset="0"/>
              </a:rPr>
              <a:t>hóa</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chúng</a:t>
            </a:r>
            <a:r>
              <a:rPr lang="en-US" sz="2000" dirty="0" smtClean="0">
                <a:latin typeface="Calibri" pitchFamily="34" charset="0"/>
                <a:cs typeface="Calibri" pitchFamily="34" charset="0"/>
              </a:rPr>
              <a:t>, </a:t>
            </a:r>
            <a:r>
              <a:rPr lang="en-US" sz="2000" dirty="0">
                <a:latin typeface="Calibri" pitchFamily="34" charset="0"/>
                <a:cs typeface="Calibri" pitchFamily="34" charset="0"/>
              </a:rPr>
              <a:t>ta </a:t>
            </a:r>
            <a:r>
              <a:rPr lang="en-US" sz="2000" dirty="0" err="1">
                <a:latin typeface="Calibri" pitchFamily="34" charset="0"/>
                <a:cs typeface="Calibri" pitchFamily="34" charset="0"/>
              </a:rPr>
              <a:t>dùng</a:t>
            </a:r>
            <a:r>
              <a:rPr lang="en-US" sz="2000" dirty="0">
                <a:latin typeface="Calibri" pitchFamily="34" charset="0"/>
                <a:cs typeface="Calibri" pitchFamily="34" charset="0"/>
              </a:rPr>
              <a:t> </a:t>
            </a:r>
            <a:r>
              <a:rPr lang="en-US" sz="2000" dirty="0" err="1">
                <a:latin typeface="Calibri" pitchFamily="34" charset="0"/>
                <a:cs typeface="Calibri" pitchFamily="34" charset="0"/>
              </a:rPr>
              <a:t>các</a:t>
            </a:r>
            <a:r>
              <a:rPr lang="en-US" sz="2000" dirty="0">
                <a:latin typeface="Calibri" pitchFamily="34" charset="0"/>
                <a:cs typeface="Calibri" pitchFamily="34" charset="0"/>
              </a:rPr>
              <a:t> </a:t>
            </a:r>
            <a:r>
              <a:rPr lang="en-US" sz="2000" dirty="0" err="1">
                <a:latin typeface="Calibri" pitchFamily="34" charset="0"/>
                <a:cs typeface="Calibri" pitchFamily="34" charset="0"/>
              </a:rPr>
              <a:t>biến</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gia</a:t>
            </a:r>
            <a:r>
              <a:rPr lang="en-US" sz="2000" dirty="0" smtClean="0">
                <a:latin typeface="Calibri" pitchFamily="34" charset="0"/>
                <a:cs typeface="Calibri" pitchFamily="34" charset="0"/>
              </a:rPr>
              <a:t>̉</a:t>
            </a:r>
            <a:r>
              <a:rPr lang="en-US" sz="2000" dirty="0">
                <a:latin typeface="Calibri" pitchFamily="34" charset="0"/>
                <a:cs typeface="Calibri" pitchFamily="34" charset="0"/>
              </a:rPr>
              <a:t>.</a:t>
            </a:r>
          </a:p>
          <a:p>
            <a:pPr algn="just"/>
            <a:endParaRPr lang="en-AU" sz="190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US" sz="3700" dirty="0" err="1">
                <a:solidFill>
                  <a:srgbClr val="FF0000"/>
                </a:solidFill>
                <a:effectLst/>
                <a:latin typeface="Calibri" pitchFamily="34" charset="0"/>
                <a:cs typeface="Calibri" pitchFamily="34" charset="0"/>
              </a:rPr>
              <a:t>Tại</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sao</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cần</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biến</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gia</a:t>
            </a:r>
            <a:r>
              <a:rPr lang="en-US" sz="3700" dirty="0">
                <a:solidFill>
                  <a:srgbClr val="FF0000"/>
                </a:solidFill>
                <a:effectLst/>
                <a:latin typeface="Calibri" pitchFamily="34" charset="0"/>
                <a:cs typeface="Calibri" pitchFamily="34" charset="0"/>
              </a:rPr>
              <a:t>̉</a:t>
            </a:r>
            <a:r>
              <a:rPr lang="en-US" sz="3700" dirty="0" smtClean="0">
                <a:solidFill>
                  <a:srgbClr val="FF0000"/>
                </a:solidFill>
                <a:effectLst/>
                <a:latin typeface="Calibri" pitchFamily="34" charset="0"/>
                <a:cs typeface="Calibri" pitchFamily="34" charset="0"/>
              </a:rPr>
              <a:t>?</a:t>
            </a:r>
            <a:endParaRPr lang="en-AU" sz="3700" dirty="0">
              <a:solidFill>
                <a:srgbClr val="FF0000"/>
              </a:solidFill>
              <a:latin typeface="Calibri" pitchFamily="34" charset="0"/>
              <a:cs typeface="Calibri" pitchFamily="34" charset="0"/>
            </a:endParaRPr>
          </a:p>
        </p:txBody>
      </p:sp>
    </p:spTree>
    <p:extLst>
      <p:ext uri="{BB962C8B-B14F-4D97-AF65-F5344CB8AC3E}">
        <p14:creationId xmlns:p14="http://schemas.microsoft.com/office/powerpoint/2010/main" val="31586404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70000" lnSpcReduction="20000"/>
              </a:bodyPr>
              <a:lstStyle/>
              <a:p>
                <a:pPr algn="just"/>
                <a:r>
                  <a:rPr lang="en-US" dirty="0" smtClean="0">
                    <a:latin typeface="Calibri" pitchFamily="34" charset="0"/>
                    <a:cs typeface="Calibri" pitchFamily="34" charset="0"/>
                  </a:rPr>
                  <a:t>Làm</a:t>
                </a:r>
                <a:r>
                  <a:rPr lang="en-US" dirty="0">
                    <a:latin typeface="Calibri" pitchFamily="34" charset="0"/>
                    <a:cs typeface="Calibri" pitchFamily="34" charset="0"/>
                  </a:rPr>
                  <a:t> </a:t>
                </a:r>
                <a:r>
                  <a:rPr lang="en-US" dirty="0" err="1">
                    <a:latin typeface="Calibri" pitchFamily="34" charset="0"/>
                    <a:cs typeface="Calibri" pitchFamily="34" charset="0"/>
                  </a:rPr>
                  <a:t>thế</a:t>
                </a:r>
                <a:r>
                  <a:rPr lang="en-US" dirty="0">
                    <a:latin typeface="Calibri" pitchFamily="34" charset="0"/>
                    <a:cs typeface="Calibri" pitchFamily="34" charset="0"/>
                  </a:rPr>
                  <a:t> </a:t>
                </a:r>
                <a:r>
                  <a:rPr lang="en-US" dirty="0" err="1">
                    <a:latin typeface="Calibri" pitchFamily="34" charset="0"/>
                    <a:cs typeface="Calibri" pitchFamily="34" charset="0"/>
                  </a:rPr>
                  <a:t>nào</a:t>
                </a:r>
                <a:r>
                  <a:rPr lang="en-US" dirty="0">
                    <a:latin typeface="Calibri" pitchFamily="34" charset="0"/>
                    <a:cs typeface="Calibri" pitchFamily="34" charset="0"/>
                  </a:rPr>
                  <a:t> </a:t>
                </a:r>
                <a:r>
                  <a:rPr lang="en-US" dirty="0" err="1">
                    <a:latin typeface="Calibri" pitchFamily="34" charset="0"/>
                    <a:cs typeface="Calibri" pitchFamily="34" charset="0"/>
                  </a:rPr>
                  <a:t>để</a:t>
                </a:r>
                <a:r>
                  <a:rPr lang="en-US" dirty="0">
                    <a:latin typeface="Calibri" pitchFamily="34" charset="0"/>
                    <a:cs typeface="Calibri" pitchFamily="34" charset="0"/>
                  </a:rPr>
                  <a:t> </a:t>
                </a:r>
                <a:r>
                  <a:rPr lang="en-US" dirty="0" err="1">
                    <a:latin typeface="Calibri" pitchFamily="34" charset="0"/>
                    <a:cs typeface="Calibri" pitchFamily="34" charset="0"/>
                  </a:rPr>
                  <a:t>chúng</a:t>
                </a:r>
                <a:r>
                  <a:rPr lang="en-US" dirty="0">
                    <a:latin typeface="Calibri" pitchFamily="34" charset="0"/>
                    <a:cs typeface="Calibri" pitchFamily="34" charset="0"/>
                  </a:rPr>
                  <a:t> ta </a:t>
                </a:r>
                <a:r>
                  <a:rPr lang="en-US" dirty="0" err="1">
                    <a:latin typeface="Calibri" pitchFamily="34" charset="0"/>
                    <a:cs typeface="Calibri" pitchFamily="34" charset="0"/>
                  </a:rPr>
                  <a:t>kết</a:t>
                </a:r>
                <a:r>
                  <a:rPr lang="en-US" dirty="0">
                    <a:latin typeface="Calibri" pitchFamily="34" charset="0"/>
                    <a:cs typeface="Calibri" pitchFamily="34" charset="0"/>
                  </a:rPr>
                  <a:t> </a:t>
                </a:r>
                <a:r>
                  <a:rPr lang="en-US" dirty="0" err="1">
                    <a:latin typeface="Calibri" pitchFamily="34" charset="0"/>
                    <a:cs typeface="Calibri" pitchFamily="34" charset="0"/>
                  </a:rPr>
                  <a:t>hợp</a:t>
                </a:r>
                <a:r>
                  <a:rPr lang="en-US" dirty="0">
                    <a:latin typeface="Calibri" pitchFamily="34" charset="0"/>
                    <a:cs typeface="Calibri" pitchFamily="34" charset="0"/>
                  </a:rPr>
                  <a:t> </a:t>
                </a:r>
                <a:r>
                  <a:rPr lang="en-US" dirty="0" err="1">
                    <a:latin typeface="Calibri" pitchFamily="34" charset="0"/>
                    <a:cs typeface="Calibri" pitchFamily="34" charset="0"/>
                  </a:rPr>
                  <a:t>thông</a:t>
                </a:r>
                <a:r>
                  <a:rPr lang="en-US" dirty="0">
                    <a:latin typeface="Calibri" pitchFamily="34" charset="0"/>
                    <a:cs typeface="Calibri" pitchFamily="34" charset="0"/>
                  </a:rPr>
                  <a:t> tin </a:t>
                </a:r>
                <a:r>
                  <a:rPr lang="en-US" dirty="0" err="1">
                    <a:latin typeface="Calibri" pitchFamily="34" charset="0"/>
                    <a:cs typeface="Calibri" pitchFamily="34" charset="0"/>
                  </a:rPr>
                  <a:t>nhị</a:t>
                </a:r>
                <a:r>
                  <a:rPr lang="en-US" dirty="0">
                    <a:latin typeface="Calibri" pitchFamily="34" charset="0"/>
                    <a:cs typeface="Calibri" pitchFamily="34" charset="0"/>
                  </a:rPr>
                  <a:t> </a:t>
                </a:r>
                <a:r>
                  <a:rPr lang="en-US" dirty="0" err="1">
                    <a:latin typeface="Calibri" pitchFamily="34" charset="0"/>
                    <a:cs typeface="Calibri" pitchFamily="34" charset="0"/>
                  </a:rPr>
                  <a:t>phân</a:t>
                </a:r>
                <a:r>
                  <a:rPr lang="en-US" dirty="0">
                    <a:latin typeface="Calibri" pitchFamily="34" charset="0"/>
                    <a:cs typeface="Calibri" pitchFamily="34" charset="0"/>
                  </a:rPr>
                  <a:t> </a:t>
                </a:r>
                <a:r>
                  <a:rPr lang="en-US" dirty="0" err="1">
                    <a:latin typeface="Calibri" pitchFamily="34" charset="0"/>
                    <a:cs typeface="Calibri" pitchFamily="34" charset="0"/>
                  </a:rPr>
                  <a:t>vào</a:t>
                </a:r>
                <a:r>
                  <a:rPr lang="en-US" dirty="0">
                    <a:latin typeface="Calibri" pitchFamily="34" charset="0"/>
                    <a:cs typeface="Calibri" pitchFamily="34" charset="0"/>
                  </a:rPr>
                  <a:t> </a:t>
                </a:r>
                <a:r>
                  <a:rPr lang="en-US" dirty="0" err="1">
                    <a:latin typeface="Calibri" pitchFamily="34" charset="0"/>
                    <a:cs typeface="Calibri" pitchFamily="34" charset="0"/>
                  </a:rPr>
                  <a:t>trong</a:t>
                </a:r>
                <a:r>
                  <a:rPr lang="en-US" dirty="0">
                    <a:latin typeface="Calibri" pitchFamily="34" charset="0"/>
                    <a:cs typeface="Calibri" pitchFamily="34" charset="0"/>
                  </a:rPr>
                  <a:t> </a:t>
                </a:r>
                <a:r>
                  <a:rPr lang="en-US" dirty="0" err="1">
                    <a:latin typeface="Calibri" pitchFamily="34" charset="0"/>
                    <a:cs typeface="Calibri" pitchFamily="34" charset="0"/>
                  </a:rPr>
                  <a:t>mô</a:t>
                </a:r>
                <a:r>
                  <a:rPr lang="en-US" dirty="0">
                    <a:latin typeface="Calibri" pitchFamily="34" charset="0"/>
                    <a:cs typeface="Calibri" pitchFamily="34" charset="0"/>
                  </a:rPr>
                  <a:t> </a:t>
                </a:r>
                <a:r>
                  <a:rPr lang="en-US" dirty="0" err="1">
                    <a:latin typeface="Calibri" pitchFamily="34" charset="0"/>
                    <a:cs typeface="Calibri" pitchFamily="34" charset="0"/>
                  </a:rPr>
                  <a:t>hình</a:t>
                </a:r>
                <a:r>
                  <a:rPr lang="en-US" dirty="0">
                    <a:latin typeface="Calibri" pitchFamily="34" charset="0"/>
                    <a:cs typeface="Calibri" pitchFamily="34" charset="0"/>
                  </a:rPr>
                  <a:t> </a:t>
                </a:r>
                <a:r>
                  <a:rPr lang="en-US" dirty="0" err="1">
                    <a:latin typeface="Calibri" pitchFamily="34" charset="0"/>
                    <a:cs typeface="Calibri" pitchFamily="34" charset="0"/>
                  </a:rPr>
                  <a:t>hồi</a:t>
                </a:r>
                <a:r>
                  <a:rPr lang="en-US" dirty="0">
                    <a:latin typeface="Calibri" pitchFamily="34" charset="0"/>
                    <a:cs typeface="Calibri" pitchFamily="34" charset="0"/>
                  </a:rPr>
                  <a:t> </a:t>
                </a:r>
                <a:r>
                  <a:rPr lang="en-US" dirty="0" smtClean="0">
                    <a:latin typeface="Calibri" pitchFamily="34" charset="0"/>
                    <a:cs typeface="Calibri" pitchFamily="34" charset="0"/>
                  </a:rPr>
                  <a:t>qui?</a:t>
                </a:r>
                <a:endParaRPr lang="en-US" dirty="0">
                  <a:latin typeface="Calibri" pitchFamily="34" charset="0"/>
                  <a:cs typeface="Calibri" pitchFamily="34" charset="0"/>
                </a:endParaRPr>
              </a:p>
              <a:p>
                <a:pPr algn="just"/>
                <a:r>
                  <a:rPr lang="en-US" dirty="0" err="1">
                    <a:latin typeface="Calibri" pitchFamily="34" charset="0"/>
                    <a:cs typeface="Calibri" pitchFamily="34" charset="0"/>
                  </a:rPr>
                  <a:t>Đối</a:t>
                </a:r>
                <a:r>
                  <a:rPr lang="en-US" dirty="0">
                    <a:latin typeface="Calibri" pitchFamily="34" charset="0"/>
                    <a:cs typeface="Calibri" pitchFamily="34" charset="0"/>
                  </a:rPr>
                  <a:t> </a:t>
                </a:r>
                <a:r>
                  <a:rPr lang="en-US" dirty="0" err="1">
                    <a:latin typeface="Calibri" pitchFamily="34" charset="0"/>
                    <a:cs typeface="Calibri" pitchFamily="34" charset="0"/>
                  </a:rPr>
                  <a:t>với</a:t>
                </a:r>
                <a:r>
                  <a:rPr lang="en-US" dirty="0">
                    <a:latin typeface="Calibri" pitchFamily="34" charset="0"/>
                    <a:cs typeface="Calibri" pitchFamily="34" charset="0"/>
                  </a:rPr>
                  <a:t> </a:t>
                </a:r>
                <a:r>
                  <a:rPr lang="en-US" dirty="0" err="1">
                    <a:latin typeface="Calibri" pitchFamily="34" charset="0"/>
                    <a:cs typeface="Calibri" pitchFamily="34" charset="0"/>
                  </a:rPr>
                  <a:t>trường</a:t>
                </a:r>
                <a:r>
                  <a:rPr lang="en-US" dirty="0">
                    <a:latin typeface="Calibri" pitchFamily="34" charset="0"/>
                    <a:cs typeface="Calibri" pitchFamily="34" charset="0"/>
                  </a:rPr>
                  <a:t> </a:t>
                </a:r>
                <a:r>
                  <a:rPr lang="en-US" dirty="0" err="1">
                    <a:latin typeface="Calibri" pitchFamily="34" charset="0"/>
                    <a:cs typeface="Calibri" pitchFamily="34" charset="0"/>
                  </a:rPr>
                  <a:t>hợp</a:t>
                </a:r>
                <a:r>
                  <a:rPr lang="en-US" dirty="0">
                    <a:latin typeface="Calibri" pitchFamily="34" charset="0"/>
                    <a:cs typeface="Calibri" pitchFamily="34" charset="0"/>
                  </a:rPr>
                  <a:t> </a:t>
                </a:r>
                <a:r>
                  <a:rPr lang="en-US" dirty="0" err="1">
                    <a:latin typeface="Calibri" pitchFamily="34" charset="0"/>
                    <a:cs typeface="Calibri" pitchFamily="34" charset="0"/>
                  </a:rPr>
                  <a:t>đơn</a:t>
                </a:r>
                <a:r>
                  <a:rPr lang="en-US" dirty="0">
                    <a:latin typeface="Calibri" pitchFamily="34" charset="0"/>
                    <a:cs typeface="Calibri" pitchFamily="34" charset="0"/>
                  </a:rPr>
                  <a:t> </a:t>
                </a:r>
                <a:r>
                  <a:rPr lang="en-US" dirty="0" err="1">
                    <a:latin typeface="Calibri" pitchFamily="34" charset="0"/>
                    <a:cs typeface="Calibri" pitchFamily="34" charset="0"/>
                  </a:rPr>
                  <a:t>giản</a:t>
                </a:r>
                <a:r>
                  <a:rPr lang="en-US" dirty="0">
                    <a:latin typeface="Calibri" pitchFamily="34" charset="0"/>
                    <a:cs typeface="Calibri" pitchFamily="34" charset="0"/>
                  </a:rPr>
                  <a:t> </a:t>
                </a:r>
                <a:r>
                  <a:rPr lang="en-US" dirty="0" err="1" smtClean="0">
                    <a:latin typeface="Calibri" pitchFamily="34" charset="0"/>
                    <a:cs typeface="Calibri" pitchFamily="34" charset="0"/>
                  </a:rPr>
                  <a:t>nhất</a:t>
                </a:r>
                <a:r>
                  <a:rPr lang="en-US" dirty="0" smtClean="0">
                    <a:latin typeface="Calibri" pitchFamily="34" charset="0"/>
                    <a:cs typeface="Calibri" pitchFamily="34" charset="0"/>
                  </a:rPr>
                  <a:t>, ta </a:t>
                </a:r>
                <a:r>
                  <a:rPr lang="en-US" dirty="0" err="1">
                    <a:latin typeface="Calibri" pitchFamily="34" charset="0"/>
                    <a:cs typeface="Calibri" pitchFamily="34" charset="0"/>
                  </a:rPr>
                  <a:t>sư</a:t>
                </a:r>
                <a:r>
                  <a:rPr lang="en-US" dirty="0">
                    <a:latin typeface="Calibri" pitchFamily="34" charset="0"/>
                    <a:cs typeface="Calibri" pitchFamily="34" charset="0"/>
                  </a:rPr>
                  <a:t>̉ </a:t>
                </a:r>
                <a:r>
                  <a:rPr lang="en-US" dirty="0" err="1">
                    <a:latin typeface="Calibri" pitchFamily="34" charset="0"/>
                    <a:cs typeface="Calibri" pitchFamily="34" charset="0"/>
                  </a:rPr>
                  <a:t>dụng</a:t>
                </a:r>
                <a:r>
                  <a:rPr lang="en-US" dirty="0">
                    <a:latin typeface="Calibri" pitchFamily="34" charset="0"/>
                    <a:cs typeface="Calibri" pitchFamily="34" charset="0"/>
                  </a:rPr>
                  <a:t> </a:t>
                </a:r>
                <a:r>
                  <a:rPr lang="en-US" dirty="0" err="1">
                    <a:latin typeface="Calibri" pitchFamily="34" charset="0"/>
                    <a:cs typeface="Calibri" pitchFamily="34" charset="0"/>
                  </a:rPr>
                  <a:t>biến</a:t>
                </a:r>
                <a:r>
                  <a:rPr lang="en-US" dirty="0">
                    <a:latin typeface="Calibri" pitchFamily="34" charset="0"/>
                    <a:cs typeface="Calibri" pitchFamily="34" charset="0"/>
                  </a:rPr>
                  <a:t> </a:t>
                </a:r>
                <a:r>
                  <a:rPr lang="en-US" dirty="0" err="1">
                    <a:latin typeface="Calibri" pitchFamily="34" charset="0"/>
                    <a:cs typeface="Calibri" pitchFamily="34" charset="0"/>
                  </a:rPr>
                  <a:t>gia</a:t>
                </a:r>
                <a:r>
                  <a:rPr lang="en-US" dirty="0">
                    <a:latin typeface="Calibri" pitchFamily="34" charset="0"/>
                    <a:cs typeface="Calibri" pitchFamily="34" charset="0"/>
                  </a:rPr>
                  <a:t>̉ </a:t>
                </a:r>
                <a:r>
                  <a:rPr lang="en-US" dirty="0" err="1">
                    <a:latin typeface="Calibri" pitchFamily="34" charset="0"/>
                    <a:cs typeface="Calibri" pitchFamily="34" charset="0"/>
                  </a:rPr>
                  <a:t>bằng</a:t>
                </a:r>
                <a:r>
                  <a:rPr lang="en-US" dirty="0">
                    <a:latin typeface="Calibri" pitchFamily="34" charset="0"/>
                    <a:cs typeface="Calibri" pitchFamily="34" charset="0"/>
                  </a:rPr>
                  <a:t> </a:t>
                </a:r>
                <a:r>
                  <a:rPr lang="en-US" dirty="0" err="1">
                    <a:latin typeface="Calibri" pitchFamily="34" charset="0"/>
                    <a:cs typeface="Calibri" pitchFamily="34" charset="0"/>
                  </a:rPr>
                  <a:t>cách</a:t>
                </a:r>
                <a:r>
                  <a:rPr lang="en-US" dirty="0">
                    <a:latin typeface="Calibri" pitchFamily="34" charset="0"/>
                    <a:cs typeface="Calibri" pitchFamily="34" charset="0"/>
                  </a:rPr>
                  <a:t> </a:t>
                </a:r>
                <a:r>
                  <a:rPr lang="en-US" dirty="0" err="1">
                    <a:latin typeface="Calibri" pitchFamily="34" charset="0"/>
                    <a:cs typeface="Calibri" pitchFamily="34" charset="0"/>
                  </a:rPr>
                  <a:t>lượng</a:t>
                </a:r>
                <a:r>
                  <a:rPr lang="en-US" dirty="0">
                    <a:latin typeface="Calibri" pitchFamily="34" charset="0"/>
                    <a:cs typeface="Calibri" pitchFamily="34" charset="0"/>
                  </a:rPr>
                  <a:t> </a:t>
                </a:r>
                <a:r>
                  <a:rPr lang="en-US" dirty="0" err="1">
                    <a:latin typeface="Calibri" pitchFamily="34" charset="0"/>
                    <a:cs typeface="Calibri" pitchFamily="34" charset="0"/>
                  </a:rPr>
                  <a:t>hóa</a:t>
                </a:r>
                <a:r>
                  <a:rPr lang="en-US" dirty="0">
                    <a:latin typeface="Calibri" pitchFamily="34" charset="0"/>
                    <a:cs typeface="Calibri" pitchFamily="34" charset="0"/>
                  </a:rPr>
                  <a:t> </a:t>
                </a:r>
                <a:r>
                  <a:rPr lang="en-US" dirty="0" err="1">
                    <a:latin typeface="Calibri" pitchFamily="34" charset="0"/>
                    <a:cs typeface="Calibri" pitchFamily="34" charset="0"/>
                  </a:rPr>
                  <a:t>các</a:t>
                </a:r>
                <a:r>
                  <a:rPr lang="en-US" dirty="0">
                    <a:latin typeface="Calibri" pitchFamily="34" charset="0"/>
                    <a:cs typeface="Calibri" pitchFamily="34" charset="0"/>
                  </a:rPr>
                  <a:t> </a:t>
                </a:r>
                <a:r>
                  <a:rPr lang="en-US" dirty="0" err="1">
                    <a:latin typeface="Calibri" pitchFamily="34" charset="0"/>
                    <a:cs typeface="Calibri" pitchFamily="34" charset="0"/>
                  </a:rPr>
                  <a:t>tính</a:t>
                </a:r>
                <a:r>
                  <a:rPr lang="en-US" dirty="0">
                    <a:latin typeface="Calibri" pitchFamily="34" charset="0"/>
                    <a:cs typeface="Calibri" pitchFamily="34" charset="0"/>
                  </a:rPr>
                  <a:t> </a:t>
                </a:r>
                <a:r>
                  <a:rPr lang="en-US" dirty="0" err="1">
                    <a:latin typeface="Calibri" pitchFamily="34" charset="0"/>
                    <a:cs typeface="Calibri" pitchFamily="34" charset="0"/>
                  </a:rPr>
                  <a:t>chất</a:t>
                </a:r>
                <a:r>
                  <a:rPr lang="en-US" dirty="0">
                    <a:latin typeface="Calibri" pitchFamily="34" charset="0"/>
                    <a:cs typeface="Calibri" pitchFamily="34" charset="0"/>
                  </a:rPr>
                  <a:t> </a:t>
                </a:r>
                <a:r>
                  <a:rPr lang="en-US" dirty="0" err="1">
                    <a:latin typeface="Calibri" pitchFamily="34" charset="0"/>
                    <a:cs typeface="Calibri" pitchFamily="34" charset="0"/>
                  </a:rPr>
                  <a:t>định</a:t>
                </a:r>
                <a:r>
                  <a:rPr lang="en-US" dirty="0">
                    <a:latin typeface="Calibri" pitchFamily="34" charset="0"/>
                    <a:cs typeface="Calibri" pitchFamily="34" charset="0"/>
                  </a:rPr>
                  <a:t> </a:t>
                </a:r>
                <a:r>
                  <a:rPr lang="en-US" dirty="0" err="1">
                    <a:latin typeface="Calibri" pitchFamily="34" charset="0"/>
                    <a:cs typeface="Calibri" pitchFamily="34" charset="0"/>
                  </a:rPr>
                  <a:t>tính</a:t>
                </a:r>
                <a:r>
                  <a:rPr lang="en-US" dirty="0">
                    <a:latin typeface="Calibri" pitchFamily="34" charset="0"/>
                    <a:cs typeface="Calibri" pitchFamily="34" charset="0"/>
                  </a:rPr>
                  <a:t> </a:t>
                </a:r>
                <a:r>
                  <a:rPr lang="en-US" dirty="0" err="1">
                    <a:latin typeface="Calibri" pitchFamily="34" charset="0"/>
                    <a:cs typeface="Calibri" pitchFamily="34" charset="0"/>
                  </a:rPr>
                  <a:t>quy</a:t>
                </a:r>
                <a:r>
                  <a:rPr lang="en-US" dirty="0">
                    <a:latin typeface="Calibri" pitchFamily="34" charset="0"/>
                    <a:cs typeface="Calibri" pitchFamily="34" charset="0"/>
                  </a:rPr>
                  <a:t> </a:t>
                </a:r>
                <a:r>
                  <a:rPr lang="en-US" dirty="0" err="1">
                    <a:latin typeface="Calibri" pitchFamily="34" charset="0"/>
                    <a:cs typeface="Calibri" pitchFamily="34" charset="0"/>
                  </a:rPr>
                  <a:t>vê</a:t>
                </a:r>
                <a:r>
                  <a:rPr lang="en-US" dirty="0">
                    <a:latin typeface="Calibri" pitchFamily="34" charset="0"/>
                    <a:cs typeface="Calibri" pitchFamily="34" charset="0"/>
                  </a:rPr>
                  <a:t>̀ </a:t>
                </a:r>
                <a:r>
                  <a:rPr lang="en-US" dirty="0" err="1">
                    <a:latin typeface="Calibri" pitchFamily="34" charset="0"/>
                    <a:cs typeface="Calibri" pitchFamily="34" charset="0"/>
                  </a:rPr>
                  <a:t>gia</a:t>
                </a:r>
                <a:r>
                  <a:rPr lang="en-US" dirty="0">
                    <a:latin typeface="Calibri" pitchFamily="34" charset="0"/>
                    <a:cs typeface="Calibri" pitchFamily="34" charset="0"/>
                  </a:rPr>
                  <a:t>́ trị </a:t>
                </a:r>
                <a:r>
                  <a:rPr lang="en-US" dirty="0" err="1">
                    <a:latin typeface="Calibri" pitchFamily="34" charset="0"/>
                    <a:cs typeface="Calibri" pitchFamily="34" charset="0"/>
                  </a:rPr>
                  <a:t>biến</a:t>
                </a:r>
                <a:r>
                  <a:rPr lang="en-US" dirty="0">
                    <a:latin typeface="Calibri" pitchFamily="34" charset="0"/>
                    <a:cs typeface="Calibri" pitchFamily="34" charset="0"/>
                  </a:rPr>
                  <a:t> </a:t>
                </a:r>
                <a:r>
                  <a:rPr lang="en-US" dirty="0" err="1">
                    <a:latin typeface="Calibri" pitchFamily="34" charset="0"/>
                    <a:cs typeface="Calibri" pitchFamily="34" charset="0"/>
                  </a:rPr>
                  <a:t>nhi</a:t>
                </a:r>
                <a:r>
                  <a:rPr lang="en-US" dirty="0">
                    <a:latin typeface="Calibri" pitchFamily="34" charset="0"/>
                    <a:cs typeface="Calibri" pitchFamily="34" charset="0"/>
                  </a:rPr>
                  <a:t>̣ </a:t>
                </a:r>
                <a:r>
                  <a:rPr lang="en-US" dirty="0" err="1" smtClean="0">
                    <a:latin typeface="Calibri" pitchFamily="34" charset="0"/>
                    <a:cs typeface="Calibri" pitchFamily="34" charset="0"/>
                  </a:rPr>
                  <a:t>phân</a:t>
                </a:r>
                <a:r>
                  <a:rPr lang="en-US" dirty="0" smtClean="0">
                    <a:latin typeface="Calibri" pitchFamily="34" charset="0"/>
                    <a:cs typeface="Calibri" pitchFamily="34" charset="0"/>
                  </a:rPr>
                  <a:t>. Ở </a:t>
                </a:r>
                <a:r>
                  <a:rPr lang="en-US" dirty="0" err="1">
                    <a:latin typeface="Calibri" pitchFamily="34" charset="0"/>
                    <a:cs typeface="Calibri" pitchFamily="34" charset="0"/>
                  </a:rPr>
                  <a:t>đây</a:t>
                </a:r>
                <a:r>
                  <a:rPr lang="en-US" dirty="0">
                    <a:latin typeface="Calibri" pitchFamily="34" charset="0"/>
                    <a:cs typeface="Calibri" pitchFamily="34" charset="0"/>
                  </a:rPr>
                  <a:t> ta </a:t>
                </a:r>
                <a:r>
                  <a:rPr lang="en-US" dirty="0" err="1">
                    <a:latin typeface="Calibri" pitchFamily="34" charset="0"/>
                    <a:cs typeface="Calibri" pitchFamily="34" charset="0"/>
                  </a:rPr>
                  <a:t>sư</a:t>
                </a:r>
                <a:r>
                  <a:rPr lang="en-US" dirty="0">
                    <a:latin typeface="Calibri" pitchFamily="34" charset="0"/>
                    <a:cs typeface="Calibri" pitchFamily="34" charset="0"/>
                  </a:rPr>
                  <a:t>̉ </a:t>
                </a:r>
                <a:r>
                  <a:rPr lang="en-US" dirty="0" err="1">
                    <a:latin typeface="Calibri" pitchFamily="34" charset="0"/>
                    <a:cs typeface="Calibri" pitchFamily="34" charset="0"/>
                  </a:rPr>
                  <a:t>dụng</a:t>
                </a:r>
                <a:r>
                  <a:rPr lang="en-US" dirty="0">
                    <a:latin typeface="Calibri" pitchFamily="34" charset="0"/>
                    <a:cs typeface="Calibri" pitchFamily="34" charset="0"/>
                  </a:rPr>
                  <a:t> </a:t>
                </a:r>
                <a:r>
                  <a:rPr lang="en-US" dirty="0" err="1">
                    <a:latin typeface="Calibri" pitchFamily="34" charset="0"/>
                    <a:cs typeface="Calibri" pitchFamily="34" charset="0"/>
                  </a:rPr>
                  <a:t>mô</a:t>
                </a:r>
                <a:r>
                  <a:rPr lang="en-US" dirty="0">
                    <a:latin typeface="Calibri" pitchFamily="34" charset="0"/>
                    <a:cs typeface="Calibri" pitchFamily="34" charset="0"/>
                  </a:rPr>
                  <a:t> </a:t>
                </a:r>
                <a:r>
                  <a:rPr lang="en-US" dirty="0" err="1">
                    <a:latin typeface="Calibri" pitchFamily="34" charset="0"/>
                    <a:cs typeface="Calibri" pitchFamily="34" charset="0"/>
                  </a:rPr>
                  <a:t>hình</a:t>
                </a:r>
                <a:r>
                  <a:rPr lang="en-US" dirty="0">
                    <a:latin typeface="Calibri" pitchFamily="34" charset="0"/>
                    <a:cs typeface="Calibri" pitchFamily="34" charset="0"/>
                  </a:rPr>
                  <a:t> </a:t>
                </a:r>
                <a:r>
                  <a:rPr lang="en-US" dirty="0" err="1">
                    <a:latin typeface="Calibri" pitchFamily="34" charset="0"/>
                    <a:cs typeface="Calibri" pitchFamily="34" charset="0"/>
                  </a:rPr>
                  <a:t>tiền</a:t>
                </a:r>
                <a:r>
                  <a:rPr lang="en-US" dirty="0">
                    <a:latin typeface="Calibri" pitchFamily="34" charset="0"/>
                    <a:cs typeface="Calibri" pitchFamily="34" charset="0"/>
                  </a:rPr>
                  <a:t> </a:t>
                </a:r>
                <a:r>
                  <a:rPr lang="en-US" dirty="0" err="1">
                    <a:latin typeface="Calibri" pitchFamily="34" charset="0"/>
                    <a:cs typeface="Calibri" pitchFamily="34" charset="0"/>
                  </a:rPr>
                  <a:t>lương</a:t>
                </a:r>
                <a:r>
                  <a:rPr lang="en-US" dirty="0">
                    <a:latin typeface="Calibri" pitchFamily="34" charset="0"/>
                    <a:cs typeface="Calibri" pitchFamily="34" charset="0"/>
                  </a:rPr>
                  <a:t> là:</a:t>
                </a:r>
              </a:p>
              <a:p>
                <a:pPr marL="109728" indent="0" algn="just">
                  <a:buNone/>
                </a:pPr>
                <a:r>
                  <a:rPr lang="en-US" dirty="0">
                    <a:latin typeface="Calibri" pitchFamily="34" charset="0"/>
                    <a:cs typeface="Calibri" pitchFamily="34" charset="0"/>
                  </a:rPr>
                  <a:t> </a:t>
                </a:r>
                <a:r>
                  <a:rPr lang="en-US" dirty="0"/>
                  <a:t> </a:t>
                </a:r>
                <a:endParaRPr lang="en-US" dirty="0" smtClean="0"/>
              </a:p>
              <a:p>
                <a:pPr algn="just"/>
                <a:endParaRPr lang="en-US" dirty="0"/>
              </a:p>
              <a:p>
                <a:pPr algn="just"/>
                <a:r>
                  <a:rPr lang="en-US" dirty="0" smtClean="0">
                    <a:latin typeface="Calibri" pitchFamily="34" charset="0"/>
                    <a:cs typeface="Calibri" pitchFamily="34" charset="0"/>
                  </a:rPr>
                  <a:t>Ở </a:t>
                </a:r>
                <a:r>
                  <a:rPr lang="en-US" dirty="0" err="1">
                    <a:latin typeface="Calibri" pitchFamily="34" charset="0"/>
                    <a:cs typeface="Calibri" pitchFamily="34" charset="0"/>
                  </a:rPr>
                  <a:t>đây</a:t>
                </a:r>
                <a:r>
                  <a:rPr lang="en-US" dirty="0" smtClean="0">
                    <a:latin typeface="Calibri" pitchFamily="34" charset="0"/>
                    <a:cs typeface="Calibri" pitchFamily="34" charset="0"/>
                  </a:rPr>
                  <a:t>, </a:t>
                </a:r>
                <a14:m>
                  <m:oMath xmlns:m="http://schemas.openxmlformats.org/officeDocument/2006/math">
                    <m:sSub>
                      <m:sSubPr>
                        <m:ctrlPr>
                          <a:rPr lang="en-US" b="0" i="1" smtClean="0">
                            <a:latin typeface="Cambria Math"/>
                            <a:ea typeface="Cambria Math"/>
                            <a:cs typeface="Calibri" pitchFamily="34" charset="0"/>
                          </a:rPr>
                        </m:ctrlPr>
                      </m:sSubPr>
                      <m:e>
                        <m:r>
                          <a:rPr lang="en-US" i="1" smtClean="0">
                            <a:latin typeface="Cambria Math"/>
                            <a:ea typeface="Cambria Math"/>
                            <a:cs typeface="Calibri" pitchFamily="34" charset="0"/>
                          </a:rPr>
                          <m:t>𝛿</m:t>
                        </m:r>
                      </m:e>
                      <m:sub>
                        <m:r>
                          <a:rPr lang="en-US" b="0" i="1" smtClean="0">
                            <a:latin typeface="Cambria Math"/>
                            <a:ea typeface="Cambria Math"/>
                            <a:cs typeface="Calibri" pitchFamily="34" charset="0"/>
                          </a:rPr>
                          <m:t>0</m:t>
                        </m:r>
                      </m:sub>
                    </m:sSub>
                  </m:oMath>
                </a14:m>
                <a:r>
                  <a:rPr lang="en-US" dirty="0" smtClean="0">
                    <a:latin typeface="Calibri" pitchFamily="34" charset="0"/>
                    <a:cs typeface="Calibri" pitchFamily="34" charset="0"/>
                  </a:rPr>
                  <a:t> </a:t>
                </a:r>
                <a:r>
                  <a:rPr lang="en-US" dirty="0" err="1">
                    <a:latin typeface="Calibri" pitchFamily="34" charset="0"/>
                    <a:cs typeface="Calibri" pitchFamily="34" charset="0"/>
                  </a:rPr>
                  <a:t>đóng</a:t>
                </a:r>
                <a:r>
                  <a:rPr lang="en-US" dirty="0">
                    <a:latin typeface="Calibri" pitchFamily="34" charset="0"/>
                    <a:cs typeface="Calibri" pitchFamily="34" charset="0"/>
                  </a:rPr>
                  <a:t> </a:t>
                </a:r>
                <a:r>
                  <a:rPr lang="en-US" dirty="0" err="1">
                    <a:latin typeface="Calibri" pitchFamily="34" charset="0"/>
                    <a:cs typeface="Calibri" pitchFamily="34" charset="0"/>
                  </a:rPr>
                  <a:t>vai</a:t>
                </a:r>
                <a:r>
                  <a:rPr lang="en-US" dirty="0">
                    <a:latin typeface="Calibri" pitchFamily="34" charset="0"/>
                    <a:cs typeface="Calibri" pitchFamily="34" charset="0"/>
                  </a:rPr>
                  <a:t> </a:t>
                </a:r>
                <a:r>
                  <a:rPr lang="en-US" dirty="0" err="1">
                    <a:latin typeface="Calibri" pitchFamily="34" charset="0"/>
                    <a:cs typeface="Calibri" pitchFamily="34" charset="0"/>
                  </a:rPr>
                  <a:t>tro</a:t>
                </a:r>
                <a:r>
                  <a:rPr lang="en-US" dirty="0">
                    <a:latin typeface="Calibri" pitchFamily="34" charset="0"/>
                    <a:cs typeface="Calibri" pitchFamily="34" charset="0"/>
                  </a:rPr>
                  <a:t>̀ </a:t>
                </a:r>
                <a:r>
                  <a:rPr lang="en-US" dirty="0" err="1">
                    <a:latin typeface="Calibri" pitchFamily="34" charset="0"/>
                    <a:cs typeface="Calibri" pitchFamily="34" charset="0"/>
                  </a:rPr>
                  <a:t>như</a:t>
                </a:r>
                <a:r>
                  <a:rPr lang="en-US" dirty="0">
                    <a:latin typeface="Calibri" pitchFamily="34" charset="0"/>
                    <a:cs typeface="Calibri" pitchFamily="34" charset="0"/>
                  </a:rPr>
                  <a:t> </a:t>
                </a:r>
                <a:r>
                  <a:rPr lang="en-US" dirty="0" err="1">
                    <a:latin typeface="Calibri" pitchFamily="34" charset="0"/>
                    <a:cs typeface="Calibri" pitchFamily="34" charset="0"/>
                  </a:rPr>
                  <a:t>tham</a:t>
                </a:r>
                <a:r>
                  <a:rPr lang="en-US" dirty="0">
                    <a:latin typeface="Calibri" pitchFamily="34" charset="0"/>
                    <a:cs typeface="Calibri" pitchFamily="34" charset="0"/>
                  </a:rPr>
                  <a:t> </a:t>
                </a:r>
                <a:r>
                  <a:rPr lang="en-US" dirty="0" err="1" smtClean="0">
                    <a:latin typeface="Calibri" pitchFamily="34" charset="0"/>
                    <a:cs typeface="Calibri" pitchFamily="34" charset="0"/>
                  </a:rPr>
                  <a:t>số</a:t>
                </a:r>
                <a:r>
                  <a:rPr lang="en-US" dirty="0" smtClean="0">
                    <a:latin typeface="Calibri" pitchFamily="34" charset="0"/>
                    <a:cs typeface="Calibri" pitchFamily="34" charset="0"/>
                  </a:rPr>
                  <a:t> </a:t>
                </a:r>
                <a:r>
                  <a:rPr lang="en-US" dirty="0" err="1">
                    <a:latin typeface="Calibri" pitchFamily="34" charset="0"/>
                    <a:cs typeface="Calibri" pitchFamily="34" charset="0"/>
                  </a:rPr>
                  <a:t>trên</a:t>
                </a:r>
                <a:r>
                  <a:rPr lang="en-US" dirty="0">
                    <a:latin typeface="Calibri" pitchFamily="34" charset="0"/>
                    <a:cs typeface="Calibri" pitchFamily="34" charset="0"/>
                  </a:rPr>
                  <a:t> </a:t>
                </a:r>
                <a:r>
                  <a:rPr lang="en-US" dirty="0" err="1">
                    <a:latin typeface="Calibri" pitchFamily="34" charset="0"/>
                    <a:cs typeface="Calibri" pitchFamily="34" charset="0"/>
                  </a:rPr>
                  <a:t>biến</a:t>
                </a:r>
                <a:r>
                  <a:rPr lang="en-US" dirty="0">
                    <a:latin typeface="Calibri" pitchFamily="34" charset="0"/>
                    <a:cs typeface="Calibri" pitchFamily="34" charset="0"/>
                  </a:rPr>
                  <a:t> </a:t>
                </a:r>
                <a:r>
                  <a:rPr lang="en-US" dirty="0" smtClean="0">
                    <a:latin typeface="Calibri" pitchFamily="34" charset="0"/>
                    <a:cs typeface="Calibri" pitchFamily="34" charset="0"/>
                  </a:rPr>
                  <a:t>female, </a:t>
                </a:r>
                <a:r>
                  <a:rPr lang="en-US" dirty="0" err="1" smtClean="0">
                    <a:latin typeface="Calibri" pitchFamily="34" charset="0"/>
                    <a:cs typeface="Calibri" pitchFamily="34" charset="0"/>
                  </a:rPr>
                  <a:t>để</a:t>
                </a:r>
                <a:r>
                  <a:rPr lang="en-US" dirty="0" smtClean="0">
                    <a:latin typeface="Calibri" pitchFamily="34" charset="0"/>
                    <a:cs typeface="Calibri" pitchFamily="34" charset="0"/>
                  </a:rPr>
                  <a:t> </a:t>
                </a:r>
                <a:r>
                  <a:rPr lang="en-US" dirty="0" err="1" smtClean="0">
                    <a:latin typeface="Calibri" pitchFamily="34" charset="0"/>
                    <a:cs typeface="Calibri" pitchFamily="34" charset="0"/>
                  </a:rPr>
                  <a:t>làm</a:t>
                </a:r>
                <a:r>
                  <a:rPr lang="en-US" dirty="0" smtClean="0">
                    <a:latin typeface="Calibri" pitchFamily="34" charset="0"/>
                    <a:cs typeface="Calibri" pitchFamily="34" charset="0"/>
                  </a:rPr>
                  <a:t> </a:t>
                </a:r>
                <a:r>
                  <a:rPr lang="en-US" dirty="0" err="1">
                    <a:latin typeface="Calibri" pitchFamily="34" charset="0"/>
                    <a:cs typeface="Calibri" pitchFamily="34" charset="0"/>
                  </a:rPr>
                  <a:t>nổi</a:t>
                </a:r>
                <a:r>
                  <a:rPr lang="en-US" dirty="0">
                    <a:latin typeface="Calibri" pitchFamily="34" charset="0"/>
                    <a:cs typeface="Calibri" pitchFamily="34" charset="0"/>
                  </a:rPr>
                  <a:t> </a:t>
                </a:r>
                <a:r>
                  <a:rPr lang="en-US" dirty="0" err="1">
                    <a:latin typeface="Calibri" pitchFamily="34" charset="0"/>
                    <a:cs typeface="Calibri" pitchFamily="34" charset="0"/>
                  </a:rPr>
                  <a:t>bật</a:t>
                </a:r>
                <a:r>
                  <a:rPr lang="en-US" dirty="0">
                    <a:latin typeface="Calibri" pitchFamily="34" charset="0"/>
                    <a:cs typeface="Calibri" pitchFamily="34" charset="0"/>
                  </a:rPr>
                  <a:t> </a:t>
                </a:r>
                <a:r>
                  <a:rPr lang="en-US" dirty="0" err="1">
                    <a:latin typeface="Calibri" pitchFamily="34" charset="0"/>
                    <a:cs typeface="Calibri" pitchFamily="34" charset="0"/>
                  </a:rPr>
                  <a:t>biến</a:t>
                </a:r>
                <a:r>
                  <a:rPr lang="en-US" dirty="0">
                    <a:latin typeface="Calibri" pitchFamily="34" charset="0"/>
                    <a:cs typeface="Calibri" pitchFamily="34" charset="0"/>
                  </a:rPr>
                  <a:t> </a:t>
                </a:r>
                <a:r>
                  <a:rPr lang="en-US" dirty="0" err="1">
                    <a:latin typeface="Calibri" pitchFamily="34" charset="0"/>
                    <a:cs typeface="Calibri" pitchFamily="34" charset="0"/>
                  </a:rPr>
                  <a:t>gia</a:t>
                </a:r>
                <a:r>
                  <a:rPr lang="en-US" dirty="0">
                    <a:latin typeface="Calibri" pitchFamily="34" charset="0"/>
                    <a:cs typeface="Calibri" pitchFamily="34" charset="0"/>
                  </a:rPr>
                  <a:t>̉ (female</a:t>
                </a:r>
                <a:r>
                  <a:rPr lang="en-US" dirty="0" smtClean="0">
                    <a:latin typeface="Calibri" pitchFamily="34" charset="0"/>
                    <a:cs typeface="Calibri" pitchFamily="34" charset="0"/>
                  </a:rPr>
                  <a:t>) </a:t>
                </a:r>
              </a:p>
              <a:p>
                <a:pPr marL="109728" indent="0" algn="just">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a:rPr>
                          </m:ctrlPr>
                        </m:dPr>
                        <m:e>
                          <m:eqArr>
                            <m:eqArrPr>
                              <m:ctrlPr>
                                <a:rPr lang="en-US" i="1">
                                  <a:latin typeface="Cambria Math"/>
                                </a:rPr>
                              </m:ctrlPr>
                            </m:eqArrPr>
                            <m:e>
                              <m:r>
                                <a:rPr lang="en-US" i="1">
                                  <a:latin typeface="Cambria Math"/>
                                </a:rPr>
                                <m:t>𝑓𝑒𝑚𝑎𝑙𝑒</m:t>
                              </m:r>
                              <m:r>
                                <a:rPr lang="en-US" i="1">
                                  <a:latin typeface="Cambria Math"/>
                                </a:rPr>
                                <m:t>=</m:t>
                              </m:r>
                              <m:r>
                                <a:rPr lang="en-US" i="1">
                                  <a:latin typeface="Cambria Math"/>
                                </a:rPr>
                                <m:t>1</m:t>
                              </m:r>
                              <m:r>
                                <a:rPr lang="en-US" i="1">
                                  <a:latin typeface="Cambria Math"/>
                                </a:rPr>
                                <m:t>   </m:t>
                              </m:r>
                              <m:r>
                                <a:rPr lang="en-US" i="1">
                                  <a:latin typeface="Cambria Math"/>
                                </a:rPr>
                                <m:t>𝑘</m:t>
                              </m:r>
                              <m:r>
                                <a:rPr lang="en-US" i="1">
                                  <a:latin typeface="Cambria Math"/>
                                </a:rPr>
                                <m:t>h</m:t>
                              </m:r>
                              <m:r>
                                <a:rPr lang="en-US" i="1">
                                  <a:latin typeface="Cambria Math"/>
                                </a:rPr>
                                <m:t>𝑖</m:t>
                              </m:r>
                              <m:r>
                                <a:rPr lang="en-US" i="1">
                                  <a:latin typeface="Cambria Math"/>
                                </a:rPr>
                                <m:t> </m:t>
                              </m:r>
                              <m:r>
                                <a:rPr lang="en-US" i="1">
                                  <a:latin typeface="Cambria Math"/>
                                </a:rPr>
                                <m:t>𝑛𝑔</m:t>
                              </m:r>
                              <m:r>
                                <a:rPr lang="en-US" i="1">
                                  <a:latin typeface="Cambria Math"/>
                                </a:rPr>
                                <m:t>ư</m:t>
                              </m:r>
                              <m:acc>
                                <m:accPr>
                                  <m:chr m:val="̀"/>
                                  <m:ctrlPr>
                                    <a:rPr lang="en-US" i="1">
                                      <a:latin typeface="Cambria Math"/>
                                    </a:rPr>
                                  </m:ctrlPr>
                                </m:accPr>
                                <m:e>
                                  <m:r>
                                    <a:rPr lang="en-US" i="1">
                                      <a:latin typeface="Cambria Math"/>
                                    </a:rPr>
                                    <m:t>ơ</m:t>
                                  </m:r>
                                </m:e>
                              </m:acc>
                              <m:r>
                                <a:rPr lang="en-US" i="1">
                                  <a:latin typeface="Cambria Math"/>
                                </a:rPr>
                                <m:t>𝑖</m:t>
                              </m:r>
                              <m:r>
                                <a:rPr lang="en-US" i="1">
                                  <a:latin typeface="Cambria Math"/>
                                </a:rPr>
                                <m:t> đ</m:t>
                              </m:r>
                              <m:acc>
                                <m:accPr>
                                  <m:chr m:val="́"/>
                                  <m:ctrlPr>
                                    <a:rPr lang="en-US" i="1">
                                      <a:latin typeface="Cambria Math"/>
                                    </a:rPr>
                                  </m:ctrlPr>
                                </m:accPr>
                                <m:e>
                                  <m:r>
                                    <a:rPr lang="en-US" i="1">
                                      <a:latin typeface="Cambria Math"/>
                                    </a:rPr>
                                    <m:t>𝑜</m:t>
                                  </m:r>
                                </m:e>
                              </m:acc>
                              <m:r>
                                <a:rPr lang="en-US" b="0" i="1" smtClean="0">
                                  <a:latin typeface="Cambria Math"/>
                                </a:rPr>
                                <m:t> </m:t>
                              </m:r>
                              <m:r>
                                <a:rPr lang="en-US" i="1">
                                  <a:latin typeface="Cambria Math"/>
                                </a:rPr>
                                <m:t>𝑙</m:t>
                              </m:r>
                              <m:acc>
                                <m:accPr>
                                  <m:chr m:val="̀"/>
                                  <m:ctrlPr>
                                    <a:rPr lang="en-US" i="1">
                                      <a:latin typeface="Cambria Math"/>
                                    </a:rPr>
                                  </m:ctrlPr>
                                </m:accPr>
                                <m:e>
                                  <m:r>
                                    <a:rPr lang="en-US" i="1">
                                      <a:latin typeface="Cambria Math"/>
                                    </a:rPr>
                                    <m:t>𝑎</m:t>
                                  </m:r>
                                  <m:r>
                                    <a:rPr lang="en-US" b="0" i="1" smtClean="0">
                                      <a:latin typeface="Cambria Math"/>
                                    </a:rPr>
                                    <m:t> </m:t>
                                  </m:r>
                                </m:e>
                              </m:acc>
                              <m:r>
                                <a:rPr lang="en-US" i="1">
                                  <a:latin typeface="Cambria Math"/>
                                </a:rPr>
                                <m:t>𝑛</m:t>
                              </m:r>
                              <m:r>
                                <a:rPr lang="en-US" i="1">
                                  <a:latin typeface="Cambria Math"/>
                                </a:rPr>
                                <m:t>ữ</m:t>
                              </m:r>
                            </m:e>
                            <m:e>
                              <m:r>
                                <a:rPr lang="en-US" i="1">
                                  <a:latin typeface="Cambria Math"/>
                                </a:rPr>
                                <m:t>𝑓𝑒𝑚𝑎𝑙𝑒</m:t>
                              </m:r>
                              <m:r>
                                <a:rPr lang="en-US" i="1">
                                  <a:latin typeface="Cambria Math"/>
                                </a:rPr>
                                <m:t>=</m:t>
                              </m:r>
                              <m:r>
                                <a:rPr lang="en-US" i="1">
                                  <a:latin typeface="Cambria Math"/>
                                </a:rPr>
                                <m:t>0</m:t>
                              </m:r>
                              <m:r>
                                <a:rPr lang="en-US" i="1">
                                  <a:latin typeface="Cambria Math"/>
                                </a:rPr>
                                <m:t>     </m:t>
                              </m:r>
                              <m:r>
                                <a:rPr lang="en-US" i="1">
                                  <a:latin typeface="Cambria Math"/>
                                </a:rPr>
                                <m:t>𝑘</m:t>
                              </m:r>
                              <m:r>
                                <a:rPr lang="en-US" i="1">
                                  <a:latin typeface="Cambria Math"/>
                                </a:rPr>
                                <m:t>h</m:t>
                              </m:r>
                              <m:r>
                                <a:rPr lang="en-US" i="1">
                                  <a:latin typeface="Cambria Math"/>
                                </a:rPr>
                                <m:t>𝑖</m:t>
                              </m:r>
                              <m:r>
                                <a:rPr lang="en-US" i="1">
                                  <a:latin typeface="Cambria Math"/>
                                </a:rPr>
                                <m:t> </m:t>
                              </m:r>
                              <m:r>
                                <a:rPr lang="en-US" i="1">
                                  <a:latin typeface="Cambria Math"/>
                                </a:rPr>
                                <m:t>𝑛𝑔</m:t>
                              </m:r>
                              <m:r>
                                <a:rPr lang="en-US" i="1">
                                  <a:latin typeface="Cambria Math"/>
                                </a:rPr>
                                <m:t>ư</m:t>
                              </m:r>
                              <m:acc>
                                <m:accPr>
                                  <m:chr m:val="̀"/>
                                  <m:ctrlPr>
                                    <a:rPr lang="en-US" i="1">
                                      <a:latin typeface="Cambria Math"/>
                                    </a:rPr>
                                  </m:ctrlPr>
                                </m:accPr>
                                <m:e>
                                  <m:r>
                                    <a:rPr lang="en-US" i="1">
                                      <a:latin typeface="Cambria Math"/>
                                    </a:rPr>
                                    <m:t>ơ</m:t>
                                  </m:r>
                                </m:e>
                              </m:acc>
                              <m:r>
                                <a:rPr lang="en-US" i="1">
                                  <a:latin typeface="Cambria Math"/>
                                </a:rPr>
                                <m:t>𝑖</m:t>
                              </m:r>
                              <m:r>
                                <a:rPr lang="en-US" i="1">
                                  <a:latin typeface="Cambria Math"/>
                                </a:rPr>
                                <m:t> đ</m:t>
                              </m:r>
                              <m:acc>
                                <m:accPr>
                                  <m:chr m:val="́"/>
                                  <m:ctrlPr>
                                    <a:rPr lang="en-US" i="1">
                                      <a:latin typeface="Cambria Math"/>
                                    </a:rPr>
                                  </m:ctrlPr>
                                </m:accPr>
                                <m:e>
                                  <m:r>
                                    <a:rPr lang="en-US" i="1">
                                      <a:latin typeface="Cambria Math"/>
                                    </a:rPr>
                                    <m:t>𝑜</m:t>
                                  </m:r>
                                  <m:r>
                                    <a:rPr lang="en-US" b="0" i="1" smtClean="0">
                                      <a:latin typeface="Cambria Math"/>
                                    </a:rPr>
                                    <m:t> </m:t>
                                  </m:r>
                                </m:e>
                              </m:acc>
                              <m:r>
                                <a:rPr lang="en-US" i="1">
                                  <a:latin typeface="Cambria Math"/>
                                </a:rPr>
                                <m:t>𝑙</m:t>
                              </m:r>
                              <m:acc>
                                <m:accPr>
                                  <m:chr m:val="̀"/>
                                  <m:ctrlPr>
                                    <a:rPr lang="en-US" i="1">
                                      <a:latin typeface="Cambria Math"/>
                                    </a:rPr>
                                  </m:ctrlPr>
                                </m:accPr>
                                <m:e>
                                  <m:r>
                                    <a:rPr lang="en-US" i="1">
                                      <a:latin typeface="Cambria Math"/>
                                    </a:rPr>
                                    <m:t>𝑎</m:t>
                                  </m:r>
                                  <m:r>
                                    <a:rPr lang="en-US" b="0" i="1" smtClean="0">
                                      <a:latin typeface="Cambria Math"/>
                                    </a:rPr>
                                    <m:t> </m:t>
                                  </m:r>
                                </m:e>
                              </m:acc>
                              <m:r>
                                <a:rPr lang="en-US" i="1">
                                  <a:latin typeface="Cambria Math"/>
                                </a:rPr>
                                <m:t>𝑛𝑎𝑚</m:t>
                              </m:r>
                            </m:e>
                          </m:eqArr>
                        </m:e>
                      </m:d>
                    </m:oMath>
                  </m:oMathPara>
                </a14:m>
                <a:endParaRPr lang="en-US" dirty="0">
                  <a:latin typeface="Calibri" pitchFamily="34" charset="0"/>
                  <a:cs typeface="Calibri" pitchFamily="34" charset="0"/>
                </a:endParaRPr>
              </a:p>
              <a:p>
                <a:pPr algn="just"/>
                <a:r>
                  <a:rPr lang="en-US" dirty="0" err="1" smtClean="0">
                    <a:latin typeface="Calibri" pitchFamily="34" charset="0"/>
                    <a:cs typeface="Calibri" pitchFamily="34" charset="0"/>
                  </a:rPr>
                  <a:t>Về</a:t>
                </a:r>
                <a:r>
                  <a:rPr lang="en-US" dirty="0" smtClean="0">
                    <a:latin typeface="Calibri" pitchFamily="34" charset="0"/>
                    <a:cs typeface="Calibri" pitchFamily="34" charset="0"/>
                  </a:rPr>
                  <a:t> </a:t>
                </a:r>
                <a:r>
                  <a:rPr lang="en-US" dirty="0">
                    <a:latin typeface="Calibri" pitchFamily="34" charset="0"/>
                    <a:cs typeface="Calibri" pitchFamily="34" charset="0"/>
                  </a:rPr>
                  <a:t>ý </a:t>
                </a:r>
                <a:r>
                  <a:rPr lang="en-US" dirty="0" err="1">
                    <a:latin typeface="Calibri" pitchFamily="34" charset="0"/>
                    <a:cs typeface="Calibri" pitchFamily="34" charset="0"/>
                  </a:rPr>
                  <a:t>nghĩa</a:t>
                </a:r>
                <a:r>
                  <a:rPr lang="en-US" dirty="0">
                    <a:latin typeface="Calibri" pitchFamily="34" charset="0"/>
                    <a:cs typeface="Calibri" pitchFamily="34" charset="0"/>
                  </a:rPr>
                  <a:t> </a:t>
                </a:r>
                <a:r>
                  <a:rPr lang="en-US" dirty="0" err="1">
                    <a:latin typeface="Calibri" pitchFamily="34" charset="0"/>
                    <a:cs typeface="Calibri" pitchFamily="34" charset="0"/>
                  </a:rPr>
                  <a:t>kinh</a:t>
                </a:r>
                <a:r>
                  <a:rPr lang="en-US" dirty="0">
                    <a:latin typeface="Calibri" pitchFamily="34" charset="0"/>
                    <a:cs typeface="Calibri" pitchFamily="34" charset="0"/>
                  </a:rPr>
                  <a:t> </a:t>
                </a:r>
                <a:r>
                  <a:rPr lang="en-US" dirty="0" err="1" smtClean="0">
                    <a:latin typeface="Calibri" pitchFamily="34" charset="0"/>
                    <a:cs typeface="Calibri" pitchFamily="34" charset="0"/>
                  </a:rPr>
                  <a:t>tế</a:t>
                </a:r>
                <a:r>
                  <a:rPr lang="en-US" dirty="0" smtClean="0">
                    <a:latin typeface="Calibri" pitchFamily="34" charset="0"/>
                    <a:cs typeface="Calibri" pitchFamily="34" charset="0"/>
                  </a:rPr>
                  <a:t> </a:t>
                </a:r>
                <a:r>
                  <a:rPr lang="en-US" dirty="0" err="1">
                    <a:latin typeface="Calibri" pitchFamily="34" charset="0"/>
                    <a:cs typeface="Calibri" pitchFamily="34" charset="0"/>
                  </a:rPr>
                  <a:t>của</a:t>
                </a:r>
                <a:r>
                  <a:rPr lang="en-US" dirty="0">
                    <a:latin typeface="Calibri" pitchFamily="34" charset="0"/>
                    <a:cs typeface="Calibri" pitchFamily="34" charset="0"/>
                  </a:rPr>
                  <a:t> </a:t>
                </a:r>
                <a14:m>
                  <m:oMath xmlns:m="http://schemas.openxmlformats.org/officeDocument/2006/math">
                    <m:sSub>
                      <m:sSubPr>
                        <m:ctrlPr>
                          <a:rPr lang="en-US" i="1">
                            <a:latin typeface="Cambria Math"/>
                            <a:ea typeface="Cambria Math"/>
                            <a:cs typeface="Calibri" pitchFamily="34" charset="0"/>
                          </a:rPr>
                        </m:ctrlPr>
                      </m:sSubPr>
                      <m:e>
                        <m:r>
                          <a:rPr lang="en-US" i="1">
                            <a:latin typeface="Cambria Math"/>
                            <a:ea typeface="Cambria Math"/>
                            <a:cs typeface="Calibri" pitchFamily="34" charset="0"/>
                          </a:rPr>
                          <m:t>𝛿</m:t>
                        </m:r>
                      </m:e>
                      <m:sub>
                        <m:r>
                          <a:rPr lang="en-US" i="1">
                            <a:latin typeface="Cambria Math"/>
                            <a:ea typeface="Cambria Math"/>
                            <a:cs typeface="Calibri" pitchFamily="34" charset="0"/>
                          </a:rPr>
                          <m:t>0</m:t>
                        </m:r>
                      </m:sub>
                    </m:sSub>
                  </m:oMath>
                </a14:m>
                <a:r>
                  <a:rPr lang="en-US" dirty="0">
                    <a:latin typeface="Calibri" pitchFamily="34" charset="0"/>
                    <a:cs typeface="Calibri" pitchFamily="34" charset="0"/>
                  </a:rPr>
                  <a:t>, ở </a:t>
                </a:r>
                <a:r>
                  <a:rPr lang="en-US" dirty="0" err="1">
                    <a:latin typeface="Calibri" pitchFamily="34" charset="0"/>
                    <a:cs typeface="Calibri" pitchFamily="34" charset="0"/>
                  </a:rPr>
                  <a:t>đây</a:t>
                </a:r>
                <a:r>
                  <a:rPr lang="en-US" dirty="0">
                    <a:latin typeface="Calibri" pitchFamily="34" charset="0"/>
                    <a:cs typeface="Calibri" pitchFamily="34" charset="0"/>
                  </a:rPr>
                  <a:t> </a:t>
                </a:r>
                <a:r>
                  <a:rPr lang="en-US" dirty="0" err="1">
                    <a:latin typeface="Calibri" pitchFamily="34" charset="0"/>
                    <a:cs typeface="Calibri" pitchFamily="34" charset="0"/>
                  </a:rPr>
                  <a:t>sư</a:t>
                </a:r>
                <a:r>
                  <a:rPr lang="en-US" dirty="0">
                    <a:latin typeface="Calibri" pitchFamily="34" charset="0"/>
                    <a:cs typeface="Calibri" pitchFamily="34" charset="0"/>
                  </a:rPr>
                  <a:t>̣ </a:t>
                </a:r>
                <a:r>
                  <a:rPr lang="en-US" dirty="0" err="1">
                    <a:latin typeface="Calibri" pitchFamily="34" charset="0"/>
                    <a:cs typeface="Calibri" pitchFamily="34" charset="0"/>
                  </a:rPr>
                  <a:t>chênh</a:t>
                </a:r>
                <a:r>
                  <a:rPr lang="en-US" dirty="0">
                    <a:latin typeface="Calibri" pitchFamily="34" charset="0"/>
                    <a:cs typeface="Calibri" pitchFamily="34" charset="0"/>
                  </a:rPr>
                  <a:t> </a:t>
                </a:r>
                <a:r>
                  <a:rPr lang="en-US" dirty="0" err="1" smtClean="0">
                    <a:latin typeface="Calibri" pitchFamily="34" charset="0"/>
                    <a:cs typeface="Calibri" pitchFamily="34" charset="0"/>
                  </a:rPr>
                  <a:t>lệch</a:t>
                </a:r>
                <a:r>
                  <a:rPr lang="en-US" dirty="0">
                    <a:latin typeface="Calibri" pitchFamily="34" charset="0"/>
                    <a:cs typeface="Calibri" pitchFamily="34" charset="0"/>
                  </a:rPr>
                  <a:t> </a:t>
                </a:r>
                <a:r>
                  <a:rPr lang="en-US" dirty="0" err="1" smtClean="0">
                    <a:latin typeface="Calibri" pitchFamily="34" charset="0"/>
                    <a:cs typeface="Calibri" pitchFamily="34" charset="0"/>
                  </a:rPr>
                  <a:t>về</a:t>
                </a:r>
                <a:r>
                  <a:rPr lang="en-US" dirty="0" smtClean="0">
                    <a:latin typeface="Calibri" pitchFamily="34" charset="0"/>
                    <a:cs typeface="Calibri" pitchFamily="34" charset="0"/>
                  </a:rPr>
                  <a:t> </a:t>
                </a:r>
                <a:r>
                  <a:rPr lang="en-US" dirty="0" err="1">
                    <a:latin typeface="Calibri" pitchFamily="34" charset="0"/>
                    <a:cs typeface="Calibri" pitchFamily="34" charset="0"/>
                  </a:rPr>
                  <a:t>tiền</a:t>
                </a:r>
                <a:r>
                  <a:rPr lang="en-US" dirty="0">
                    <a:latin typeface="Calibri" pitchFamily="34" charset="0"/>
                    <a:cs typeface="Calibri" pitchFamily="34" charset="0"/>
                  </a:rPr>
                  <a:t> </a:t>
                </a:r>
                <a:r>
                  <a:rPr lang="en-US" dirty="0" err="1">
                    <a:latin typeface="Calibri" pitchFamily="34" charset="0"/>
                    <a:cs typeface="Calibri" pitchFamily="34" charset="0"/>
                  </a:rPr>
                  <a:t>lương</a:t>
                </a:r>
                <a:r>
                  <a:rPr lang="en-US" dirty="0">
                    <a:latin typeface="Calibri" pitchFamily="34" charset="0"/>
                    <a:cs typeface="Calibri" pitchFamily="34" charset="0"/>
                  </a:rPr>
                  <a:t> </a:t>
                </a:r>
                <a:r>
                  <a:rPr lang="en-US" dirty="0" err="1">
                    <a:latin typeface="Calibri" pitchFamily="34" charset="0"/>
                    <a:cs typeface="Calibri" pitchFamily="34" charset="0"/>
                  </a:rPr>
                  <a:t>giữa</a:t>
                </a:r>
                <a:r>
                  <a:rPr lang="en-US" dirty="0">
                    <a:latin typeface="Calibri" pitchFamily="34" charset="0"/>
                    <a:cs typeface="Calibri" pitchFamily="34" charset="0"/>
                  </a:rPr>
                  <a:t> </a:t>
                </a:r>
                <a:r>
                  <a:rPr lang="en-US" dirty="0" err="1">
                    <a:latin typeface="Calibri" pitchFamily="34" charset="0"/>
                    <a:cs typeface="Calibri" pitchFamily="34" charset="0"/>
                  </a:rPr>
                  <a:t>giáo</a:t>
                </a:r>
                <a:r>
                  <a:rPr lang="en-US" dirty="0">
                    <a:latin typeface="Calibri" pitchFamily="34" charset="0"/>
                    <a:cs typeface="Calibri" pitchFamily="34" charset="0"/>
                  </a:rPr>
                  <a:t> </a:t>
                </a:r>
                <a:r>
                  <a:rPr lang="en-US" dirty="0" err="1">
                    <a:latin typeface="Calibri" pitchFamily="34" charset="0"/>
                    <a:cs typeface="Calibri" pitchFamily="34" charset="0"/>
                  </a:rPr>
                  <a:t>sư</a:t>
                </a:r>
                <a:r>
                  <a:rPr lang="en-US" dirty="0">
                    <a:latin typeface="Calibri" pitchFamily="34" charset="0"/>
                    <a:cs typeface="Calibri" pitchFamily="34" charset="0"/>
                  </a:rPr>
                  <a:t> </a:t>
                </a:r>
                <a:r>
                  <a:rPr lang="en-US" dirty="0" err="1">
                    <a:latin typeface="Calibri" pitchFamily="34" charset="0"/>
                    <a:cs typeface="Calibri" pitchFamily="34" charset="0"/>
                  </a:rPr>
                  <a:t>nam</a:t>
                </a:r>
                <a:r>
                  <a:rPr lang="en-US" dirty="0">
                    <a:latin typeface="Calibri" pitchFamily="34" charset="0"/>
                    <a:cs typeface="Calibri" pitchFamily="34" charset="0"/>
                  </a:rPr>
                  <a:t> </a:t>
                </a:r>
                <a:r>
                  <a:rPr lang="en-US" dirty="0" err="1">
                    <a:latin typeface="Calibri" pitchFamily="34" charset="0"/>
                    <a:cs typeface="Calibri" pitchFamily="34" charset="0"/>
                  </a:rPr>
                  <a:t>va</a:t>
                </a:r>
                <a:r>
                  <a:rPr lang="en-US" dirty="0">
                    <a:latin typeface="Calibri" pitchFamily="34" charset="0"/>
                    <a:cs typeface="Calibri" pitchFamily="34" charset="0"/>
                  </a:rPr>
                  <a:t>̀ </a:t>
                </a:r>
                <a:r>
                  <a:rPr lang="en-US" dirty="0" err="1">
                    <a:latin typeface="Calibri" pitchFamily="34" charset="0"/>
                    <a:cs typeface="Calibri" pitchFamily="34" charset="0"/>
                  </a:rPr>
                  <a:t>nư</a:t>
                </a:r>
                <a:r>
                  <a:rPr lang="en-US" dirty="0">
                    <a:latin typeface="Calibri" pitchFamily="34" charset="0"/>
                    <a:cs typeface="Calibri" pitchFamily="34" charset="0"/>
                  </a:rPr>
                  <a:t>̃ </a:t>
                </a:r>
                <a:r>
                  <a:rPr lang="en-US" dirty="0" err="1">
                    <a:latin typeface="Calibri" pitchFamily="34" charset="0"/>
                    <a:cs typeface="Calibri" pitchFamily="34" charset="0"/>
                  </a:rPr>
                  <a:t>trong</a:t>
                </a:r>
                <a:r>
                  <a:rPr lang="en-US" dirty="0">
                    <a:latin typeface="Calibri" pitchFamily="34" charset="0"/>
                    <a:cs typeface="Calibri" pitchFamily="34" charset="0"/>
                  </a:rPr>
                  <a:t> </a:t>
                </a:r>
                <a:r>
                  <a:rPr lang="en-US" dirty="0" err="1">
                    <a:latin typeface="Calibri" pitchFamily="34" charset="0"/>
                    <a:cs typeface="Calibri" pitchFamily="34" charset="0"/>
                  </a:rPr>
                  <a:t>cùng</a:t>
                </a:r>
                <a:r>
                  <a:rPr lang="en-US" dirty="0">
                    <a:latin typeface="Calibri" pitchFamily="34" charset="0"/>
                    <a:cs typeface="Calibri" pitchFamily="34" charset="0"/>
                  </a:rPr>
                  <a:t>  </a:t>
                </a:r>
                <a:r>
                  <a:rPr lang="en-US" dirty="0" err="1">
                    <a:latin typeface="Calibri" pitchFamily="34" charset="0"/>
                    <a:cs typeface="Calibri" pitchFamily="34" charset="0"/>
                  </a:rPr>
                  <a:t>lượng</a:t>
                </a:r>
                <a:r>
                  <a:rPr lang="en-US" dirty="0">
                    <a:latin typeface="Calibri" pitchFamily="34" charset="0"/>
                    <a:cs typeface="Calibri" pitchFamily="34" charset="0"/>
                  </a:rPr>
                  <a:t> </a:t>
                </a:r>
                <a:r>
                  <a:rPr lang="en-US" dirty="0" err="1">
                    <a:latin typeface="Calibri" pitchFamily="34" charset="0"/>
                    <a:cs typeface="Calibri" pitchFamily="34" charset="0"/>
                  </a:rPr>
                  <a:t>thời</a:t>
                </a:r>
                <a:r>
                  <a:rPr lang="en-US" dirty="0">
                    <a:latin typeface="Calibri" pitchFamily="34" charset="0"/>
                    <a:cs typeface="Calibri" pitchFamily="34" charset="0"/>
                  </a:rPr>
                  <a:t> </a:t>
                </a:r>
                <a:r>
                  <a:rPr lang="en-US" dirty="0" err="1">
                    <a:latin typeface="Calibri" pitchFamily="34" charset="0"/>
                    <a:cs typeface="Calibri" pitchFamily="34" charset="0"/>
                  </a:rPr>
                  <a:t>gian</a:t>
                </a:r>
                <a:r>
                  <a:rPr lang="en-US" dirty="0">
                    <a:latin typeface="Calibri" pitchFamily="34" charset="0"/>
                    <a:cs typeface="Calibri" pitchFamily="34" charset="0"/>
                  </a:rPr>
                  <a:t> </a:t>
                </a:r>
                <a:r>
                  <a:rPr lang="en-US" dirty="0" err="1">
                    <a:latin typeface="Calibri" pitchFamily="34" charset="0"/>
                    <a:cs typeface="Calibri" pitchFamily="34" charset="0"/>
                  </a:rPr>
                  <a:t>giảng</a:t>
                </a:r>
                <a:r>
                  <a:rPr lang="en-US" dirty="0">
                    <a:latin typeface="Calibri" pitchFamily="34" charset="0"/>
                    <a:cs typeface="Calibri" pitchFamily="34" charset="0"/>
                  </a:rPr>
                  <a:t> </a:t>
                </a:r>
                <a:r>
                  <a:rPr lang="en-US" dirty="0" err="1" smtClean="0">
                    <a:latin typeface="Calibri" pitchFamily="34" charset="0"/>
                    <a:cs typeface="Calibri" pitchFamily="34" charset="0"/>
                  </a:rPr>
                  <a:t>dạy</a:t>
                </a:r>
                <a:r>
                  <a:rPr lang="en-US" dirty="0">
                    <a:latin typeface="Calibri" pitchFamily="34" charset="0"/>
                    <a:cs typeface="Calibri" pitchFamily="34" charset="0"/>
                  </a:rPr>
                  <a:t>.</a:t>
                </a:r>
                <a:r>
                  <a:rPr lang="en-US" dirty="0" smtClean="0">
                    <a:latin typeface="Calibri" pitchFamily="34" charset="0"/>
                    <a:cs typeface="Calibri" pitchFamily="34" charset="0"/>
                  </a:rPr>
                  <a:t> </a:t>
                </a:r>
                <a:r>
                  <a:rPr lang="en-US" dirty="0">
                    <a:latin typeface="Calibri" pitchFamily="34" charset="0"/>
                    <a:cs typeface="Calibri" pitchFamily="34" charset="0"/>
                  </a:rPr>
                  <a:t>Ta </a:t>
                </a:r>
                <a:r>
                  <a:rPr lang="en-US" dirty="0" err="1">
                    <a:latin typeface="Calibri" pitchFamily="34" charset="0"/>
                    <a:cs typeface="Calibri" pitchFamily="34" charset="0"/>
                  </a:rPr>
                  <a:t>tiến</a:t>
                </a:r>
                <a:r>
                  <a:rPr lang="en-US" dirty="0">
                    <a:latin typeface="Calibri" pitchFamily="34" charset="0"/>
                    <a:cs typeface="Calibri" pitchFamily="34" charset="0"/>
                  </a:rPr>
                  <a:t> </a:t>
                </a:r>
                <a:r>
                  <a:rPr lang="en-US" dirty="0" err="1">
                    <a:latin typeface="Calibri" pitchFamily="34" charset="0"/>
                    <a:cs typeface="Calibri" pitchFamily="34" charset="0"/>
                  </a:rPr>
                  <a:t>hành</a:t>
                </a:r>
                <a:r>
                  <a:rPr lang="en-US" dirty="0">
                    <a:latin typeface="Calibri" pitchFamily="34" charset="0"/>
                    <a:cs typeface="Calibri" pitchFamily="34" charset="0"/>
                  </a:rPr>
                  <a:t> </a:t>
                </a:r>
                <a:r>
                  <a:rPr lang="en-US" dirty="0" err="1">
                    <a:latin typeface="Calibri" pitchFamily="34" charset="0"/>
                    <a:cs typeface="Calibri" pitchFamily="34" charset="0"/>
                  </a:rPr>
                  <a:t>xem</a:t>
                </a:r>
                <a:r>
                  <a:rPr lang="en-US" dirty="0">
                    <a:latin typeface="Calibri" pitchFamily="34" charset="0"/>
                    <a:cs typeface="Calibri" pitchFamily="34" charset="0"/>
                  </a:rPr>
                  <a:t> </a:t>
                </a:r>
                <a:r>
                  <a:rPr lang="en-US" dirty="0" err="1">
                    <a:latin typeface="Calibri" pitchFamily="34" charset="0"/>
                    <a:cs typeface="Calibri" pitchFamily="34" charset="0"/>
                  </a:rPr>
                  <a:t>xét</a:t>
                </a:r>
                <a:r>
                  <a:rPr lang="en-US" dirty="0">
                    <a:latin typeface="Calibri" pitchFamily="34" charset="0"/>
                    <a:cs typeface="Calibri" pitchFamily="34" charset="0"/>
                  </a:rPr>
                  <a:t> </a:t>
                </a:r>
                <a:r>
                  <a:rPr lang="en-US" dirty="0" err="1">
                    <a:latin typeface="Calibri" pitchFamily="34" charset="0"/>
                    <a:cs typeface="Calibri" pitchFamily="34" charset="0"/>
                  </a:rPr>
                  <a:t>xem</a:t>
                </a:r>
                <a:r>
                  <a:rPr lang="en-US" dirty="0">
                    <a:latin typeface="Calibri" pitchFamily="34" charset="0"/>
                    <a:cs typeface="Calibri" pitchFamily="34" charset="0"/>
                  </a:rPr>
                  <a:t> </a:t>
                </a:r>
                <a:r>
                  <a:rPr lang="en-US" dirty="0" err="1">
                    <a:latin typeface="Calibri" pitchFamily="34" charset="0"/>
                    <a:cs typeface="Calibri" pitchFamily="34" charset="0"/>
                  </a:rPr>
                  <a:t>liệu</a:t>
                </a:r>
                <a:r>
                  <a:rPr lang="en-US" dirty="0">
                    <a:latin typeface="Calibri" pitchFamily="34" charset="0"/>
                    <a:cs typeface="Calibri" pitchFamily="34" charset="0"/>
                  </a:rPr>
                  <a:t>  có </a:t>
                </a:r>
                <a:r>
                  <a:rPr lang="en-US" dirty="0" err="1">
                    <a:latin typeface="Calibri" pitchFamily="34" charset="0"/>
                    <a:cs typeface="Calibri" pitchFamily="34" charset="0"/>
                  </a:rPr>
                  <a:t>phân</a:t>
                </a:r>
                <a:r>
                  <a:rPr lang="en-US" dirty="0">
                    <a:latin typeface="Calibri" pitchFamily="34" charset="0"/>
                    <a:cs typeface="Calibri" pitchFamily="34" charset="0"/>
                  </a:rPr>
                  <a:t> </a:t>
                </a:r>
                <a:r>
                  <a:rPr lang="en-US" dirty="0" err="1">
                    <a:latin typeface="Calibri" pitchFamily="34" charset="0"/>
                    <a:cs typeface="Calibri" pitchFamily="34" charset="0"/>
                  </a:rPr>
                  <a:t>biệt</a:t>
                </a:r>
                <a:r>
                  <a:rPr lang="en-US" dirty="0">
                    <a:latin typeface="Calibri" pitchFamily="34" charset="0"/>
                    <a:cs typeface="Calibri" pitchFamily="34" charset="0"/>
                  </a:rPr>
                  <a:t> </a:t>
                </a:r>
                <a:r>
                  <a:rPr lang="en-US" dirty="0" err="1">
                    <a:latin typeface="Calibri" pitchFamily="34" charset="0"/>
                    <a:cs typeface="Calibri" pitchFamily="34" charset="0"/>
                  </a:rPr>
                  <a:t>nào</a:t>
                </a:r>
                <a:r>
                  <a:rPr lang="en-US" dirty="0">
                    <a:latin typeface="Calibri" pitchFamily="34" charset="0"/>
                    <a:cs typeface="Calibri" pitchFamily="34" charset="0"/>
                  </a:rPr>
                  <a:t> </a:t>
                </a:r>
                <a:r>
                  <a:rPr lang="en-US" dirty="0" err="1">
                    <a:latin typeface="Calibri" pitchFamily="34" charset="0"/>
                    <a:cs typeface="Calibri" pitchFamily="34" charset="0"/>
                  </a:rPr>
                  <a:t>không</a:t>
                </a:r>
                <a:r>
                  <a:rPr lang="en-US" dirty="0">
                    <a:latin typeface="Calibri" pitchFamily="34" charset="0"/>
                    <a:cs typeface="Calibri" pitchFamily="34" charset="0"/>
                  </a:rPr>
                  <a:t> </a:t>
                </a:r>
                <a:r>
                  <a:rPr lang="en-US" dirty="0" err="1">
                    <a:latin typeface="Calibri" pitchFamily="34" charset="0"/>
                    <a:cs typeface="Calibri" pitchFamily="34" charset="0"/>
                  </a:rPr>
                  <a:t>khi</a:t>
                </a:r>
                <a:r>
                  <a:rPr lang="en-US" dirty="0">
                    <a:latin typeface="Calibri" pitchFamily="34" charset="0"/>
                    <a:cs typeface="Calibri" pitchFamily="34" charset="0"/>
                  </a:rPr>
                  <a:t> ta </a:t>
                </a:r>
                <a:r>
                  <a:rPr lang="en-US" dirty="0" err="1">
                    <a:latin typeface="Calibri" pitchFamily="34" charset="0"/>
                    <a:cs typeface="Calibri" pitchFamily="34" charset="0"/>
                  </a:rPr>
                  <a:t>tiến</a:t>
                </a:r>
                <a:r>
                  <a:rPr lang="en-US" dirty="0">
                    <a:latin typeface="Calibri" pitchFamily="34" charset="0"/>
                    <a:cs typeface="Calibri" pitchFamily="34" charset="0"/>
                  </a:rPr>
                  <a:t> </a:t>
                </a:r>
                <a:r>
                  <a:rPr lang="en-US" dirty="0" err="1">
                    <a:latin typeface="Calibri" pitchFamily="34" charset="0"/>
                    <a:cs typeface="Calibri" pitchFamily="34" charset="0"/>
                  </a:rPr>
                  <a:t>hành</a:t>
                </a:r>
                <a:r>
                  <a:rPr lang="en-US" dirty="0">
                    <a:latin typeface="Calibri" pitchFamily="34" charset="0"/>
                    <a:cs typeface="Calibri" pitchFamily="34" charset="0"/>
                  </a:rPr>
                  <a:t> </a:t>
                </a:r>
                <a:r>
                  <a:rPr lang="en-US" dirty="0" err="1">
                    <a:latin typeface="Calibri" pitchFamily="34" charset="0"/>
                    <a:cs typeface="Calibri" pitchFamily="34" charset="0"/>
                  </a:rPr>
                  <a:t>phân</a:t>
                </a:r>
                <a:r>
                  <a:rPr lang="en-US" dirty="0">
                    <a:latin typeface="Calibri" pitchFamily="34" charset="0"/>
                    <a:cs typeface="Calibri" pitchFamily="34" charset="0"/>
                  </a:rPr>
                  <a:t> </a:t>
                </a:r>
                <a:r>
                  <a:rPr lang="en-US" dirty="0" err="1" smtClean="0">
                    <a:latin typeface="Calibri" pitchFamily="34" charset="0"/>
                    <a:cs typeface="Calibri" pitchFamily="34" charset="0"/>
                  </a:rPr>
                  <a:t>tích</a:t>
                </a:r>
                <a:r>
                  <a:rPr lang="en-US" dirty="0" smtClean="0">
                    <a:latin typeface="Calibri" pitchFamily="34" charset="0"/>
                    <a:cs typeface="Calibri" pitchFamily="34" charset="0"/>
                  </a:rPr>
                  <a:t> .</a:t>
                </a:r>
                <a:r>
                  <a:rPr lang="en-US" dirty="0" err="1" smtClean="0">
                    <a:latin typeface="Calibri" pitchFamily="34" charset="0"/>
                    <a:cs typeface="Calibri" pitchFamily="34" charset="0"/>
                  </a:rPr>
                  <a:t>Nếu</a:t>
                </a:r>
                <a:r>
                  <a:rPr lang="en-US" dirty="0" smtClean="0">
                    <a:latin typeface="Calibri" pitchFamily="34" charset="0"/>
                    <a:cs typeface="Calibri" pitchFamily="34" charset="0"/>
                  </a:rPr>
                  <a:t> </a:t>
                </a:r>
                <a14:m>
                  <m:oMath xmlns:m="http://schemas.openxmlformats.org/officeDocument/2006/math">
                    <m:sSub>
                      <m:sSubPr>
                        <m:ctrlPr>
                          <a:rPr lang="en-US" i="1">
                            <a:latin typeface="Cambria Math"/>
                            <a:ea typeface="Cambria Math"/>
                            <a:cs typeface="Calibri" pitchFamily="34" charset="0"/>
                          </a:rPr>
                        </m:ctrlPr>
                      </m:sSubPr>
                      <m:e>
                        <m:r>
                          <a:rPr lang="en-US" i="1">
                            <a:latin typeface="Cambria Math"/>
                            <a:ea typeface="Cambria Math"/>
                            <a:cs typeface="Calibri" pitchFamily="34" charset="0"/>
                          </a:rPr>
                          <m:t>𝛿</m:t>
                        </m:r>
                      </m:e>
                      <m:sub>
                        <m:r>
                          <a:rPr lang="en-US" i="1">
                            <a:latin typeface="Cambria Math"/>
                            <a:ea typeface="Cambria Math"/>
                            <a:cs typeface="Calibri" pitchFamily="34" charset="0"/>
                          </a:rPr>
                          <m:t>0</m:t>
                        </m:r>
                      </m:sub>
                    </m:sSub>
                    <m:r>
                      <a:rPr lang="en-US" b="0" i="1" smtClean="0">
                        <a:latin typeface="Cambria Math"/>
                        <a:ea typeface="Cambria Math"/>
                        <a:cs typeface="Calibri" pitchFamily="34" charset="0"/>
                      </a:rPr>
                      <m:t>&lt;</m:t>
                    </m:r>
                    <m:r>
                      <a:rPr lang="en-US" b="0" i="1" smtClean="0">
                        <a:latin typeface="Cambria Math"/>
                        <a:ea typeface="Cambria Math"/>
                        <a:cs typeface="Calibri" pitchFamily="34" charset="0"/>
                      </a:rPr>
                      <m:t>0</m:t>
                    </m:r>
                  </m:oMath>
                </a14:m>
                <a:r>
                  <a:rPr lang="en-US" dirty="0" smtClean="0">
                    <a:latin typeface="Calibri" pitchFamily="34" charset="0"/>
                    <a:cs typeface="Calibri" pitchFamily="34" charset="0"/>
                  </a:rPr>
                  <a:t> thì </a:t>
                </a:r>
                <a:r>
                  <a:rPr lang="en-US" dirty="0" err="1" smtClean="0">
                    <a:latin typeface="Calibri" pitchFamily="34" charset="0"/>
                    <a:cs typeface="Calibri" pitchFamily="34" charset="0"/>
                  </a:rPr>
                  <a:t>số</a:t>
                </a:r>
                <a:r>
                  <a:rPr lang="en-US" dirty="0" smtClean="0">
                    <a:latin typeface="Calibri" pitchFamily="34" charset="0"/>
                    <a:cs typeface="Calibri" pitchFamily="34" charset="0"/>
                  </a:rPr>
                  <a:t> </a:t>
                </a:r>
                <a:r>
                  <a:rPr lang="en-US" dirty="0" err="1" smtClean="0">
                    <a:latin typeface="Calibri" pitchFamily="34" charset="0"/>
                    <a:cs typeface="Calibri" pitchFamily="34" charset="0"/>
                  </a:rPr>
                  <a:t>tiền</a:t>
                </a:r>
                <a:r>
                  <a:rPr lang="en-US" dirty="0" smtClean="0">
                    <a:latin typeface="Calibri" pitchFamily="34" charset="0"/>
                    <a:cs typeface="Calibri" pitchFamily="34" charset="0"/>
                  </a:rPr>
                  <a:t> </a:t>
                </a:r>
                <a:r>
                  <a:rPr lang="en-US" dirty="0" err="1" smtClean="0">
                    <a:latin typeface="Calibri" pitchFamily="34" charset="0"/>
                    <a:cs typeface="Calibri" pitchFamily="34" charset="0"/>
                  </a:rPr>
                  <a:t>lương</a:t>
                </a:r>
                <a:r>
                  <a:rPr lang="en-US" dirty="0" smtClean="0">
                    <a:latin typeface="Calibri" pitchFamily="34" charset="0"/>
                    <a:cs typeface="Calibri" pitchFamily="34" charset="0"/>
                  </a:rPr>
                  <a:t> </a:t>
                </a:r>
                <a:r>
                  <a:rPr lang="en-US" dirty="0" err="1">
                    <a:latin typeface="Calibri" pitchFamily="34" charset="0"/>
                    <a:cs typeface="Calibri" pitchFamily="34" charset="0"/>
                  </a:rPr>
                  <a:t>giáo</a:t>
                </a:r>
                <a:r>
                  <a:rPr lang="en-US" dirty="0">
                    <a:latin typeface="Calibri" pitchFamily="34" charset="0"/>
                    <a:cs typeface="Calibri" pitchFamily="34" charset="0"/>
                  </a:rPr>
                  <a:t> </a:t>
                </a:r>
                <a:r>
                  <a:rPr lang="en-US" dirty="0" err="1">
                    <a:latin typeface="Calibri" pitchFamily="34" charset="0"/>
                    <a:cs typeface="Calibri" pitchFamily="34" charset="0"/>
                  </a:rPr>
                  <a:t>sư</a:t>
                </a:r>
                <a:r>
                  <a:rPr lang="en-US" dirty="0">
                    <a:latin typeface="Calibri" pitchFamily="34" charset="0"/>
                    <a:cs typeface="Calibri" pitchFamily="34" charset="0"/>
                  </a:rPr>
                  <a:t> </a:t>
                </a:r>
                <a:r>
                  <a:rPr lang="en-US" dirty="0" err="1">
                    <a:latin typeface="Calibri" pitchFamily="34" charset="0"/>
                    <a:cs typeface="Calibri" pitchFamily="34" charset="0"/>
                  </a:rPr>
                  <a:t>nư</a:t>
                </a:r>
                <a:r>
                  <a:rPr lang="en-US" dirty="0">
                    <a:latin typeface="Calibri" pitchFamily="34" charset="0"/>
                    <a:cs typeface="Calibri" pitchFamily="34" charset="0"/>
                  </a:rPr>
                  <a:t>̃ sẽ </a:t>
                </a:r>
                <a:r>
                  <a:rPr lang="en-US" dirty="0" err="1">
                    <a:latin typeface="Calibri" pitchFamily="34" charset="0"/>
                    <a:cs typeface="Calibri" pitchFamily="34" charset="0"/>
                  </a:rPr>
                  <a:t>ít</a:t>
                </a:r>
                <a:r>
                  <a:rPr lang="en-US" dirty="0">
                    <a:latin typeface="Calibri" pitchFamily="34" charset="0"/>
                    <a:cs typeface="Calibri" pitchFamily="34" charset="0"/>
                  </a:rPr>
                  <a:t> </a:t>
                </a:r>
                <a:r>
                  <a:rPr lang="en-US" dirty="0" err="1">
                    <a:latin typeface="Calibri" pitchFamily="34" charset="0"/>
                    <a:cs typeface="Calibri" pitchFamily="34" charset="0"/>
                  </a:rPr>
                  <a:t>hơn</a:t>
                </a:r>
                <a:r>
                  <a:rPr lang="en-US" dirty="0">
                    <a:latin typeface="Calibri" pitchFamily="34" charset="0"/>
                    <a:cs typeface="Calibri" pitchFamily="34" charset="0"/>
                  </a:rPr>
                  <a:t> so </a:t>
                </a:r>
                <a:r>
                  <a:rPr lang="en-US" dirty="0" err="1">
                    <a:latin typeface="Calibri" pitchFamily="34" charset="0"/>
                    <a:cs typeface="Calibri" pitchFamily="34" charset="0"/>
                  </a:rPr>
                  <a:t>với</a:t>
                </a:r>
                <a:r>
                  <a:rPr lang="en-US" dirty="0">
                    <a:latin typeface="Calibri" pitchFamily="34" charset="0"/>
                    <a:cs typeface="Calibri" pitchFamily="34" charset="0"/>
                  </a:rPr>
                  <a:t> </a:t>
                </a:r>
                <a:r>
                  <a:rPr lang="en-US" dirty="0" err="1" smtClean="0">
                    <a:latin typeface="Calibri" pitchFamily="34" charset="0"/>
                    <a:cs typeface="Calibri" pitchFamily="34" charset="0"/>
                  </a:rPr>
                  <a:t>nam</a:t>
                </a:r>
                <a:r>
                  <a:rPr lang="en-US" dirty="0">
                    <a:latin typeface="Calibri" pitchFamily="34" charset="0"/>
                    <a:cs typeface="Calibri" pitchFamily="34" charset="0"/>
                  </a:rPr>
                  <a:t>.</a:t>
                </a:r>
              </a:p>
              <a:p>
                <a:pPr marL="109728" indent="0" algn="just">
                  <a:buNone/>
                </a:pPr>
                <a:r>
                  <a:rPr lang="en-US" dirty="0" smtClean="0">
                    <a:latin typeface="Calibri" pitchFamily="34" charset="0"/>
                    <a:cs typeface="Calibri" pitchFamily="34" charset="0"/>
                  </a:rPr>
                  <a:t> </a:t>
                </a:r>
              </a:p>
              <a:p>
                <a:pPr algn="just"/>
                <a:endParaRPr lang="en-US" dirty="0">
                  <a:latin typeface="Calibri" pitchFamily="34" charset="0"/>
                  <a:cs typeface="Calibri" pitchFamily="34" charset="0"/>
                </a:endParaRPr>
              </a:p>
              <a:p>
                <a:pPr algn="just"/>
                <a:endParaRPr lang="en-US"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752" r="-667"/>
                </a:stretch>
              </a:blipFill>
            </p:spPr>
            <p:txBody>
              <a:bodyPr/>
              <a:lstStyle/>
              <a:p>
                <a:r>
                  <a:rPr lang="en-US">
                    <a:noFill/>
                  </a:rPr>
                  <a:t> </a:t>
                </a:r>
              </a:p>
            </p:txBody>
          </p:sp>
        </mc:Fallback>
      </mc:AlternateContent>
      <p:sp>
        <p:nvSpPr>
          <p:cNvPr id="3" name="Title 2"/>
          <p:cNvSpPr>
            <a:spLocks noGrp="1"/>
          </p:cNvSpPr>
          <p:nvPr>
            <p:ph type="title"/>
          </p:nvPr>
        </p:nvSpPr>
        <p:spPr>
          <a:xfrm>
            <a:off x="457200" y="274638"/>
            <a:ext cx="8229600" cy="922114"/>
          </a:xfrm>
        </p:spPr>
        <p:txBody>
          <a:bodyPr>
            <a:normAutofit/>
          </a:bodyPr>
          <a:lstStyle/>
          <a:p>
            <a:r>
              <a:rPr lang="en-US" dirty="0" err="1">
                <a:solidFill>
                  <a:srgbClr val="FF0000"/>
                </a:solidFill>
                <a:effectLst/>
                <a:latin typeface="Calibri" pitchFamily="34" charset="0"/>
                <a:cs typeface="Calibri" pitchFamily="34" charset="0"/>
              </a:rPr>
              <a:t>Mô</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err="1">
                <a:solidFill>
                  <a:srgbClr val="FF0000"/>
                </a:solidFill>
                <a:effectLst/>
                <a:latin typeface="Calibri" pitchFamily="34" charset="0"/>
                <a:cs typeface="Calibri" pitchFamily="34" charset="0"/>
              </a:rPr>
              <a:t>đơn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với</a:t>
            </a:r>
            <a:r>
              <a:rPr lang="en-US" dirty="0">
                <a:solidFill>
                  <a:srgbClr val="FF0000"/>
                </a:solidFill>
                <a:effectLst/>
                <a:latin typeface="Calibri" pitchFamily="34" charset="0"/>
                <a:cs typeface="Calibri" pitchFamily="34" charset="0"/>
              </a:rPr>
              <a:t> 1 </a:t>
            </a:r>
            <a:r>
              <a:rPr lang="en-US" dirty="0" err="1">
                <a:solidFill>
                  <a:srgbClr val="FF0000"/>
                </a:solidFill>
                <a:effectLst/>
                <a:latin typeface="Calibri" pitchFamily="34" charset="0"/>
                <a:cs typeface="Calibri" pitchFamily="34" charset="0"/>
              </a:rPr>
              <a:t>biến</a:t>
            </a:r>
            <a:r>
              <a:rPr lang="en-US" dirty="0">
                <a:solidFill>
                  <a:srgbClr val="FF0000"/>
                </a:solidFill>
                <a:effectLst/>
                <a:latin typeface="Calibri" pitchFamily="34" charset="0"/>
                <a:cs typeface="Calibri" pitchFamily="34" charset="0"/>
              </a:rPr>
              <a:t> </a:t>
            </a:r>
            <a:r>
              <a:rPr lang="en-US" dirty="0" err="1" smtClean="0">
                <a:solidFill>
                  <a:srgbClr val="FF0000"/>
                </a:solidFill>
                <a:effectLst/>
                <a:latin typeface="Calibri" pitchFamily="34" charset="0"/>
                <a:cs typeface="Calibri" pitchFamily="34" charset="0"/>
              </a:rPr>
              <a:t>gia</a:t>
            </a:r>
            <a:r>
              <a:rPr lang="en-US" dirty="0" smtClean="0">
                <a:solidFill>
                  <a:srgbClr val="FF0000"/>
                </a:solidFill>
                <a:effectLst/>
                <a:latin typeface="Calibri" pitchFamily="34" charset="0"/>
                <a:cs typeface="Calibri" pitchFamily="34" charset="0"/>
              </a:rPr>
              <a:t>̉</a:t>
            </a:r>
            <a:endParaRPr lang="en-US" dirty="0">
              <a:solidFill>
                <a:srgbClr val="FF0000"/>
              </a:solidFill>
              <a:latin typeface="Calibri" pitchFamily="34" charset="0"/>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711233"/>
            <a:ext cx="3886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5376639"/>
            <a:ext cx="7094537"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58039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lnSpcReduction="10000"/>
              </a:bodyPr>
              <a:lstStyle/>
              <a:p>
                <a:pPr algn="just"/>
                <a:r>
                  <a:rPr lang="en-US" sz="1900" dirty="0" err="1" smtClean="0">
                    <a:latin typeface="Calibri" pitchFamily="34" charset="0"/>
                    <a:cs typeface="Calibri" pitchFamily="34" charset="0"/>
                  </a:rPr>
                  <a:t>Sau</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khi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nghiên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cứu</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mô</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hình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này</a:t>
                </a:r>
                <a:r>
                  <a:rPr lang="en-US" sz="1900" dirty="0" smtClean="0">
                    <a:latin typeface="Calibri" pitchFamily="34" charset="0"/>
                    <a:cs typeface="Calibri" pitchFamily="34" charset="0"/>
                  </a:rPr>
                  <a:t>, ta </a:t>
                </a:r>
                <a:r>
                  <a:rPr lang="en-US" sz="1900" dirty="0" err="1" smtClean="0">
                    <a:latin typeface="Calibri" pitchFamily="34" charset="0"/>
                    <a:cs typeface="Calibri" pitchFamily="34" charset="0"/>
                  </a:rPr>
                  <a:t>thấy</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đồ</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thi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thể</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hiện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mức</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chênh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lệch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tiền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lương</a:t>
                </a:r>
                <a:r>
                  <a:rPr lang="en-US" sz="1900" dirty="0" smtClean="0">
                    <a:latin typeface="Calibri" pitchFamily="34" charset="0"/>
                    <a:cs typeface="Calibri" pitchFamily="34" charset="0"/>
                  </a:rPr>
                  <a:t>. Cụ </a:t>
                </a:r>
                <a:r>
                  <a:rPr lang="en-US" sz="1900" dirty="0" err="1" smtClean="0">
                    <a:latin typeface="Calibri" pitchFamily="34" charset="0"/>
                    <a:cs typeface="Calibri" pitchFamily="34" charset="0"/>
                  </a:rPr>
                  <a:t>thể</a:t>
                </a:r>
                <a:r>
                  <a:rPr lang="en-US" sz="1900" dirty="0" smtClean="0">
                    <a:latin typeface="Calibri" pitchFamily="34" charset="0"/>
                    <a:cs typeface="Calibri" pitchFamily="34" charset="0"/>
                  </a:rPr>
                  <a:t> ở </a:t>
                </a:r>
                <a:r>
                  <a:rPr lang="en-US" sz="1900" dirty="0" err="1" smtClean="0">
                    <a:latin typeface="Calibri" pitchFamily="34" charset="0"/>
                    <a:cs typeface="Calibri" pitchFamily="34" charset="0"/>
                  </a:rPr>
                  <a:t>đây</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đối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tượng</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chúng</a:t>
                </a:r>
                <a:r>
                  <a:rPr lang="en-US" sz="1900" dirty="0" smtClean="0">
                    <a:latin typeface="Calibri" pitchFamily="34" charset="0"/>
                    <a:cs typeface="Calibri" pitchFamily="34" charset="0"/>
                  </a:rPr>
                  <a:t> ta </a:t>
                </a:r>
                <a:r>
                  <a:rPr lang="en-US" sz="1900" dirty="0" err="1" smtClean="0">
                    <a:latin typeface="Calibri" pitchFamily="34" charset="0"/>
                    <a:cs typeface="Calibri" pitchFamily="34" charset="0"/>
                  </a:rPr>
                  <a:t>nghiên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cứu</a:t>
                </a:r>
                <a:r>
                  <a:rPr lang="en-US" sz="1900" dirty="0" smtClean="0">
                    <a:latin typeface="Calibri" pitchFamily="34" charset="0"/>
                    <a:cs typeface="Calibri" pitchFamily="34" charset="0"/>
                  </a:rPr>
                  <a:t> là </a:t>
                </a:r>
                <a:r>
                  <a:rPr lang="en-US" sz="1900" dirty="0" err="1" smtClean="0">
                    <a:latin typeface="Calibri" pitchFamily="34" charset="0"/>
                    <a:cs typeface="Calibri" pitchFamily="34" charset="0"/>
                  </a:rPr>
                  <a:t>giáo</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sư</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nam</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va</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giáo</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sư</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nư</a:t>
                </a:r>
                <a:r>
                  <a:rPr lang="en-US" sz="1900" dirty="0" smtClean="0">
                    <a:latin typeface="Calibri" pitchFamily="34" charset="0"/>
                    <a:cs typeface="Calibri" pitchFamily="34" charset="0"/>
                  </a:rPr>
                  <a:t>̃:</a:t>
                </a:r>
              </a:p>
              <a:p>
                <a:pPr algn="just"/>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r>
                  <a:rPr lang="en-US" sz="1900" dirty="0">
                    <a:latin typeface="Calibri" pitchFamily="34" charset="0"/>
                    <a:cs typeface="Calibri" pitchFamily="34" charset="0"/>
                  </a:rPr>
                  <a:t> </a:t>
                </a:r>
                <a:r>
                  <a:rPr lang="en-US" sz="1900" dirty="0" err="1">
                    <a:latin typeface="Calibri" pitchFamily="34" charset="0"/>
                    <a:cs typeface="Calibri" pitchFamily="34" charset="0"/>
                  </a:rPr>
                  <a:t>Trong</a:t>
                </a:r>
                <a:r>
                  <a:rPr lang="en-US" sz="1900" dirty="0">
                    <a:latin typeface="Calibri" pitchFamily="34" charset="0"/>
                    <a:cs typeface="Calibri" pitchFamily="34" charset="0"/>
                  </a:rPr>
                  <a:t> </a:t>
                </a:r>
                <a:r>
                  <a:rPr lang="en-US" sz="1900" dirty="0" err="1">
                    <a:latin typeface="Calibri" pitchFamily="34" charset="0"/>
                    <a:cs typeface="Calibri" pitchFamily="34" charset="0"/>
                  </a:rPr>
                  <a:t>trường</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hợp</a:t>
                </a:r>
                <a:r>
                  <a:rPr lang="en-US" sz="1900" dirty="0" smtClean="0">
                    <a:latin typeface="Calibri" pitchFamily="34" charset="0"/>
                    <a:cs typeface="Calibri" pitchFamily="34" charset="0"/>
                  </a:rPr>
                  <a:t> </a:t>
                </a:r>
                <a14:m>
                  <m:oMath xmlns:m="http://schemas.openxmlformats.org/officeDocument/2006/math">
                    <m:sSub>
                      <m:sSubPr>
                        <m:ctrlPr>
                          <a:rPr lang="en-US" sz="2000" i="1">
                            <a:latin typeface="Cambria Math"/>
                            <a:ea typeface="Cambria Math"/>
                            <a:cs typeface="Calibri" pitchFamily="34" charset="0"/>
                          </a:rPr>
                        </m:ctrlPr>
                      </m:sSubPr>
                      <m:e>
                        <m:r>
                          <a:rPr lang="en-US" sz="2000" i="1">
                            <a:latin typeface="Cambria Math"/>
                            <a:ea typeface="Cambria Math"/>
                            <a:cs typeface="Calibri" pitchFamily="34" charset="0"/>
                          </a:rPr>
                          <m:t>𝛿</m:t>
                        </m:r>
                      </m:e>
                      <m:sub>
                        <m:r>
                          <a:rPr lang="en-US" sz="2000" i="1">
                            <a:latin typeface="Cambria Math"/>
                            <a:ea typeface="Cambria Math"/>
                            <a:cs typeface="Calibri" pitchFamily="34" charset="0"/>
                          </a:rPr>
                          <m:t>0</m:t>
                        </m:r>
                      </m:sub>
                    </m:sSub>
                    <m:r>
                      <a:rPr lang="en-US" sz="2000" i="1">
                        <a:latin typeface="Cambria Math"/>
                        <a:ea typeface="Cambria Math"/>
                        <a:cs typeface="Calibri" pitchFamily="34" charset="0"/>
                      </a:rPr>
                      <m:t>&lt;</m:t>
                    </m:r>
                    <m:r>
                      <a:rPr lang="en-US" sz="2000" i="1">
                        <a:latin typeface="Cambria Math"/>
                        <a:ea typeface="Cambria Math"/>
                        <a:cs typeface="Calibri" pitchFamily="34" charset="0"/>
                      </a:rPr>
                      <m:t>0</m:t>
                    </m:r>
                  </m:oMath>
                </a14:m>
                <a:r>
                  <a:rPr lang="en-US" sz="1900" dirty="0" smtClean="0">
                    <a:latin typeface="Calibri" pitchFamily="34" charset="0"/>
                    <a:cs typeface="Calibri" pitchFamily="34" charset="0"/>
                  </a:rPr>
                  <a:t> </a:t>
                </a:r>
                <a:r>
                  <a:rPr lang="en-US" sz="1900" dirty="0" err="1">
                    <a:latin typeface="Calibri" pitchFamily="34" charset="0"/>
                    <a:cs typeface="Calibri" pitchFamily="34" charset="0"/>
                  </a:rPr>
                  <a:t>đa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thể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hiện</a:t>
                </a:r>
                <a:r>
                  <a:rPr lang="en-US" sz="1900" dirty="0">
                    <a:latin typeface="Calibri" pitchFamily="34" charset="0"/>
                    <a:cs typeface="Calibri" pitchFamily="34" charset="0"/>
                  </a:rPr>
                  <a:t> </a:t>
                </a:r>
                <a:r>
                  <a:rPr lang="en-US" sz="1900" dirty="0" err="1">
                    <a:latin typeface="Calibri" pitchFamily="34" charset="0"/>
                    <a:cs typeface="Calibri" pitchFamily="34" charset="0"/>
                  </a:rPr>
                  <a:t>ro</a:t>
                </a:r>
                <a:r>
                  <a:rPr lang="en-US" sz="1900" dirty="0">
                    <a:latin typeface="Calibri" pitchFamily="34" charset="0"/>
                    <a:cs typeface="Calibri" pitchFamily="34" charset="0"/>
                  </a:rPr>
                  <a:t>̃ </a:t>
                </a:r>
                <a:r>
                  <a:rPr lang="en-US" sz="1900" dirty="0" err="1">
                    <a:latin typeface="Calibri" pitchFamily="34" charset="0"/>
                    <a:cs typeface="Calibri" pitchFamily="34" charset="0"/>
                  </a:rPr>
                  <a:t>giáo</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nam</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được</a:t>
                </a:r>
                <a:r>
                  <a:rPr lang="en-US" sz="1900" dirty="0">
                    <a:latin typeface="Calibri" pitchFamily="34" charset="0"/>
                    <a:cs typeface="Calibri" pitchFamily="34" charset="0"/>
                  </a:rPr>
                  <a:t> 1 </a:t>
                </a:r>
                <a:r>
                  <a:rPr lang="en-US" sz="1900" dirty="0" err="1">
                    <a:latin typeface="Calibri" pitchFamily="34" charset="0"/>
                    <a:cs typeface="Calibri" pitchFamily="34" charset="0"/>
                  </a:rPr>
                  <a:t>khoảng</a:t>
                </a:r>
                <a:r>
                  <a:rPr lang="en-US" sz="1900" dirty="0">
                    <a:latin typeface="Calibri" pitchFamily="34" charset="0"/>
                    <a:cs typeface="Calibri" pitchFamily="34" charset="0"/>
                  </a:rPr>
                  <a:t> </a:t>
                </a:r>
                <a:r>
                  <a:rPr lang="en-US" sz="1900" dirty="0" err="1">
                    <a:latin typeface="Calibri" pitchFamily="34" charset="0"/>
                    <a:cs typeface="Calibri" pitchFamily="34" charset="0"/>
                  </a:rPr>
                  <a:t>tiền</a:t>
                </a:r>
                <a:r>
                  <a:rPr lang="en-US" sz="1900" dirty="0">
                    <a:latin typeface="Calibri" pitchFamily="34" charset="0"/>
                    <a:cs typeface="Calibri" pitchFamily="34" charset="0"/>
                  </a:rPr>
                  <a:t> </a:t>
                </a:r>
                <a:r>
                  <a:rPr lang="en-US" sz="1900" dirty="0" err="1">
                    <a:latin typeface="Calibri" pitchFamily="34" charset="0"/>
                    <a:cs typeface="Calibri" pitchFamily="34" charset="0"/>
                  </a:rPr>
                  <a:t>chênh</a:t>
                </a:r>
                <a:r>
                  <a:rPr lang="en-US" sz="1900" dirty="0">
                    <a:latin typeface="Calibri" pitchFamily="34" charset="0"/>
                    <a:cs typeface="Calibri" pitchFamily="34" charset="0"/>
                  </a:rPr>
                  <a:t> </a:t>
                </a:r>
                <a:r>
                  <a:rPr lang="en-US" sz="1900" dirty="0" err="1">
                    <a:latin typeface="Calibri" pitchFamily="34" charset="0"/>
                    <a:cs typeface="Calibri" pitchFamily="34" charset="0"/>
                  </a:rPr>
                  <a:t>lệch</a:t>
                </a:r>
                <a:r>
                  <a:rPr lang="en-US" sz="1900" dirty="0">
                    <a:latin typeface="Calibri" pitchFamily="34" charset="0"/>
                    <a:cs typeface="Calibri" pitchFamily="34" charset="0"/>
                  </a:rPr>
                  <a:t> </a:t>
                </a:r>
                <a:r>
                  <a:rPr lang="en-US" sz="1900" dirty="0" err="1">
                    <a:latin typeface="Calibri" pitchFamily="34" charset="0"/>
                    <a:cs typeface="Calibri" pitchFamily="34" charset="0"/>
                  </a:rPr>
                  <a:t>hơn</a:t>
                </a:r>
                <a:r>
                  <a:rPr lang="en-US" sz="1900" dirty="0">
                    <a:latin typeface="Calibri" pitchFamily="34" charset="0"/>
                    <a:cs typeface="Calibri" pitchFamily="34" charset="0"/>
                  </a:rPr>
                  <a:t> so </a:t>
                </a:r>
                <a:r>
                  <a:rPr lang="en-US" sz="1900" dirty="0" err="1">
                    <a:latin typeface="Calibri" pitchFamily="34" charset="0"/>
                    <a:cs typeface="Calibri" pitchFamily="34" charset="0"/>
                  </a:rPr>
                  <a:t>với</a:t>
                </a:r>
                <a:r>
                  <a:rPr lang="en-US" sz="1900" dirty="0">
                    <a:latin typeface="Calibri" pitchFamily="34" charset="0"/>
                    <a:cs typeface="Calibri" pitchFamily="34" charset="0"/>
                  </a:rPr>
                  <a:t> </a:t>
                </a:r>
                <a:r>
                  <a:rPr lang="en-US" sz="1900" dirty="0" err="1">
                    <a:latin typeface="Calibri" pitchFamily="34" charset="0"/>
                    <a:cs typeface="Calibri" pitchFamily="34" charset="0"/>
                  </a:rPr>
                  <a:t>giáo</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nư</a:t>
                </a:r>
                <a:r>
                  <a:rPr lang="en-US" sz="1900" dirty="0">
                    <a:latin typeface="Calibri" pitchFamily="34" charset="0"/>
                    <a:cs typeface="Calibri" pitchFamily="34" charset="0"/>
                  </a:rPr>
                  <a:t>̃ </a:t>
                </a:r>
                <a:r>
                  <a:rPr lang="en-US" sz="1900" dirty="0" err="1">
                    <a:latin typeface="Calibri" pitchFamily="34" charset="0"/>
                    <a:cs typeface="Calibri" pitchFamily="34" charset="0"/>
                  </a:rPr>
                  <a:t>trong</a:t>
                </a:r>
                <a:r>
                  <a:rPr lang="en-US" sz="1900" dirty="0">
                    <a:latin typeface="Calibri" pitchFamily="34" charset="0"/>
                    <a:cs typeface="Calibri" pitchFamily="34" charset="0"/>
                  </a:rPr>
                  <a:t> </a:t>
                </a:r>
                <a:r>
                  <a:rPr lang="en-US" sz="1900" dirty="0" err="1">
                    <a:latin typeface="Calibri" pitchFamily="34" charset="0"/>
                    <a:cs typeface="Calibri" pitchFamily="34" charset="0"/>
                  </a:rPr>
                  <a:t>mỗi</a:t>
                </a:r>
                <a:r>
                  <a:rPr lang="en-US" sz="1900" dirty="0">
                    <a:latin typeface="Calibri" pitchFamily="34" charset="0"/>
                    <a:cs typeface="Calibri" pitchFamily="34" charset="0"/>
                  </a:rPr>
                  <a:t> </a:t>
                </a:r>
                <a:r>
                  <a:rPr lang="en-US" sz="1900" dirty="0" err="1">
                    <a:latin typeface="Calibri" pitchFamily="34" charset="0"/>
                    <a:cs typeface="Calibri" pitchFamily="34" charset="0"/>
                  </a:rPr>
                  <a:t>giơ</a:t>
                </a:r>
                <a:r>
                  <a:rPr lang="en-US" sz="1900" dirty="0">
                    <a:latin typeface="Calibri" pitchFamily="34" charset="0"/>
                    <a:cs typeface="Calibri" pitchFamily="34" charset="0"/>
                  </a:rPr>
                  <a:t>̀ </a:t>
                </a:r>
                <a:r>
                  <a:rPr lang="en-US" sz="1900" dirty="0" err="1">
                    <a:latin typeface="Calibri" pitchFamily="34" charset="0"/>
                    <a:cs typeface="Calibri" pitchFamily="34" charset="0"/>
                  </a:rPr>
                  <a:t>giảng</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dạy</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Từ</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m</a:t>
                </a:r>
                <a:r>
                  <a:rPr lang="en-US" sz="1900" dirty="0" err="1" smtClean="0">
                    <a:latin typeface="Calibri" pitchFamily="34" charset="0"/>
                    <a:cs typeface="Calibri" pitchFamily="34" charset="0"/>
                  </a:rPr>
                  <a:t>ô</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ta </a:t>
                </a:r>
                <a:r>
                  <a:rPr lang="en-US" sz="1900" dirty="0" err="1">
                    <a:latin typeface="Calibri" pitchFamily="34" charset="0"/>
                    <a:cs typeface="Calibri" pitchFamily="34" charset="0"/>
                  </a:rPr>
                  <a:t>thấy</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educ</a:t>
                </a:r>
                <a:r>
                  <a:rPr lang="en-US" sz="1900" dirty="0">
                    <a:latin typeface="Calibri" pitchFamily="34" charset="0"/>
                    <a:cs typeface="Calibri" pitchFamily="34" charset="0"/>
                  </a:rPr>
                  <a:t> </a:t>
                </a:r>
                <a:r>
                  <a:rPr lang="en-US" sz="1900" dirty="0" err="1">
                    <a:latin typeface="Calibri" pitchFamily="34" charset="0"/>
                    <a:cs typeface="Calibri" pitchFamily="34" charset="0"/>
                  </a:rPr>
                  <a:t>không</a:t>
                </a:r>
                <a:r>
                  <a:rPr lang="en-US" sz="1900" dirty="0">
                    <a:latin typeface="Calibri" pitchFamily="34" charset="0"/>
                    <a:cs typeface="Calibri" pitchFamily="34" charset="0"/>
                  </a:rPr>
                  <a:t> </a:t>
                </a:r>
                <a:r>
                  <a:rPr lang="en-US" sz="1900" dirty="0" err="1">
                    <a:latin typeface="Calibri" pitchFamily="34" charset="0"/>
                    <a:cs typeface="Calibri" pitchFamily="34" charset="0"/>
                  </a:rPr>
                  <a:t>tác</a:t>
                </a:r>
                <a:r>
                  <a:rPr lang="en-US" sz="1900" dirty="0">
                    <a:latin typeface="Calibri" pitchFamily="34" charset="0"/>
                    <a:cs typeface="Calibri" pitchFamily="34" charset="0"/>
                  </a:rPr>
                  <a:t> </a:t>
                </a:r>
                <a:r>
                  <a:rPr lang="en-US" sz="1900" dirty="0" err="1">
                    <a:latin typeface="Calibri" pitchFamily="34" charset="0"/>
                    <a:cs typeface="Calibri" pitchFamily="34" charset="0"/>
                  </a:rPr>
                  <a:t>động</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lên</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tiền</a:t>
                </a:r>
                <a:r>
                  <a:rPr lang="en-US" sz="1900" dirty="0">
                    <a:latin typeface="Calibri" pitchFamily="34" charset="0"/>
                    <a:cs typeface="Calibri" pitchFamily="34" charset="0"/>
                  </a:rPr>
                  <a:t> </a:t>
                </a:r>
                <a:r>
                  <a:rPr lang="en-US" sz="1900" dirty="0" err="1">
                    <a:latin typeface="Calibri" pitchFamily="34" charset="0"/>
                    <a:cs typeface="Calibri" pitchFamily="34" charset="0"/>
                  </a:rPr>
                  <a:t>lương</a:t>
                </a:r>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a:p>
                <a:pPr algn="just"/>
                <a:endParaRPr lang="en-US" sz="1900"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348" r="-667"/>
                </a:stretch>
              </a:blipFill>
            </p:spPr>
            <p:txBody>
              <a:bodyPr/>
              <a:lstStyle/>
              <a:p>
                <a:r>
                  <a:rPr lang="en-US">
                    <a:noFill/>
                  </a:rPr>
                  <a:t> </a:t>
                </a:r>
              </a:p>
            </p:txBody>
          </p:sp>
        </mc:Fallback>
      </mc:AlternateContent>
      <p:sp>
        <p:nvSpPr>
          <p:cNvPr id="3" name="Title 2"/>
          <p:cNvSpPr>
            <a:spLocks noGrp="1"/>
          </p:cNvSpPr>
          <p:nvPr>
            <p:ph type="title"/>
          </p:nvPr>
        </p:nvSpPr>
        <p:spPr>
          <a:xfrm>
            <a:off x="457200" y="274638"/>
            <a:ext cx="8229600" cy="850106"/>
          </a:xfrm>
        </p:spPr>
        <p:txBody>
          <a:bodyPr>
            <a:normAutofit/>
          </a:bodyPr>
          <a:lstStyle/>
          <a:p>
            <a:r>
              <a:rPr lang="en-US" sz="3700" dirty="0" err="1">
                <a:solidFill>
                  <a:srgbClr val="FF0000"/>
                </a:solidFill>
                <a:effectLst/>
                <a:latin typeface="Calibri" pitchFamily="34" charset="0"/>
                <a:cs typeface="Calibri" pitchFamily="34" charset="0"/>
              </a:rPr>
              <a:t>Mô</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hình</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hồi</a:t>
            </a:r>
            <a:r>
              <a:rPr lang="en-US" sz="3700" dirty="0">
                <a:solidFill>
                  <a:srgbClr val="FF0000"/>
                </a:solidFill>
                <a:effectLst/>
                <a:latin typeface="Calibri" pitchFamily="34" charset="0"/>
                <a:cs typeface="Calibri" pitchFamily="34" charset="0"/>
              </a:rPr>
              <a:t> </a:t>
            </a:r>
            <a:r>
              <a:rPr lang="en-US" sz="3700" dirty="0" smtClean="0">
                <a:solidFill>
                  <a:srgbClr val="FF0000"/>
                </a:solidFill>
                <a:effectLst/>
                <a:latin typeface="Calibri" pitchFamily="34" charset="0"/>
                <a:cs typeface="Calibri" pitchFamily="34" charset="0"/>
              </a:rPr>
              <a:t>qui </a:t>
            </a:r>
            <a:r>
              <a:rPr lang="en-US" sz="3700" dirty="0" err="1">
                <a:solidFill>
                  <a:srgbClr val="FF0000"/>
                </a:solidFill>
                <a:effectLst/>
                <a:latin typeface="Calibri" pitchFamily="34" charset="0"/>
                <a:cs typeface="Calibri" pitchFamily="34" charset="0"/>
              </a:rPr>
              <a:t>đơn</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với</a:t>
            </a:r>
            <a:r>
              <a:rPr lang="en-US" sz="3700" dirty="0">
                <a:solidFill>
                  <a:srgbClr val="FF0000"/>
                </a:solidFill>
                <a:effectLst/>
                <a:latin typeface="Calibri" pitchFamily="34" charset="0"/>
                <a:cs typeface="Calibri" pitchFamily="34" charset="0"/>
              </a:rPr>
              <a:t> 1 </a:t>
            </a:r>
            <a:r>
              <a:rPr lang="en-US" sz="3700" dirty="0" err="1">
                <a:solidFill>
                  <a:srgbClr val="FF0000"/>
                </a:solidFill>
                <a:effectLst/>
                <a:latin typeface="Calibri" pitchFamily="34" charset="0"/>
                <a:cs typeface="Calibri" pitchFamily="34" charset="0"/>
              </a:rPr>
              <a:t>biến</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gia</a:t>
            </a:r>
            <a:r>
              <a:rPr lang="en-US" sz="3700" dirty="0">
                <a:solidFill>
                  <a:srgbClr val="FF0000"/>
                </a:solidFill>
                <a:effectLst/>
                <a:latin typeface="Calibri" pitchFamily="34" charset="0"/>
                <a:cs typeface="Calibri" pitchFamily="34" charset="0"/>
              </a:rPr>
              <a:t>̉</a:t>
            </a:r>
            <a:endParaRPr lang="en-US" sz="3700" dirty="0">
              <a:solidFill>
                <a:srgbClr val="FF0000"/>
              </a:solidFill>
            </a:endParaRPr>
          </a:p>
        </p:txBody>
      </p:sp>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1475656" y="2132856"/>
            <a:ext cx="5870226" cy="2664296"/>
          </a:xfrm>
          <a:prstGeom prst="rect">
            <a:avLst/>
          </a:prstGeom>
        </p:spPr>
      </p:pic>
    </p:spTree>
    <p:extLst>
      <p:ext uri="{BB962C8B-B14F-4D97-AF65-F5344CB8AC3E}">
        <p14:creationId xmlns:p14="http://schemas.microsoft.com/office/powerpoint/2010/main" val="256180880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lnSpcReduction="10000"/>
              </a:bodyPr>
              <a:lstStyle/>
              <a:p>
                <a:pPr algn="just"/>
                <a:r>
                  <a:rPr lang="en-US" sz="1900" dirty="0" smtClean="0">
                    <a:latin typeface="Calibri" pitchFamily="34" charset="0"/>
                    <a:cs typeface="Calibri" pitchFamily="34" charset="0"/>
                  </a:rPr>
                  <a:t>Để </a:t>
                </a:r>
                <a:r>
                  <a:rPr lang="en-US" sz="1900" dirty="0" err="1">
                    <a:latin typeface="Calibri" pitchFamily="34" charset="0"/>
                    <a:cs typeface="Calibri" pitchFamily="34" charset="0"/>
                  </a:rPr>
                  <a:t>tra</a:t>
                </a:r>
                <a:r>
                  <a:rPr lang="en-US" sz="1900" dirty="0">
                    <a:latin typeface="Calibri" pitchFamily="34" charset="0"/>
                    <a:cs typeface="Calibri" pitchFamily="34" charset="0"/>
                  </a:rPr>
                  <a:t>̉ </a:t>
                </a:r>
                <a:r>
                  <a:rPr lang="en-US" sz="1900" dirty="0" err="1">
                    <a:latin typeface="Calibri" pitchFamily="34" charset="0"/>
                    <a:cs typeface="Calibri" pitchFamily="34" charset="0"/>
                  </a:rPr>
                  <a:t>lời</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câu</a:t>
                </a:r>
                <a:r>
                  <a:rPr lang="en-US" sz="1900" dirty="0">
                    <a:latin typeface="Calibri" pitchFamily="34" charset="0"/>
                    <a:cs typeface="Calibri" pitchFamily="34" charset="0"/>
                  </a:rPr>
                  <a:t> </a:t>
                </a:r>
                <a:r>
                  <a:rPr lang="en-US" sz="1900" dirty="0" err="1">
                    <a:latin typeface="Calibri" pitchFamily="34" charset="0"/>
                    <a:cs typeface="Calibri" pitchFamily="34" charset="0"/>
                  </a:rPr>
                  <a:t>hỏi</a:t>
                </a:r>
                <a:r>
                  <a:rPr lang="en-US" sz="1900" dirty="0">
                    <a:latin typeface="Calibri" pitchFamily="34" charset="0"/>
                    <a:cs typeface="Calibri" pitchFamily="34" charset="0"/>
                  </a:rPr>
                  <a:t> </a:t>
                </a:r>
                <a:r>
                  <a:rPr lang="en-US" sz="1900" dirty="0" err="1">
                    <a:latin typeface="Calibri" pitchFamily="34" charset="0"/>
                    <a:cs typeface="Calibri" pitchFamily="34" charset="0"/>
                  </a:rPr>
                  <a:t>đo</a:t>
                </a:r>
                <a:r>
                  <a:rPr lang="en-US" sz="1900" dirty="0">
                    <a:latin typeface="Calibri" pitchFamily="34" charset="0"/>
                    <a:cs typeface="Calibri" pitchFamily="34" charset="0"/>
                  </a:rPr>
                  <a:t>́, </a:t>
                </a:r>
                <a:r>
                  <a:rPr lang="en-US" sz="1900" dirty="0" err="1">
                    <a:latin typeface="Calibri" pitchFamily="34" charset="0"/>
                    <a:cs typeface="Calibri" pitchFamily="34" charset="0"/>
                  </a:rPr>
                  <a:t>theo</a:t>
                </a:r>
                <a:r>
                  <a:rPr lang="en-US" sz="1900" dirty="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trên</a:t>
                </a:r>
                <a:r>
                  <a:rPr lang="en-US" sz="1900" dirty="0">
                    <a:latin typeface="Calibri" pitchFamily="34" charset="0"/>
                    <a:cs typeface="Calibri" pitchFamily="34" charset="0"/>
                  </a:rPr>
                  <a:t>, </a:t>
                </a:r>
                <a:r>
                  <a:rPr lang="en-US" sz="1900" dirty="0" err="1">
                    <a:latin typeface="Calibri" pitchFamily="34" charset="0"/>
                    <a:cs typeface="Calibri" pitchFamily="34" charset="0"/>
                  </a:rPr>
                  <a:t>tại</a:t>
                </a:r>
                <a:r>
                  <a:rPr lang="en-US" sz="1900" dirty="0">
                    <a:latin typeface="Calibri" pitchFamily="34" charset="0"/>
                    <a:cs typeface="Calibri" pitchFamily="34" charset="0"/>
                  </a:rPr>
                  <a:t> </a:t>
                </a:r>
                <a:r>
                  <a:rPr lang="en-US" sz="1900" dirty="0" err="1">
                    <a:latin typeface="Calibri" pitchFamily="34" charset="0"/>
                    <a:cs typeface="Calibri" pitchFamily="34" charset="0"/>
                  </a:rPr>
                  <a:t>sao</a:t>
                </a:r>
                <a:r>
                  <a:rPr lang="en-US" sz="1900" dirty="0">
                    <a:latin typeface="Calibri" pitchFamily="34" charset="0"/>
                    <a:cs typeface="Calibri" pitchFamily="34" charset="0"/>
                  </a:rPr>
                  <a:t> </a:t>
                </a:r>
                <a:r>
                  <a:rPr lang="en-US" sz="1900" dirty="0" err="1">
                    <a:latin typeface="Calibri" pitchFamily="34" charset="0"/>
                    <a:cs typeface="Calibri" pitchFamily="34" charset="0"/>
                  </a:rPr>
                  <a:t>chúng</a:t>
                </a:r>
                <a:r>
                  <a:rPr lang="en-US" sz="1900" dirty="0">
                    <a:latin typeface="Calibri" pitchFamily="34" charset="0"/>
                    <a:cs typeface="Calibri" pitchFamily="34" charset="0"/>
                  </a:rPr>
                  <a:t> ta </a:t>
                </a:r>
                <a:r>
                  <a:rPr lang="en-US" sz="1900" dirty="0" err="1" smtClean="0">
                    <a:latin typeface="Calibri" pitchFamily="34" charset="0"/>
                    <a:cs typeface="Calibri" pitchFamily="34" charset="0"/>
                  </a:rPr>
                  <a:t>không</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gán</a:t>
                </a:r>
                <a:r>
                  <a:rPr lang="en-US" sz="1900" dirty="0">
                    <a:latin typeface="Calibri" pitchFamily="34" charset="0"/>
                    <a:cs typeface="Calibri" pitchFamily="34" charset="0"/>
                  </a:rPr>
                  <a:t> </a:t>
                </a:r>
                <a:r>
                  <a:rPr lang="en-US" sz="1900" dirty="0" err="1">
                    <a:latin typeface="Calibri" pitchFamily="34" charset="0"/>
                    <a:cs typeface="Calibri" pitchFamily="34" charset="0"/>
                  </a:rPr>
                  <a:t>thêm</a:t>
                </a:r>
                <a:r>
                  <a:rPr lang="en-US" sz="1900" dirty="0">
                    <a:latin typeface="Calibri" pitchFamily="34" charset="0"/>
                    <a:cs typeface="Calibri" pitchFamily="34" charset="0"/>
                  </a:rPr>
                  <a:t>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để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đại</a:t>
                </a:r>
                <a:r>
                  <a:rPr lang="en-US" sz="1900" dirty="0">
                    <a:latin typeface="Calibri" pitchFamily="34" charset="0"/>
                    <a:cs typeface="Calibri" pitchFamily="34" charset="0"/>
                  </a:rPr>
                  <a:t> </a:t>
                </a:r>
                <a:r>
                  <a:rPr lang="en-US" sz="1900" dirty="0" err="1">
                    <a:latin typeface="Calibri" pitchFamily="34" charset="0"/>
                    <a:cs typeface="Calibri" pitchFamily="34" charset="0"/>
                  </a:rPr>
                  <a:t>diên</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giới</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a:t>
                </a:r>
                <a:r>
                  <a:rPr lang="en-US" sz="1900" dirty="0" err="1">
                    <a:latin typeface="Calibri" pitchFamily="34" charset="0"/>
                    <a:cs typeface="Calibri" pitchFamily="34" charset="0"/>
                  </a:rPr>
                  <a:t>nam</a:t>
                </a:r>
                <a:r>
                  <a:rPr lang="en-US" sz="1900" dirty="0">
                    <a:latin typeface="Calibri" pitchFamily="34" charset="0"/>
                    <a:cs typeface="Calibri" pitchFamily="34" charset="0"/>
                  </a:rPr>
                  <a:t> </a:t>
                </a:r>
                <a:r>
                  <a:rPr lang="en-US" sz="1900" dirty="0" err="1">
                    <a:latin typeface="Calibri" pitchFamily="34" charset="0"/>
                    <a:cs typeface="Calibri" pitchFamily="34" charset="0"/>
                  </a:rPr>
                  <a:t>gọi</a:t>
                </a:r>
                <a:r>
                  <a:rPr lang="en-US" sz="1900" dirty="0">
                    <a:latin typeface="Calibri" pitchFamily="34" charset="0"/>
                    <a:cs typeface="Calibri" pitchFamily="34" charset="0"/>
                  </a:rPr>
                  <a:t> là male </a:t>
                </a:r>
                <a:r>
                  <a:rPr lang="en-US" sz="1900" dirty="0" err="1">
                    <a:latin typeface="Calibri" pitchFamily="34" charset="0"/>
                    <a:cs typeface="Calibri" pitchFamily="34" charset="0"/>
                  </a:rPr>
                  <a:t>nhận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trị 1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nam</a:t>
                </a:r>
                <a:r>
                  <a:rPr lang="en-US" sz="1900" dirty="0">
                    <a:latin typeface="Calibri" pitchFamily="34" charset="0"/>
                    <a:cs typeface="Calibri" pitchFamily="34" charset="0"/>
                  </a:rPr>
                  <a:t> </a:t>
                </a:r>
                <a:r>
                  <a:rPr lang="en-US" sz="1900" dirty="0" err="1">
                    <a:latin typeface="Calibri" pitchFamily="34" charset="0"/>
                    <a:cs typeface="Calibri" pitchFamily="34" charset="0"/>
                  </a:rPr>
                  <a:t>giới</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0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nư</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giới</a:t>
                </a:r>
                <a:r>
                  <a:rPr lang="en-US" sz="1900" dirty="0">
                    <a:latin typeface="Calibri" pitchFamily="34" charset="0"/>
                    <a:cs typeface="Calibri" pitchFamily="34" charset="0"/>
                  </a:rPr>
                  <a:t>?</a:t>
                </a:r>
                <a:r>
                  <a:rPr lang="en-US" sz="1900" dirty="0" smtClean="0">
                    <a:latin typeface="Calibri" pitchFamily="34" charset="0"/>
                    <a:cs typeface="Calibri" pitchFamily="34" charset="0"/>
                  </a:rPr>
                  <a:t> Rõ </a:t>
                </a:r>
                <a:r>
                  <a:rPr lang="en-US" sz="1900" dirty="0" err="1">
                    <a:latin typeface="Calibri" pitchFamily="34" charset="0"/>
                    <a:cs typeface="Calibri" pitchFamily="34" charset="0"/>
                  </a:rPr>
                  <a:t>ràng</a:t>
                </a:r>
                <a:r>
                  <a:rPr lang="en-US" sz="1900" dirty="0">
                    <a:latin typeface="Calibri" pitchFamily="34" charset="0"/>
                    <a:cs typeface="Calibri" pitchFamily="34" charset="0"/>
                  </a:rPr>
                  <a:t>, </a:t>
                </a:r>
                <a:r>
                  <a:rPr lang="en-US" sz="1900" dirty="0" err="1">
                    <a:latin typeface="Calibri" pitchFamily="34" charset="0"/>
                    <a:cs typeface="Calibri" pitchFamily="34" charset="0"/>
                  </a:rPr>
                  <a:t>vấn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đề</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này</a:t>
                </a:r>
                <a:r>
                  <a:rPr lang="en-US" sz="1900" dirty="0">
                    <a:latin typeface="Calibri" pitchFamily="34" charset="0"/>
                    <a:cs typeface="Calibri" pitchFamily="34" charset="0"/>
                  </a:rPr>
                  <a:t> là </a:t>
                </a:r>
                <a:r>
                  <a:rPr lang="en-US" sz="1900" dirty="0" err="1">
                    <a:latin typeface="Calibri" pitchFamily="34" charset="0"/>
                    <a:cs typeface="Calibri" pitchFamily="34" charset="0"/>
                  </a:rPr>
                  <a:t>dư</a:t>
                </a:r>
                <a:r>
                  <a:rPr lang="en-US" sz="1900" dirty="0">
                    <a:latin typeface="Calibri" pitchFamily="34" charset="0"/>
                    <a:cs typeface="Calibri" pitchFamily="34" charset="0"/>
                  </a:rPr>
                  <a:t> </a:t>
                </a:r>
                <a:r>
                  <a:rPr lang="en-US" sz="1900" dirty="0" err="1">
                    <a:latin typeface="Calibri" pitchFamily="34" charset="0"/>
                    <a:cs typeface="Calibri" pitchFamily="34" charset="0"/>
                  </a:rPr>
                  <a:t>thừa</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không</a:t>
                </a:r>
                <a:r>
                  <a:rPr lang="en-US" sz="1900" dirty="0">
                    <a:latin typeface="Calibri" pitchFamily="34" charset="0"/>
                    <a:cs typeface="Calibri" pitchFamily="34" charset="0"/>
                  </a:rPr>
                  <a:t> </a:t>
                </a:r>
                <a:r>
                  <a:rPr lang="en-US" sz="1900" dirty="0" err="1">
                    <a:latin typeface="Calibri" pitchFamily="34" charset="0"/>
                    <a:cs typeface="Calibri" pitchFamily="34" charset="0"/>
                  </a:rPr>
                  <a:t>cần</a:t>
                </a:r>
                <a:r>
                  <a:rPr lang="en-US" sz="1900" dirty="0">
                    <a:latin typeface="Calibri" pitchFamily="34" charset="0"/>
                    <a:cs typeface="Calibri" pitchFamily="34" charset="0"/>
                  </a:rPr>
                  <a:t> </a:t>
                </a:r>
                <a:r>
                  <a:rPr lang="en-US" sz="1900" dirty="0" err="1">
                    <a:latin typeface="Calibri" pitchFamily="34" charset="0"/>
                    <a:cs typeface="Calibri" pitchFamily="34" charset="0"/>
                  </a:rPr>
                  <a:t>thiết</a:t>
                </a:r>
                <a:r>
                  <a:rPr lang="en-US" sz="1900" dirty="0">
                    <a:latin typeface="Calibri" pitchFamily="34" charset="0"/>
                    <a:cs typeface="Calibri" pitchFamily="34" charset="0"/>
                  </a:rPr>
                  <a:t>. Theo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trên</a:t>
                </a:r>
                <a:r>
                  <a:rPr lang="en-US" sz="1900" dirty="0">
                    <a:latin typeface="Calibri" pitchFamily="34" charset="0"/>
                    <a:cs typeface="Calibri" pitchFamily="34" charset="0"/>
                  </a:rPr>
                  <a:t> ta có </a:t>
                </a:r>
                <a:r>
                  <a:rPr lang="en-US" sz="1900" dirty="0" err="1" smtClean="0">
                    <a:latin typeface="Calibri" pitchFamily="34" charset="0"/>
                    <a:cs typeface="Calibri" pitchFamily="34" charset="0"/>
                  </a:rPr>
                  <a:t>được</a:t>
                </a:r>
                <a:r>
                  <a:rPr lang="en-US" sz="1900" dirty="0" smtClean="0">
                    <a:latin typeface="Calibri" pitchFamily="34" charset="0"/>
                    <a:cs typeface="Calibri" pitchFamily="34" charset="0"/>
                  </a:rPr>
                  <a:t> </a:t>
                </a:r>
                <a14:m>
                  <m:oMath xmlns:m="http://schemas.openxmlformats.org/officeDocument/2006/math">
                    <m:sSub>
                      <m:sSubPr>
                        <m:ctrlPr>
                          <a:rPr lang="en-US" sz="1900" b="0" i="1" smtClean="0">
                            <a:latin typeface="Cambria Math"/>
                            <a:ea typeface="Cambria Math"/>
                            <a:cs typeface="Calibri" pitchFamily="34" charset="0"/>
                          </a:rPr>
                        </m:ctrlPr>
                      </m:sSubPr>
                      <m:e>
                        <m:r>
                          <a:rPr lang="en-US" sz="1900" i="1" smtClean="0">
                            <a:latin typeface="Cambria Math"/>
                            <a:ea typeface="Cambria Math"/>
                            <a:cs typeface="Calibri" pitchFamily="34" charset="0"/>
                          </a:rPr>
                          <m:t>𝛽</m:t>
                        </m:r>
                      </m:e>
                      <m:sub>
                        <m:r>
                          <a:rPr lang="en-US" sz="1900" b="0" i="1" smtClean="0">
                            <a:latin typeface="Cambria Math"/>
                            <a:ea typeface="Cambria Math"/>
                            <a:cs typeface="Calibri" pitchFamily="34" charset="0"/>
                          </a:rPr>
                          <m:t>0</m:t>
                        </m:r>
                      </m:sub>
                    </m:sSub>
                  </m:oMath>
                </a14:m>
                <a:r>
                  <a:rPr lang="en-US" sz="1900" dirty="0" smtClean="0">
                    <a:latin typeface="Calibri" pitchFamily="34" charset="0"/>
                    <a:cs typeface="Calibri" pitchFamily="34" charset="0"/>
                  </a:rPr>
                  <a:t> </a:t>
                </a:r>
                <a:r>
                  <a:rPr lang="en-US" sz="1900" dirty="0">
                    <a:latin typeface="Calibri" pitchFamily="34" charset="0"/>
                    <a:cs typeface="Calibri" pitchFamily="34" charset="0"/>
                  </a:rPr>
                  <a:t>là </a:t>
                </a:r>
                <a:r>
                  <a:rPr lang="en-US" sz="1900" dirty="0" err="1">
                    <a:latin typeface="Calibri" pitchFamily="34" charset="0"/>
                    <a:cs typeface="Calibri" pitchFamily="34" charset="0"/>
                  </a:rPr>
                  <a:t>hê</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số</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nam</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va</a:t>
                </a:r>
                <a:r>
                  <a:rPr lang="en-US" sz="1900" dirty="0" smtClean="0">
                    <a:latin typeface="Calibri" pitchFamily="34" charset="0"/>
                    <a:cs typeface="Calibri" pitchFamily="34" charset="0"/>
                  </a:rPr>
                  <a:t>̀ </a:t>
                </a:r>
                <a14:m>
                  <m:oMath xmlns:m="http://schemas.openxmlformats.org/officeDocument/2006/math">
                    <m:sSub>
                      <m:sSubPr>
                        <m:ctrlPr>
                          <a:rPr lang="en-US" sz="1900" b="0" i="1" smtClean="0">
                            <a:latin typeface="Cambria Math"/>
                            <a:ea typeface="Cambria Math"/>
                            <a:cs typeface="Calibri" pitchFamily="34" charset="0"/>
                          </a:rPr>
                        </m:ctrlPr>
                      </m:sSubPr>
                      <m:e>
                        <m:r>
                          <a:rPr lang="en-US" sz="1900" i="1" smtClean="0">
                            <a:latin typeface="Cambria Math"/>
                            <a:ea typeface="Cambria Math"/>
                            <a:cs typeface="Calibri" pitchFamily="34" charset="0"/>
                          </a:rPr>
                          <m:t>𝛽</m:t>
                        </m:r>
                      </m:e>
                      <m:sub>
                        <m:r>
                          <a:rPr lang="en-US" sz="1900" b="0" i="1" smtClean="0">
                            <a:latin typeface="Cambria Math"/>
                            <a:ea typeface="Cambria Math"/>
                            <a:cs typeface="Calibri" pitchFamily="34" charset="0"/>
                          </a:rPr>
                          <m:t>0</m:t>
                        </m:r>
                      </m:sub>
                    </m:sSub>
                    <m:r>
                      <a:rPr lang="en-US" sz="1900" b="0" i="1" smtClean="0">
                        <a:latin typeface="Cambria Math"/>
                        <a:ea typeface="Cambria Math"/>
                        <a:cs typeface="Calibri" pitchFamily="34" charset="0"/>
                      </a:rPr>
                      <m:t>+</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𝛿</m:t>
                        </m:r>
                      </m:e>
                      <m:sub>
                        <m:r>
                          <a:rPr lang="en-US" sz="1900" b="0" i="1" smtClean="0">
                            <a:latin typeface="Cambria Math"/>
                            <a:ea typeface="Cambria Math"/>
                            <a:cs typeface="Calibri" pitchFamily="34" charset="0"/>
                          </a:rPr>
                          <m:t>0</m:t>
                        </m:r>
                      </m:sub>
                    </m:sSub>
                  </m:oMath>
                </a14:m>
                <a:r>
                  <a:rPr lang="en-US" sz="1900" dirty="0" smtClean="0">
                    <a:latin typeface="Calibri" pitchFamily="34" charset="0"/>
                    <a:cs typeface="Calibri" pitchFamily="34" charset="0"/>
                  </a:rPr>
                  <a:t> </a:t>
                </a:r>
                <a:r>
                  <a:rPr lang="en-US" sz="1900" dirty="0">
                    <a:latin typeface="Calibri" pitchFamily="34" charset="0"/>
                    <a:cs typeface="Calibri" pitchFamily="34" charset="0"/>
                  </a:rPr>
                  <a:t>là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nư</a:t>
                </a:r>
                <a:r>
                  <a:rPr lang="en-US" sz="1900" dirty="0" smtClean="0">
                    <a:latin typeface="Calibri" pitchFamily="34" charset="0"/>
                    <a:cs typeface="Calibri" pitchFamily="34" charset="0"/>
                  </a:rPr>
                  <a:t>̃. Do </a:t>
                </a:r>
                <a:r>
                  <a:rPr lang="en-US" sz="1900" dirty="0" err="1" smtClean="0">
                    <a:latin typeface="Calibri" pitchFamily="34" charset="0"/>
                    <a:cs typeface="Calibri" pitchFamily="34" charset="0"/>
                  </a:rPr>
                  <a:t>chỉ</a:t>
                </a:r>
                <a:r>
                  <a:rPr lang="en-US" sz="1900" dirty="0" smtClean="0">
                    <a:latin typeface="Calibri" pitchFamily="34" charset="0"/>
                    <a:cs typeface="Calibri" pitchFamily="34" charset="0"/>
                  </a:rPr>
                  <a:t> </a:t>
                </a:r>
                <a:r>
                  <a:rPr lang="en-US" sz="1900" dirty="0">
                    <a:latin typeface="Calibri" pitchFamily="34" charset="0"/>
                    <a:cs typeface="Calibri" pitchFamily="34" charset="0"/>
                  </a:rPr>
                  <a:t>có 2 </a:t>
                </a:r>
                <a:r>
                  <a:rPr lang="en-US" sz="1900" dirty="0" err="1">
                    <a:latin typeface="Calibri" pitchFamily="34" charset="0"/>
                    <a:cs typeface="Calibri" pitchFamily="34" charset="0"/>
                  </a:rPr>
                  <a:t>nhóm</a:t>
                </a:r>
                <a:r>
                  <a:rPr lang="en-US" sz="1900" dirty="0">
                    <a:latin typeface="Calibri" pitchFamily="34" charset="0"/>
                    <a:cs typeface="Calibri" pitchFamily="34" charset="0"/>
                  </a:rPr>
                  <a:t>, ta chỉ </a:t>
                </a:r>
                <a:r>
                  <a:rPr lang="en-US" sz="1900" dirty="0" err="1">
                    <a:latin typeface="Calibri" pitchFamily="34" charset="0"/>
                    <a:cs typeface="Calibri" pitchFamily="34" charset="0"/>
                  </a:rPr>
                  <a:t>cần</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dụng</a:t>
                </a:r>
                <a:r>
                  <a:rPr lang="en-US" sz="1900" dirty="0">
                    <a:latin typeface="Calibri" pitchFamily="34" charset="0"/>
                    <a:cs typeface="Calibri" pitchFamily="34" charset="0"/>
                  </a:rPr>
                  <a:t> 1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mà </a:t>
                </a:r>
                <a:r>
                  <a:rPr lang="en-US" sz="1900" dirty="0" err="1" smtClean="0">
                    <a:latin typeface="Calibri" pitchFamily="34" charset="0"/>
                    <a:cs typeface="Calibri" pitchFamily="34" charset="0"/>
                  </a:rPr>
                  <a:t>thôi</a:t>
                </a:r>
                <a:r>
                  <a:rPr lang="en-US" sz="1900" dirty="0" smtClean="0">
                    <a:latin typeface="Calibri" pitchFamily="34" charset="0"/>
                    <a:cs typeface="Calibri" pitchFamily="34" charset="0"/>
                  </a:rPr>
                  <a:t>. Ta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dụng</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để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gán</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nư</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dụng</a:t>
                </a:r>
                <a:r>
                  <a:rPr lang="en-US" sz="1900" dirty="0">
                    <a:latin typeface="Calibri" pitchFamily="34" charset="0"/>
                    <a:cs typeface="Calibri" pitchFamily="34" charset="0"/>
                  </a:rPr>
                  <a:t> 2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sẽ </a:t>
                </a:r>
                <a:r>
                  <a:rPr lang="en-US" sz="1900" dirty="0" err="1">
                    <a:latin typeface="Calibri" pitchFamily="34" charset="0"/>
                    <a:cs typeface="Calibri" pitchFamily="34" charset="0"/>
                  </a:rPr>
                  <a:t>sinh</a:t>
                </a:r>
                <a:r>
                  <a:rPr lang="en-US" sz="1900" dirty="0">
                    <a:latin typeface="Calibri" pitchFamily="34" charset="0"/>
                    <a:cs typeface="Calibri" pitchFamily="34" charset="0"/>
                  </a:rPr>
                  <a:t> </a:t>
                </a:r>
                <a:r>
                  <a:rPr lang="en-US" sz="1900" dirty="0" err="1">
                    <a:latin typeface="Calibri" pitchFamily="34" charset="0"/>
                    <a:cs typeface="Calibri" pitchFamily="34" charset="0"/>
                  </a:rPr>
                  <a:t>ra</a:t>
                </a:r>
                <a:r>
                  <a:rPr lang="en-US" sz="1900" dirty="0">
                    <a:latin typeface="Calibri" pitchFamily="34" charset="0"/>
                    <a:cs typeface="Calibri" pitchFamily="34" charset="0"/>
                  </a:rPr>
                  <a:t> </a:t>
                </a:r>
                <a:r>
                  <a:rPr lang="en-US" sz="1900" dirty="0" err="1">
                    <a:latin typeface="Calibri" pitchFamily="34" charset="0"/>
                    <a:cs typeface="Calibri" pitchFamily="34" charset="0"/>
                  </a:rPr>
                  <a:t>mối</a:t>
                </a:r>
                <a:r>
                  <a:rPr lang="en-US" sz="1900" dirty="0">
                    <a:latin typeface="Calibri" pitchFamily="34" charset="0"/>
                    <a:cs typeface="Calibri" pitchFamily="34" charset="0"/>
                  </a:rPr>
                  <a:t> </a:t>
                </a:r>
                <a:r>
                  <a:rPr lang="en-US" sz="1900" dirty="0" err="1">
                    <a:latin typeface="Calibri" pitchFamily="34" charset="0"/>
                    <a:cs typeface="Calibri" pitchFamily="34" charset="0"/>
                  </a:rPr>
                  <a:t>quan</a:t>
                </a:r>
                <a:r>
                  <a:rPr lang="en-US" sz="1900" dirty="0">
                    <a:latin typeface="Calibri" pitchFamily="34" charset="0"/>
                    <a:cs typeface="Calibri" pitchFamily="34" charset="0"/>
                  </a:rPr>
                  <a:t> </a:t>
                </a:r>
                <a:r>
                  <a:rPr lang="en-US" sz="1900" dirty="0" err="1">
                    <a:latin typeface="Calibri" pitchFamily="34" charset="0"/>
                    <a:cs typeface="Calibri" pitchFamily="34" charset="0"/>
                  </a:rPr>
                  <a:t>hê</a:t>
                </a:r>
                <a:r>
                  <a:rPr lang="en-US" sz="1900" dirty="0">
                    <a:latin typeface="Calibri" pitchFamily="34" charset="0"/>
                    <a:cs typeface="Calibri" pitchFamily="34" charset="0"/>
                  </a:rPr>
                  <a:t>̣ </a:t>
                </a:r>
                <a:r>
                  <a:rPr lang="en-US" sz="1900" dirty="0" err="1">
                    <a:latin typeface="Calibri" pitchFamily="34" charset="0"/>
                    <a:cs typeface="Calibri" pitchFamily="34" charset="0"/>
                  </a:rPr>
                  <a:t>cộng</a:t>
                </a:r>
                <a:r>
                  <a:rPr lang="en-US" sz="1900" dirty="0">
                    <a:latin typeface="Calibri" pitchFamily="34" charset="0"/>
                    <a:cs typeface="Calibri" pitchFamily="34" charset="0"/>
                  </a:rPr>
                  <a:t> </a:t>
                </a:r>
                <a:r>
                  <a:rPr lang="en-US" sz="1900" dirty="0" err="1">
                    <a:latin typeface="Calibri" pitchFamily="34" charset="0"/>
                    <a:cs typeface="Calibri" pitchFamily="34" charset="0"/>
                  </a:rPr>
                  <a:t>tuyến</a:t>
                </a:r>
                <a:r>
                  <a:rPr lang="en-US" sz="1900" dirty="0">
                    <a:latin typeface="Calibri" pitchFamily="34" charset="0"/>
                    <a:cs typeface="Calibri" pitchFamily="34" charset="0"/>
                  </a:rPr>
                  <a:t> </a:t>
                </a:r>
                <a:r>
                  <a:rPr lang="en-US" sz="1900" dirty="0" err="1">
                    <a:latin typeface="Calibri" pitchFamily="34" charset="0"/>
                    <a:cs typeface="Calibri" pitchFamily="34" charset="0"/>
                  </a:rPr>
                  <a:t>hoàn</a:t>
                </a:r>
                <a:r>
                  <a:rPr lang="en-US" sz="1900" dirty="0">
                    <a:latin typeface="Calibri" pitchFamily="34" charset="0"/>
                    <a:cs typeface="Calibri" pitchFamily="34" charset="0"/>
                  </a:rPr>
                  <a:t> </a:t>
                </a:r>
                <a:r>
                  <a:rPr lang="en-US" sz="1900" dirty="0" err="1">
                    <a:latin typeface="Calibri" pitchFamily="34" charset="0"/>
                    <a:cs typeface="Calibri" pitchFamily="34" charset="0"/>
                  </a:rPr>
                  <a:t>hảo</a:t>
                </a:r>
                <a:r>
                  <a:rPr lang="en-US" sz="1900" dirty="0">
                    <a:latin typeface="Calibri" pitchFamily="34" charset="0"/>
                    <a:cs typeface="Calibri" pitchFamily="34" charset="0"/>
                  </a:rPr>
                  <a:t> (female </a:t>
                </a:r>
                <a:r>
                  <a:rPr lang="en-US" sz="1900" dirty="0" smtClean="0">
                    <a:latin typeface="Calibri" pitchFamily="34" charset="0"/>
                    <a:cs typeface="Calibri" pitchFamily="34" charset="0"/>
                  </a:rPr>
                  <a:t>+ male = 1</a:t>
                </a:r>
                <a:r>
                  <a:rPr lang="en-US" sz="1900" dirty="0">
                    <a:latin typeface="Calibri" pitchFamily="34" charset="0"/>
                    <a:cs typeface="Calibri" pitchFamily="34" charset="0"/>
                  </a:rPr>
                  <a:t>). </a:t>
                </a:r>
                <a:r>
                  <a:rPr lang="en-US" sz="1900" dirty="0" err="1">
                    <a:latin typeface="Calibri" pitchFamily="34" charset="0"/>
                    <a:cs typeface="Calibri" pitchFamily="34" charset="0"/>
                  </a:rPr>
                  <a:t>Bao</a:t>
                </a:r>
                <a:r>
                  <a:rPr lang="en-US" sz="1900" dirty="0">
                    <a:latin typeface="Calibri" pitchFamily="34" charset="0"/>
                    <a:cs typeface="Calibri" pitchFamily="34" charset="0"/>
                  </a:rPr>
                  <a:t> </a:t>
                </a:r>
                <a:r>
                  <a:rPr lang="en-US" sz="1900" dirty="0" err="1">
                    <a:latin typeface="Calibri" pitchFamily="34" charset="0"/>
                    <a:cs typeface="Calibri" pitchFamily="34" charset="0"/>
                  </a:rPr>
                  <a:t>hàm</a:t>
                </a:r>
                <a:r>
                  <a:rPr lang="en-US" sz="1900" dirty="0">
                    <a:latin typeface="Calibri" pitchFamily="34" charset="0"/>
                    <a:cs typeface="Calibri" pitchFamily="34" charset="0"/>
                  </a:rPr>
                  <a:t>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lúc</a:t>
                </a:r>
                <a:r>
                  <a:rPr lang="en-US" sz="1900" dirty="0">
                    <a:latin typeface="Calibri" pitchFamily="34" charset="0"/>
                    <a:cs typeface="Calibri" pitchFamily="34" charset="0"/>
                  </a:rPr>
                  <a:t> 2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ca</a:t>
                </a:r>
                <a:r>
                  <a:rPr lang="en-US" sz="1900" dirty="0">
                    <a:latin typeface="Calibri" pitchFamily="34" charset="0"/>
                    <a:cs typeface="Calibri" pitchFamily="34" charset="0"/>
                  </a:rPr>
                  <a:t>̉ 2 </a:t>
                </a:r>
                <a:r>
                  <a:rPr lang="en-US" sz="1900" dirty="0" err="1">
                    <a:latin typeface="Calibri" pitchFamily="34" charset="0"/>
                    <a:cs typeface="Calibri" pitchFamily="34" charset="0"/>
                  </a:rPr>
                  <a:t>giới</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là ví dụ </a:t>
                </a:r>
                <a:r>
                  <a:rPr lang="en-US" sz="1900" dirty="0" err="1">
                    <a:latin typeface="Calibri" pitchFamily="34" charset="0"/>
                    <a:cs typeface="Calibri" pitchFamily="34" charset="0"/>
                  </a:rPr>
                  <a:t>điểm</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về</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việc</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chúng</a:t>
                </a:r>
                <a:r>
                  <a:rPr lang="en-US" sz="1900" dirty="0">
                    <a:latin typeface="Calibri" pitchFamily="34" charset="0"/>
                    <a:cs typeface="Calibri" pitchFamily="34" charset="0"/>
                  </a:rPr>
                  <a:t> ta </a:t>
                </a:r>
                <a:r>
                  <a:rPr lang="en-US" sz="1900" dirty="0" err="1">
                    <a:latin typeface="Calibri" pitchFamily="34" charset="0"/>
                    <a:cs typeface="Calibri" pitchFamily="34" charset="0"/>
                  </a:rPr>
                  <a:t>mắc</a:t>
                </a:r>
                <a:r>
                  <a:rPr lang="en-US" sz="1900" dirty="0">
                    <a:latin typeface="Calibri" pitchFamily="34" charset="0"/>
                    <a:cs typeface="Calibri" pitchFamily="34" charset="0"/>
                  </a:rPr>
                  <a:t> </a:t>
                </a:r>
                <a:r>
                  <a:rPr lang="en-US" sz="1900" dirty="0" err="1">
                    <a:latin typeface="Calibri" pitchFamily="34" charset="0"/>
                    <a:cs typeface="Calibri" pitchFamily="34" charset="0"/>
                  </a:rPr>
                  <a:t>phải</a:t>
                </a:r>
                <a:r>
                  <a:rPr lang="en-US" sz="1900" dirty="0">
                    <a:latin typeface="Calibri" pitchFamily="34" charset="0"/>
                    <a:cs typeface="Calibri" pitchFamily="34" charset="0"/>
                  </a:rPr>
                  <a:t>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bẫy</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được</a:t>
                </a:r>
                <a:r>
                  <a:rPr lang="en-US" sz="1900" dirty="0">
                    <a:latin typeface="Calibri" pitchFamily="34" charset="0"/>
                    <a:cs typeface="Calibri" pitchFamily="34" charset="0"/>
                  </a:rPr>
                  <a:t> </a:t>
                </a:r>
                <a:r>
                  <a:rPr lang="en-US" sz="1900" dirty="0" err="1">
                    <a:latin typeface="Calibri" pitchFamily="34" charset="0"/>
                    <a:cs typeface="Calibri" pitchFamily="34" charset="0"/>
                  </a:rPr>
                  <a:t>gọi</a:t>
                </a:r>
                <a:r>
                  <a:rPr lang="en-US" sz="1900" dirty="0">
                    <a:latin typeface="Calibri" pitchFamily="34" charset="0"/>
                    <a:cs typeface="Calibri" pitchFamily="34" charset="0"/>
                  </a:rPr>
                  <a:t> là </a:t>
                </a:r>
                <a:r>
                  <a:rPr lang="en-US" sz="1900" dirty="0" err="1">
                    <a:latin typeface="Calibri" pitchFamily="34" charset="0"/>
                    <a:cs typeface="Calibri" pitchFamily="34" charset="0"/>
                  </a:rPr>
                  <a:t>bẫy</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gia</a:t>
                </a:r>
                <a:r>
                  <a:rPr lang="en-US" sz="1900" dirty="0" smtClean="0">
                    <a:latin typeface="Calibri" pitchFamily="34" charset="0"/>
                    <a:cs typeface="Calibri" pitchFamily="34" charset="0"/>
                  </a:rPr>
                  <a:t>̉ (</a:t>
                </a:r>
                <a:r>
                  <a:rPr lang="en-US" sz="1900" dirty="0">
                    <a:latin typeface="Calibri" pitchFamily="34" charset="0"/>
                    <a:cs typeface="Calibri" pitchFamily="34" charset="0"/>
                  </a:rPr>
                  <a:t>dummy variable trap</a:t>
                </a:r>
                <a:r>
                  <a:rPr lang="en-US" sz="1900" dirty="0" smtClean="0">
                    <a:latin typeface="Calibri" pitchFamily="34" charset="0"/>
                    <a:cs typeface="Calibri" pitchFamily="34" charset="0"/>
                  </a:rPr>
                  <a:t>). </a:t>
                </a:r>
              </a:p>
              <a:p>
                <a:pPr marL="109728" indent="0" algn="just">
                  <a:buNone/>
                </a:pPr>
                <a:endParaRPr lang="en-US" sz="1900" dirty="0">
                  <a:latin typeface="Calibri" pitchFamily="34" charset="0"/>
                  <a:cs typeface="Calibri" pitchFamily="34" charset="0"/>
                </a:endParaRPr>
              </a:p>
              <a:p>
                <a:pPr algn="just"/>
                <a:r>
                  <a:rPr lang="en-US" sz="1900" dirty="0">
                    <a:latin typeface="Calibri" pitchFamily="34" charset="0"/>
                    <a:cs typeface="Calibri" pitchFamily="34" charset="0"/>
                  </a:rPr>
                  <a:t>Ta </a:t>
                </a:r>
                <a:r>
                  <a:rPr lang="en-US" sz="1900" dirty="0" err="1">
                    <a:latin typeface="Calibri" pitchFamily="34" charset="0"/>
                    <a:cs typeface="Calibri" pitchFamily="34" charset="0"/>
                  </a:rPr>
                  <a:t>cần</a:t>
                </a:r>
                <a:r>
                  <a:rPr lang="en-US" sz="1900" dirty="0">
                    <a:latin typeface="Calibri" pitchFamily="34" charset="0"/>
                    <a:cs typeface="Calibri" pitchFamily="34" charset="0"/>
                  </a:rPr>
                  <a:t> </a:t>
                </a:r>
                <a:r>
                  <a:rPr lang="en-US" sz="1900" dirty="0" err="1">
                    <a:latin typeface="Calibri" pitchFamily="34" charset="0"/>
                    <a:cs typeface="Calibri" pitchFamily="34" charset="0"/>
                  </a:rPr>
                  <a:t>lưu</a:t>
                </a:r>
                <a:r>
                  <a:rPr lang="en-US" sz="1900" dirty="0">
                    <a:latin typeface="Calibri" pitchFamily="34" charset="0"/>
                    <a:cs typeface="Calibri" pitchFamily="34" charset="0"/>
                  </a:rPr>
                  <a:t> ý </a:t>
                </a:r>
                <a:r>
                  <a:rPr lang="en-US" sz="1900" dirty="0" err="1">
                    <a:latin typeface="Calibri" pitchFamily="34" charset="0"/>
                    <a:cs typeface="Calibri" pitchFamily="34" charset="0"/>
                  </a:rPr>
                  <a:t>khi</a:t>
                </a:r>
                <a:r>
                  <a:rPr lang="en-US" sz="1900" dirty="0">
                    <a:latin typeface="Calibri" pitchFamily="34" charset="0"/>
                    <a:cs typeface="Calibri" pitchFamily="34" charset="0"/>
                  </a:rPr>
                  <a:t> </a:t>
                </a:r>
                <a:r>
                  <a:rPr lang="en-US" sz="1900" dirty="0" err="1">
                    <a:latin typeface="Calibri" pitchFamily="34" charset="0"/>
                    <a:cs typeface="Calibri" pitchFamily="34" charset="0"/>
                  </a:rPr>
                  <a:t>đặt</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gia</a:t>
                </a:r>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a:p>
                <a:pPr lvl="1" algn="just">
                  <a:buFont typeface="Wingdings" pitchFamily="2" charset="2"/>
                  <a:buChar char="Ø"/>
                </a:pPr>
                <a:r>
                  <a:rPr lang="en-US" sz="1900" dirty="0" err="1" smtClean="0">
                    <a:latin typeface="Calibri" pitchFamily="34" charset="0"/>
                    <a:cs typeface="Calibri" pitchFamily="34" charset="0"/>
                  </a:rPr>
                  <a:t>Trong</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phạm</a:t>
                </a:r>
                <a:r>
                  <a:rPr lang="en-US" sz="1900" dirty="0">
                    <a:latin typeface="Calibri" pitchFamily="34" charset="0"/>
                    <a:cs typeface="Calibri" pitchFamily="34" charset="0"/>
                  </a:rPr>
                  <a:t> vi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chúng</a:t>
                </a:r>
                <a:r>
                  <a:rPr lang="en-US" sz="1900" dirty="0">
                    <a:latin typeface="Calibri" pitchFamily="34" charset="0"/>
                    <a:cs typeface="Calibri" pitchFamily="34" charset="0"/>
                  </a:rPr>
                  <a:t> ta </a:t>
                </a:r>
                <a:r>
                  <a:rPr lang="en-US" sz="1900" dirty="0" err="1">
                    <a:latin typeface="Calibri" pitchFamily="34" charset="0"/>
                    <a:cs typeface="Calibri" pitchFamily="34" charset="0"/>
                  </a:rPr>
                  <a:t>xét</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nếu</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có m </a:t>
                </a:r>
                <a:r>
                  <a:rPr lang="en-US" sz="1900" dirty="0" err="1" smtClean="0">
                    <a:latin typeface="Calibri" pitchFamily="34" charset="0"/>
                    <a:cs typeface="Calibri" pitchFamily="34" charset="0"/>
                  </a:rPr>
                  <a:t>loại</a:t>
                </a:r>
                <a:r>
                  <a:rPr lang="en-US" sz="1900" dirty="0">
                    <a:latin typeface="Calibri" pitchFamily="34" charset="0"/>
                    <a:cs typeface="Calibri" pitchFamily="34" charset="0"/>
                  </a:rPr>
                  <a:t>,</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thì</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chúng</a:t>
                </a:r>
                <a:r>
                  <a:rPr lang="en-US" sz="1900" dirty="0" smtClean="0">
                    <a:latin typeface="Calibri" pitchFamily="34" charset="0"/>
                    <a:cs typeface="Calibri" pitchFamily="34" charset="0"/>
                  </a:rPr>
                  <a:t> </a:t>
                </a:r>
                <a:r>
                  <a:rPr lang="en-US" sz="1900" dirty="0">
                    <a:latin typeface="Calibri" pitchFamily="34" charset="0"/>
                    <a:cs typeface="Calibri" pitchFamily="34" charset="0"/>
                  </a:rPr>
                  <a:t>ta chỉ </a:t>
                </a:r>
                <a:r>
                  <a:rPr lang="en-US" sz="1900" dirty="0" err="1">
                    <a:latin typeface="Calibri" pitchFamily="34" charset="0"/>
                    <a:cs typeface="Calibri" pitchFamily="34" charset="0"/>
                  </a:rPr>
                  <a:t>gán</a:t>
                </a:r>
                <a:r>
                  <a:rPr lang="en-US" sz="1900" dirty="0">
                    <a:latin typeface="Calibri" pitchFamily="34" charset="0"/>
                    <a:cs typeface="Calibri" pitchFamily="34" charset="0"/>
                  </a:rPr>
                  <a:t> (m-1)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thôi</a:t>
                </a:r>
                <a:r>
                  <a:rPr lang="en-US" sz="1900" dirty="0">
                    <a:latin typeface="Calibri" pitchFamily="34" charset="0"/>
                    <a:cs typeface="Calibri" pitchFamily="34" charset="0"/>
                  </a:rPr>
                  <a:t>.</a:t>
                </a:r>
              </a:p>
              <a:p>
                <a:pPr lvl="1" algn="just">
                  <a:buFont typeface="Wingdings" pitchFamily="2" charset="2"/>
                  <a:buChar char="Ø"/>
                </a:pPr>
                <a:r>
                  <a:rPr lang="en-US" sz="1900" dirty="0" err="1" smtClean="0">
                    <a:latin typeface="Calibri" pitchFamily="34" charset="0"/>
                    <a:cs typeface="Calibri" pitchFamily="34" charset="0"/>
                  </a:rPr>
                  <a:t>Trong</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trên</a:t>
                </a:r>
                <a:r>
                  <a:rPr lang="en-US" sz="1900" dirty="0">
                    <a:latin typeface="Calibri" pitchFamily="34" charset="0"/>
                    <a:cs typeface="Calibri" pitchFamily="34" charset="0"/>
                  </a:rPr>
                  <a:t>, </a:t>
                </a:r>
                <a:r>
                  <a:rPr lang="en-US" sz="1900" dirty="0" err="1">
                    <a:latin typeface="Calibri" pitchFamily="34" charset="0"/>
                    <a:cs typeface="Calibri" pitchFamily="34" charset="0"/>
                  </a:rPr>
                  <a:t>giới</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có 2 </a:t>
                </a:r>
                <a:r>
                  <a:rPr lang="en-US" sz="1900" dirty="0" err="1">
                    <a:latin typeface="Calibri" pitchFamily="34" charset="0"/>
                    <a:cs typeface="Calibri" pitchFamily="34" charset="0"/>
                  </a:rPr>
                  <a:t>loại</a:t>
                </a:r>
                <a:r>
                  <a:rPr lang="en-US" sz="1900" dirty="0">
                    <a:latin typeface="Calibri" pitchFamily="34" charset="0"/>
                    <a:cs typeface="Calibri" pitchFamily="34" charset="0"/>
                  </a:rPr>
                  <a:t>, male </a:t>
                </a:r>
                <a:r>
                  <a:rPr lang="en-US" sz="1900" dirty="0" err="1">
                    <a:latin typeface="Calibri" pitchFamily="34" charset="0"/>
                    <a:cs typeface="Calibri" pitchFamily="34" charset="0"/>
                  </a:rPr>
                  <a:t>va</a:t>
                </a:r>
                <a:r>
                  <a:rPr lang="en-US" sz="1900" dirty="0">
                    <a:latin typeface="Calibri" pitchFamily="34" charset="0"/>
                    <a:cs typeface="Calibri" pitchFamily="34" charset="0"/>
                  </a:rPr>
                  <a:t>̀ female, </a:t>
                </a:r>
                <a:r>
                  <a:rPr lang="en-US" sz="1900" dirty="0" err="1">
                    <a:latin typeface="Calibri" pitchFamily="34" charset="0"/>
                    <a:cs typeface="Calibri" pitchFamily="34" charset="0"/>
                  </a:rPr>
                  <a:t>nên</a:t>
                </a:r>
                <a:r>
                  <a:rPr lang="en-US" sz="1900" dirty="0">
                    <a:latin typeface="Calibri" pitchFamily="34" charset="0"/>
                    <a:cs typeface="Calibri" pitchFamily="34" charset="0"/>
                  </a:rPr>
                  <a:t> ta chỉ </a:t>
                </a:r>
                <a:r>
                  <a:rPr lang="en-US" sz="1900" dirty="0" err="1">
                    <a:latin typeface="Calibri" pitchFamily="34" charset="0"/>
                    <a:cs typeface="Calibri" pitchFamily="34" charset="0"/>
                  </a:rPr>
                  <a:t>đặt</a:t>
                </a:r>
                <a:r>
                  <a:rPr lang="en-US" sz="1900" dirty="0">
                    <a:latin typeface="Calibri" pitchFamily="34" charset="0"/>
                    <a:cs typeface="Calibri" pitchFamily="34" charset="0"/>
                  </a:rPr>
                  <a:t> 1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để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lương</a:t>
                </a:r>
                <a:r>
                  <a:rPr lang="en-US" sz="1900" dirty="0">
                    <a:latin typeface="Calibri" pitchFamily="34" charset="0"/>
                    <a:cs typeface="Calibri" pitchFamily="34" charset="0"/>
                  </a:rPr>
                  <a:t> </a:t>
                </a:r>
                <a:r>
                  <a:rPr lang="en-US" sz="1900" dirty="0" err="1">
                    <a:latin typeface="Calibri" pitchFamily="34" charset="0"/>
                    <a:cs typeface="Calibri" pitchFamily="34" charset="0"/>
                  </a:rPr>
                  <a:t>hóa</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về</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vấn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đề</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giới</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a:t>
                </a:r>
                <a:r>
                  <a:rPr lang="en-US" sz="1900" dirty="0" err="1">
                    <a:latin typeface="Calibri" pitchFamily="34" charset="0"/>
                    <a:cs typeface="Calibri" pitchFamily="34" charset="0"/>
                  </a:rPr>
                  <a:t>trong</a:t>
                </a:r>
                <a:r>
                  <a:rPr lang="en-US" sz="1900" dirty="0">
                    <a:latin typeface="Calibri" pitchFamily="34" charset="0"/>
                    <a:cs typeface="Calibri" pitchFamily="34" charset="0"/>
                  </a:rPr>
                  <a:t> </a:t>
                </a:r>
                <a:r>
                  <a:rPr lang="en-US" sz="1900" dirty="0" err="1">
                    <a:latin typeface="Calibri" pitchFamily="34" charset="0"/>
                    <a:cs typeface="Calibri" pitchFamily="34" charset="0"/>
                  </a:rPr>
                  <a:t>hồi</a:t>
                </a:r>
                <a:r>
                  <a:rPr lang="en-US" sz="1900" dirty="0">
                    <a:latin typeface="Calibri" pitchFamily="34" charset="0"/>
                    <a:cs typeface="Calibri" pitchFamily="34" charset="0"/>
                  </a:rPr>
                  <a:t> </a:t>
                </a:r>
                <a:r>
                  <a:rPr lang="en-US" sz="1900" dirty="0" smtClean="0">
                    <a:latin typeface="Calibri" pitchFamily="34" charset="0"/>
                    <a:cs typeface="Calibri" pitchFamily="34" charset="0"/>
                  </a:rPr>
                  <a:t>qui.</a:t>
                </a:r>
                <a:endParaRPr lang="en-US" sz="1900" dirty="0">
                  <a:latin typeface="Calibri" pitchFamily="34" charset="0"/>
                  <a:cs typeface="Calibri" pitchFamily="34" charset="0"/>
                </a:endParaRPr>
              </a:p>
              <a:p>
                <a:endParaRPr lang="en-US" sz="1900"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348" r="-667"/>
                </a:stretch>
              </a:blipFill>
            </p:spPr>
            <p:txBody>
              <a:bodyPr/>
              <a:lstStyle/>
              <a:p>
                <a:r>
                  <a:rPr lang="en-US">
                    <a:noFill/>
                  </a:rPr>
                  <a:t> </a:t>
                </a:r>
              </a:p>
            </p:txBody>
          </p:sp>
        </mc:Fallback>
      </mc:AlternateContent>
      <p:sp>
        <p:nvSpPr>
          <p:cNvPr id="3" name="Title 2"/>
          <p:cNvSpPr>
            <a:spLocks noGrp="1"/>
          </p:cNvSpPr>
          <p:nvPr>
            <p:ph type="title"/>
          </p:nvPr>
        </p:nvSpPr>
        <p:spPr>
          <a:xfrm>
            <a:off x="457200" y="274638"/>
            <a:ext cx="8229600" cy="922114"/>
          </a:xfrm>
        </p:spPr>
        <p:txBody>
          <a:bodyPr>
            <a:normAutofit fontScale="90000"/>
          </a:bodyPr>
          <a:lstStyle/>
          <a:p>
            <a:r>
              <a:rPr lang="en-US" dirty="0" err="1">
                <a:solidFill>
                  <a:srgbClr val="FF0000"/>
                </a:solidFill>
                <a:effectLst/>
                <a:latin typeface="Calibri" pitchFamily="34" charset="0"/>
                <a:cs typeface="Calibri" pitchFamily="34" charset="0"/>
              </a:rPr>
              <a:t>Vậy</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khi</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đặt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gia</a:t>
            </a:r>
            <a:r>
              <a:rPr lang="en-US" dirty="0">
                <a:solidFill>
                  <a:srgbClr val="FF0000"/>
                </a:solidFill>
                <a:effectLst/>
                <a:latin typeface="Calibri" pitchFamily="34" charset="0"/>
                <a:cs typeface="Calibri" pitchFamily="34" charset="0"/>
              </a:rPr>
              <a:t>̉, ta </a:t>
            </a:r>
            <a:r>
              <a:rPr lang="en-US" dirty="0" err="1">
                <a:solidFill>
                  <a:srgbClr val="FF0000"/>
                </a:solidFill>
                <a:effectLst/>
                <a:latin typeface="Calibri" pitchFamily="34" charset="0"/>
                <a:cs typeface="Calibri" pitchFamily="34" charset="0"/>
              </a:rPr>
              <a:t>cần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lưu</a:t>
            </a:r>
            <a:r>
              <a:rPr lang="en-US" dirty="0">
                <a:solidFill>
                  <a:srgbClr val="FF0000"/>
                </a:solidFill>
                <a:effectLst/>
                <a:latin typeface="Calibri" pitchFamily="34" charset="0"/>
                <a:cs typeface="Calibri" pitchFamily="34" charset="0"/>
              </a:rPr>
              <a:t> ý </a:t>
            </a:r>
            <a:r>
              <a:rPr lang="en-US" dirty="0" err="1">
                <a:solidFill>
                  <a:srgbClr val="FF0000"/>
                </a:solidFill>
                <a:effectLst/>
                <a:latin typeface="Calibri" pitchFamily="34" charset="0"/>
                <a:cs typeface="Calibri" pitchFamily="34" charset="0"/>
              </a:rPr>
              <a:t>điều</a:t>
            </a:r>
            <a:r>
              <a:rPr lang="en-US" dirty="0">
                <a:solidFill>
                  <a:srgbClr val="FF0000"/>
                </a:solidFill>
                <a:effectLst/>
                <a:latin typeface="Calibri" pitchFamily="34" charset="0"/>
                <a:cs typeface="Calibri" pitchFamily="34" charset="0"/>
              </a:rPr>
              <a:t> </a:t>
            </a:r>
            <a:r>
              <a:rPr lang="en-US" dirty="0" err="1" smtClean="0">
                <a:solidFill>
                  <a:srgbClr val="FF0000"/>
                </a:solidFill>
                <a:effectLst/>
                <a:latin typeface="Calibri" pitchFamily="34" charset="0"/>
                <a:cs typeface="Calibri" pitchFamily="34" charset="0"/>
              </a:rPr>
              <a:t>gì</a:t>
            </a:r>
            <a:r>
              <a:rPr lang="en-US" dirty="0" smtClean="0">
                <a:solidFill>
                  <a:srgbClr val="FF0000"/>
                </a:solidFill>
                <a:effectLst/>
                <a:latin typeface="Calibri" pitchFamily="34" charset="0"/>
                <a:cs typeface="Calibri" pitchFamily="34" charset="0"/>
              </a:rPr>
              <a:t>?</a:t>
            </a:r>
            <a:endParaRPr lang="en-US" dirty="0">
              <a:solidFill>
                <a:srgbClr val="FF0000"/>
              </a:solidFill>
              <a:latin typeface="Calibri" pitchFamily="34" charset="0"/>
              <a:cs typeface="Calibri" pitchFamily="34" charset="0"/>
            </a:endParaRPr>
          </a:p>
        </p:txBody>
      </p:sp>
    </p:spTree>
    <p:extLst>
      <p:ext uri="{BB962C8B-B14F-4D97-AF65-F5344CB8AC3E}">
        <p14:creationId xmlns:p14="http://schemas.microsoft.com/office/powerpoint/2010/main" val="13661600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481328"/>
                <a:ext cx="8219256" cy="4755984"/>
              </a:xfrm>
            </p:spPr>
            <p:txBody>
              <a:bodyPr>
                <a:normAutofit/>
              </a:bodyPr>
              <a:lstStyle/>
              <a:p>
                <a:endParaRPr lang="en-US" sz="1900" dirty="0" smtClean="0">
                  <a:latin typeface="Calibri" pitchFamily="34" charset="0"/>
                  <a:cs typeface="Calibri" pitchFamily="34" charset="0"/>
                </a:endParaRPr>
              </a:p>
              <a:p>
                <a:pPr algn="just"/>
                <a:r>
                  <a:rPr lang="en-US" sz="1900" dirty="0" err="1">
                    <a:latin typeface="Calibri" pitchFamily="34" charset="0"/>
                    <a:cs typeface="Calibri" pitchFamily="34" charset="0"/>
                  </a:rPr>
                  <a:t>Cũng</a:t>
                </a:r>
                <a:r>
                  <a:rPr lang="en-US" sz="1900" dirty="0">
                    <a:latin typeface="Calibri" pitchFamily="34" charset="0"/>
                    <a:cs typeface="Calibri" pitchFamily="34" charset="0"/>
                  </a:rPr>
                  <a:t> </a:t>
                </a:r>
                <a:r>
                  <a:rPr lang="en-US" sz="1900" dirty="0" err="1">
                    <a:latin typeface="Calibri" pitchFamily="34" charset="0"/>
                    <a:cs typeface="Calibri" pitchFamily="34" charset="0"/>
                  </a:rPr>
                  <a:t>với</a:t>
                </a:r>
                <a:r>
                  <a:rPr lang="en-US" sz="1900" dirty="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trên</a:t>
                </a:r>
                <a:r>
                  <a:rPr lang="en-US" sz="1900" dirty="0">
                    <a:latin typeface="Calibri" pitchFamily="34" charset="0"/>
                    <a:cs typeface="Calibri" pitchFamily="34" charset="0"/>
                  </a:rPr>
                  <a:t>, ta </a:t>
                </a:r>
                <a:r>
                  <a:rPr lang="en-US" sz="1900" dirty="0" err="1">
                    <a:latin typeface="Calibri" pitchFamily="34" charset="0"/>
                    <a:cs typeface="Calibri" pitchFamily="34" charset="0"/>
                  </a:rPr>
                  <a:t>thêm</a:t>
                </a:r>
                <a:r>
                  <a:rPr lang="en-US" sz="1900" dirty="0">
                    <a:latin typeface="Calibri" pitchFamily="34" charset="0"/>
                    <a:cs typeface="Calibri" pitchFamily="34" charset="0"/>
                  </a:rPr>
                  <a:t> 2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tác</a:t>
                </a:r>
                <a:r>
                  <a:rPr lang="en-US" sz="1900" dirty="0">
                    <a:latin typeface="Calibri" pitchFamily="34" charset="0"/>
                    <a:cs typeface="Calibri" pitchFamily="34" charset="0"/>
                  </a:rPr>
                  <a:t> </a:t>
                </a:r>
                <a:r>
                  <a:rPr lang="en-US" sz="1900" dirty="0" err="1">
                    <a:latin typeface="Calibri" pitchFamily="34" charset="0"/>
                    <a:cs typeface="Calibri" pitchFamily="34" charset="0"/>
                  </a:rPr>
                  <a:t>động</a:t>
                </a:r>
                <a:r>
                  <a:rPr lang="en-US" sz="1900" dirty="0">
                    <a:latin typeface="Calibri" pitchFamily="34" charset="0"/>
                    <a:cs typeface="Calibri" pitchFamily="34" charset="0"/>
                  </a:rPr>
                  <a:t> </a:t>
                </a:r>
                <a:r>
                  <a:rPr lang="en-US" sz="1900" dirty="0" err="1">
                    <a:latin typeface="Calibri" pitchFamily="34" charset="0"/>
                    <a:cs typeface="Calibri" pitchFamily="34" charset="0"/>
                  </a:rPr>
                  <a:t>tới</a:t>
                </a:r>
                <a:r>
                  <a:rPr lang="en-US" sz="1900" dirty="0">
                    <a:latin typeface="Calibri" pitchFamily="34" charset="0"/>
                    <a:cs typeface="Calibri" pitchFamily="34" charset="0"/>
                  </a:rPr>
                  <a:t> </a:t>
                </a:r>
                <a:r>
                  <a:rPr lang="en-US" sz="1900" dirty="0" err="1">
                    <a:latin typeface="Calibri" pitchFamily="34" charset="0"/>
                    <a:cs typeface="Calibri" pitchFamily="34" charset="0"/>
                  </a:rPr>
                  <a:t>tiền</a:t>
                </a:r>
                <a:r>
                  <a:rPr lang="en-US" sz="1900" dirty="0">
                    <a:latin typeface="Calibri" pitchFamily="34" charset="0"/>
                    <a:cs typeface="Calibri" pitchFamily="34" charset="0"/>
                  </a:rPr>
                  <a:t> </a:t>
                </a:r>
                <a:r>
                  <a:rPr lang="en-US" sz="1900" dirty="0" err="1">
                    <a:latin typeface="Calibri" pitchFamily="34" charset="0"/>
                    <a:cs typeface="Calibri" pitchFamily="34" charset="0"/>
                  </a:rPr>
                  <a:t>lương</a:t>
                </a:r>
                <a:r>
                  <a:rPr lang="en-US" sz="1900" dirty="0">
                    <a:latin typeface="Calibri" pitchFamily="34" charset="0"/>
                    <a:cs typeface="Calibri" pitchFamily="34" charset="0"/>
                  </a:rPr>
                  <a:t>  </a:t>
                </a:r>
                <a:r>
                  <a:rPr lang="en-US" sz="1900" dirty="0" err="1">
                    <a:latin typeface="Calibri" pitchFamily="34" charset="0"/>
                    <a:cs typeface="Calibri" pitchFamily="34" charset="0"/>
                  </a:rPr>
                  <a:t>giáo</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là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kinh</a:t>
                </a:r>
                <a:r>
                  <a:rPr lang="en-US" sz="1900" dirty="0">
                    <a:latin typeface="Calibri" pitchFamily="34" charset="0"/>
                    <a:cs typeface="Calibri" pitchFamily="34" charset="0"/>
                  </a:rPr>
                  <a:t> </a:t>
                </a:r>
                <a:r>
                  <a:rPr lang="en-US" sz="1900" dirty="0" err="1">
                    <a:latin typeface="Calibri" pitchFamily="34" charset="0"/>
                    <a:cs typeface="Calibri" pitchFamily="34" charset="0"/>
                  </a:rPr>
                  <a:t>nghiệm</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bổ</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nhiệm</a:t>
                </a:r>
                <a:r>
                  <a:rPr lang="en-US" sz="1900" dirty="0">
                    <a:latin typeface="Calibri" pitchFamily="34" charset="0"/>
                    <a:cs typeface="Calibri" pitchFamily="34" charset="0"/>
                  </a:rPr>
                  <a:t>.</a:t>
                </a:r>
              </a:p>
              <a:p>
                <a:pPr algn="just"/>
                <a:r>
                  <a:rPr lang="vi-VN" sz="1900" dirty="0">
                    <a:latin typeface="Calibri" pitchFamily="34" charset="0"/>
                    <a:cs typeface="Calibri" pitchFamily="34" charset="0"/>
                  </a:rPr>
                  <a:t>Nếu </a:t>
                </a:r>
                <a:r>
                  <a:rPr lang="vi-VN" sz="1900" i="1" dirty="0">
                    <a:latin typeface="Calibri" pitchFamily="34" charset="0"/>
                    <a:cs typeface="Calibri" pitchFamily="34" charset="0"/>
                  </a:rPr>
                  <a:t>educ</a:t>
                </a:r>
                <a:r>
                  <a:rPr lang="vi-VN" sz="1900" dirty="0">
                    <a:latin typeface="Calibri" pitchFamily="34" charset="0"/>
                    <a:cs typeface="Calibri" pitchFamily="34" charset="0"/>
                  </a:rPr>
                  <a:t>, </a:t>
                </a:r>
                <a:r>
                  <a:rPr lang="vi-VN" sz="1900" i="1" dirty="0">
                    <a:latin typeface="Calibri" pitchFamily="34" charset="0"/>
                    <a:cs typeface="Calibri" pitchFamily="34" charset="0"/>
                  </a:rPr>
                  <a:t>exper, </a:t>
                </a:r>
                <a:r>
                  <a:rPr lang="vi-VN" sz="1900" dirty="0">
                    <a:latin typeface="Calibri" pitchFamily="34" charset="0"/>
                    <a:cs typeface="Calibri" pitchFamily="34" charset="0"/>
                  </a:rPr>
                  <a:t>and </a:t>
                </a:r>
                <a:r>
                  <a:rPr lang="vi-VN" sz="1900" i="1" dirty="0">
                    <a:latin typeface="Calibri" pitchFamily="34" charset="0"/>
                    <a:cs typeface="Calibri" pitchFamily="34" charset="0"/>
                  </a:rPr>
                  <a:t>tenure </a:t>
                </a:r>
                <a:r>
                  <a:rPr lang="vi-VN" sz="1900" dirty="0">
                    <a:latin typeface="Calibri" pitchFamily="34" charset="0"/>
                    <a:cs typeface="Calibri" pitchFamily="34" charset="0"/>
                  </a:rPr>
                  <a:t>là các đặc trưng hoàn toàn liên quan hoạt động sản xuất, thì giả </a:t>
                </a:r>
                <a:r>
                  <a:rPr lang="vi-VN" sz="1900" dirty="0" smtClean="0">
                    <a:latin typeface="Calibri" pitchFamily="34" charset="0"/>
                    <a:cs typeface="Calibri" pitchFamily="34" charset="0"/>
                  </a:rPr>
                  <a:t>th</a:t>
                </a:r>
                <a:r>
                  <a:rPr lang="en-US" sz="1900" dirty="0" err="1" smtClean="0">
                    <a:latin typeface="Calibri" pitchFamily="34" charset="0"/>
                    <a:cs typeface="Calibri" pitchFamily="34" charset="0"/>
                  </a:rPr>
                  <a:t>uy</a:t>
                </a:r>
                <a:r>
                  <a:rPr lang="vi-VN" sz="1900" dirty="0" smtClean="0">
                    <a:latin typeface="Calibri" pitchFamily="34" charset="0"/>
                    <a:cs typeface="Calibri" pitchFamily="34" charset="0"/>
                  </a:rPr>
                  <a:t>ết </a:t>
                </a:r>
                <a:r>
                  <a:rPr lang="vi-VN" sz="1900" dirty="0">
                    <a:latin typeface="Calibri" pitchFamily="34" charset="0"/>
                    <a:cs typeface="Calibri" pitchFamily="34" charset="0"/>
                  </a:rPr>
                  <a:t>không của “ không có sự chênh lệch giữa nam giới và nữ </a:t>
                </a:r>
                <a:r>
                  <a:rPr lang="vi-VN" sz="1900" dirty="0" smtClean="0">
                    <a:latin typeface="Calibri" pitchFamily="34" charset="0"/>
                    <a:cs typeface="Calibri" pitchFamily="34" charset="0"/>
                  </a:rPr>
                  <a:t>giới</a:t>
                </a:r>
                <a:r>
                  <a:rPr lang="en-US" sz="1900" dirty="0" smtClean="0">
                    <a:latin typeface="Calibri" pitchFamily="34" charset="0"/>
                    <a:cs typeface="Calibri" pitchFamily="34" charset="0"/>
                  </a:rPr>
                  <a:t>”</a:t>
                </a:r>
                <a:r>
                  <a:rPr lang="vi-VN" sz="1900" dirty="0" smtClean="0">
                    <a:latin typeface="Calibri" pitchFamily="34" charset="0"/>
                    <a:cs typeface="Calibri" pitchFamily="34" charset="0"/>
                  </a:rPr>
                  <a:t> </a:t>
                </a:r>
                <a:r>
                  <a:rPr lang="vi-VN" sz="1900" dirty="0">
                    <a:latin typeface="Calibri" pitchFamily="34" charset="0"/>
                    <a:cs typeface="Calibri" pitchFamily="34" charset="0"/>
                  </a:rPr>
                  <a:t>là </a:t>
                </a:r>
                <a14:m>
                  <m:oMath xmlns:m="http://schemas.openxmlformats.org/officeDocument/2006/math">
                    <m:sSub>
                      <m:sSubPr>
                        <m:ctrlPr>
                          <a:rPr lang="en-US" sz="1900" b="0" i="1" smtClean="0">
                            <a:latin typeface="Cambria Math"/>
                            <a:cs typeface="Calibri" pitchFamily="34" charset="0"/>
                          </a:rPr>
                        </m:ctrlPr>
                      </m:sSubPr>
                      <m:e>
                        <m:r>
                          <a:rPr lang="en-US" sz="1900" b="0" i="1" smtClean="0">
                            <a:latin typeface="Cambria Math"/>
                            <a:cs typeface="Calibri" pitchFamily="34" charset="0"/>
                          </a:rPr>
                          <m:t>𝐻</m:t>
                        </m:r>
                      </m:e>
                      <m:sub>
                        <m:r>
                          <a:rPr lang="en-US" sz="1900" b="0" i="1" smtClean="0">
                            <a:latin typeface="Cambria Math"/>
                            <a:cs typeface="Calibri" pitchFamily="34" charset="0"/>
                          </a:rPr>
                          <m:t>0</m:t>
                        </m:r>
                      </m:sub>
                    </m:sSub>
                    <m:r>
                      <a:rPr lang="en-US" sz="1900" b="0" i="1" smtClean="0">
                        <a:latin typeface="Cambria Math"/>
                        <a:cs typeface="Calibri" pitchFamily="34" charset="0"/>
                      </a:rPr>
                      <m:t>:</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𝛿</m:t>
                        </m:r>
                      </m:e>
                      <m:sub>
                        <m:r>
                          <a:rPr lang="en-US" sz="1900" b="0" i="1" smtClean="0">
                            <a:latin typeface="Cambria Math"/>
                            <a:ea typeface="Cambria Math"/>
                            <a:cs typeface="Calibri" pitchFamily="34" charset="0"/>
                          </a:rPr>
                          <m:t>0</m:t>
                        </m:r>
                      </m:sub>
                    </m:sSub>
                    <m:r>
                      <a:rPr lang="en-US" sz="1900" b="0" i="1" smtClean="0">
                        <a:latin typeface="Cambria Math"/>
                        <a:ea typeface="Cambria Math"/>
                        <a:cs typeface="Calibri" pitchFamily="34" charset="0"/>
                      </a:rPr>
                      <m:t>=</m:t>
                    </m:r>
                    <m:r>
                      <a:rPr lang="en-US" sz="1900" b="0" i="1" smtClean="0">
                        <a:latin typeface="Cambria Math"/>
                        <a:ea typeface="Cambria Math"/>
                        <a:cs typeface="Calibri" pitchFamily="34" charset="0"/>
                      </a:rPr>
                      <m:t>0</m:t>
                    </m:r>
                  </m:oMath>
                </a14:m>
                <a:r>
                  <a:rPr lang="en-US" sz="1900" dirty="0" smtClean="0">
                    <a:latin typeface="Calibri" pitchFamily="34" charset="0"/>
                    <a:cs typeface="Calibri" pitchFamily="34" charset="0"/>
                  </a:rPr>
                  <a:t> . </a:t>
                </a:r>
                <a:r>
                  <a:rPr lang="en-US" sz="1900" dirty="0" err="1" smtClean="0">
                    <a:latin typeface="Calibri" pitchFamily="34" charset="0"/>
                    <a:cs typeface="Calibri" pitchFamily="34" charset="0"/>
                  </a:rPr>
                  <a:t>Tương</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tự</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đối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thuyết</a:t>
                </a:r>
                <a:r>
                  <a:rPr lang="vi-VN" sz="1900" dirty="0" smtClean="0">
                    <a:latin typeface="Calibri" pitchFamily="34" charset="0"/>
                    <a:cs typeface="Calibri" pitchFamily="34" charset="0"/>
                  </a:rPr>
                  <a:t> “ </a:t>
                </a:r>
                <a:r>
                  <a:rPr lang="vi-VN" sz="1900" dirty="0">
                    <a:latin typeface="Calibri" pitchFamily="34" charset="0"/>
                    <a:cs typeface="Calibri" pitchFamily="34" charset="0"/>
                  </a:rPr>
                  <a:t>có sự phân biệt đối với nữ </a:t>
                </a:r>
                <a:r>
                  <a:rPr lang="vi-VN" sz="1900" dirty="0" smtClean="0">
                    <a:latin typeface="Calibri" pitchFamily="34" charset="0"/>
                    <a:cs typeface="Calibri" pitchFamily="34" charset="0"/>
                  </a:rPr>
                  <a:t>giới</a:t>
                </a:r>
                <a:r>
                  <a:rPr lang="en-US" sz="1900" dirty="0" smtClean="0">
                    <a:latin typeface="Calibri" pitchFamily="34" charset="0"/>
                    <a:cs typeface="Calibri" pitchFamily="34" charset="0"/>
                  </a:rPr>
                  <a:t>”</a:t>
                </a:r>
                <a:r>
                  <a:rPr lang="vi-VN" sz="1900" dirty="0" smtClean="0">
                    <a:latin typeface="Calibri" pitchFamily="34" charset="0"/>
                    <a:cs typeface="Calibri" pitchFamily="34" charset="0"/>
                  </a:rPr>
                  <a:t> </a:t>
                </a:r>
                <a:r>
                  <a:rPr lang="vi-VN" sz="1900" dirty="0">
                    <a:latin typeface="Calibri" pitchFamily="34" charset="0"/>
                    <a:cs typeface="Calibri" pitchFamily="34" charset="0"/>
                  </a:rPr>
                  <a:t>là </a:t>
                </a:r>
                <a14:m>
                  <m:oMath xmlns:m="http://schemas.openxmlformats.org/officeDocument/2006/math">
                    <m:sSub>
                      <m:sSubPr>
                        <m:ctrlPr>
                          <a:rPr lang="en-US" sz="1900" b="0" i="1" smtClean="0">
                            <a:latin typeface="Cambria Math"/>
                            <a:cs typeface="Calibri" pitchFamily="34" charset="0"/>
                          </a:rPr>
                        </m:ctrlPr>
                      </m:sSubPr>
                      <m:e>
                        <m:r>
                          <a:rPr lang="en-US" sz="1900" b="0" i="1" smtClean="0">
                            <a:latin typeface="Cambria Math"/>
                            <a:cs typeface="Calibri" pitchFamily="34" charset="0"/>
                          </a:rPr>
                          <m:t>𝐻</m:t>
                        </m:r>
                      </m:e>
                      <m:sub>
                        <m:r>
                          <a:rPr lang="en-US" sz="1900" b="0" i="1" smtClean="0">
                            <a:latin typeface="Cambria Math"/>
                            <a:cs typeface="Calibri" pitchFamily="34" charset="0"/>
                          </a:rPr>
                          <m:t>1</m:t>
                        </m:r>
                      </m:sub>
                    </m:sSub>
                    <m:r>
                      <a:rPr lang="en-US" sz="1900" b="0" i="1" smtClean="0">
                        <a:latin typeface="Cambria Math"/>
                        <a:cs typeface="Calibri" pitchFamily="34" charset="0"/>
                      </a:rPr>
                      <m:t>:</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𝛿</m:t>
                        </m:r>
                      </m:e>
                      <m:sub>
                        <m:r>
                          <a:rPr lang="en-US" sz="1900" b="0" i="1" smtClean="0">
                            <a:latin typeface="Cambria Math"/>
                            <a:ea typeface="Cambria Math"/>
                            <a:cs typeface="Calibri" pitchFamily="34" charset="0"/>
                          </a:rPr>
                          <m:t>0</m:t>
                        </m:r>
                      </m:sub>
                    </m:sSub>
                    <m:r>
                      <a:rPr lang="en-US" sz="1900" b="0" i="1" smtClean="0">
                        <a:latin typeface="Cambria Math"/>
                        <a:ea typeface="Cambria Math"/>
                        <a:cs typeface="Calibri" pitchFamily="34" charset="0"/>
                      </a:rPr>
                      <m:t>&lt;</m:t>
                    </m:r>
                    <m:r>
                      <a:rPr lang="en-US" sz="1900" b="0" i="1" smtClean="0">
                        <a:latin typeface="Cambria Math"/>
                        <a:ea typeface="Cambria Math"/>
                        <a:cs typeface="Calibri" pitchFamily="34" charset="0"/>
                      </a:rPr>
                      <m:t>0</m:t>
                    </m:r>
                  </m:oMath>
                </a14:m>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a:p>
                <a:pPr algn="just"/>
                <a:r>
                  <a:rPr lang="vi-VN" sz="1900" dirty="0">
                    <a:latin typeface="Calibri" pitchFamily="34" charset="0"/>
                    <a:cs typeface="Calibri" pitchFamily="34" charset="0"/>
                  </a:rPr>
                  <a:t>Làm thế nào ta thật sự kiểm định được sự phân biệt đối xử trong tiền lương? </a:t>
                </a:r>
                <a:r>
                  <a:rPr lang="en-US" sz="1900" dirty="0">
                    <a:latin typeface="Calibri" pitchFamily="34" charset="0"/>
                    <a:cs typeface="Calibri" pitchFamily="34" charset="0"/>
                  </a:rPr>
                  <a:t>Ta sẽ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dụng</a:t>
                </a:r>
                <a:r>
                  <a:rPr lang="en-US" sz="1900" dirty="0">
                    <a:latin typeface="Calibri" pitchFamily="34" charset="0"/>
                    <a:cs typeface="Calibri" pitchFamily="34" charset="0"/>
                  </a:rPr>
                  <a:t> </a:t>
                </a:r>
                <a:r>
                  <a:rPr lang="en-US" sz="1900" dirty="0" err="1">
                    <a:latin typeface="Calibri" pitchFamily="34" charset="0"/>
                    <a:cs typeface="Calibri" pitchFamily="34" charset="0"/>
                  </a:rPr>
                  <a:t>Ước</a:t>
                </a:r>
                <a:r>
                  <a:rPr lang="en-US" sz="1900" dirty="0">
                    <a:latin typeface="Calibri" pitchFamily="34" charset="0"/>
                    <a:cs typeface="Calibri" pitchFamily="34" charset="0"/>
                  </a:rPr>
                  <a:t> </a:t>
                </a:r>
                <a:r>
                  <a:rPr lang="en-US" sz="1900" dirty="0" err="1">
                    <a:latin typeface="Calibri" pitchFamily="34" charset="0"/>
                    <a:cs typeface="Calibri" pitchFamily="34" charset="0"/>
                  </a:rPr>
                  <a:t>lượng</a:t>
                </a:r>
                <a:r>
                  <a:rPr lang="en-US" sz="1900" dirty="0">
                    <a:latin typeface="Calibri" pitchFamily="34" charset="0"/>
                    <a:cs typeface="Calibri" pitchFamily="34" charset="0"/>
                  </a:rPr>
                  <a:t> OLS </a:t>
                </a:r>
                <a:r>
                  <a:rPr lang="en-US" sz="1900" dirty="0" err="1">
                    <a:latin typeface="Calibri" pitchFamily="34" charset="0"/>
                    <a:cs typeface="Calibri" pitchFamily="34" charset="0"/>
                  </a:rPr>
                  <a:t>thông</a:t>
                </a:r>
                <a:r>
                  <a:rPr lang="en-US" sz="1900" dirty="0">
                    <a:latin typeface="Calibri" pitchFamily="34" charset="0"/>
                    <a:cs typeface="Calibri" pitchFamily="34" charset="0"/>
                  </a:rPr>
                  <a:t> </a:t>
                </a:r>
                <a:r>
                  <a:rPr lang="en-US" sz="1900" dirty="0" err="1">
                    <a:latin typeface="Calibri" pitchFamily="34" charset="0"/>
                    <a:cs typeface="Calibri" pitchFamily="34" charset="0"/>
                  </a:rPr>
                  <a:t>thường</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sau</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đo</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dụng</a:t>
                </a:r>
                <a:r>
                  <a:rPr lang="en-US" sz="1900" dirty="0">
                    <a:latin typeface="Calibri" pitchFamily="34" charset="0"/>
                    <a:cs typeface="Calibri" pitchFamily="34" charset="0"/>
                  </a:rPr>
                  <a:t> </a:t>
                </a:r>
                <a:r>
                  <a:rPr lang="en-US" sz="1900" dirty="0" err="1">
                    <a:latin typeface="Calibri" pitchFamily="34" charset="0"/>
                    <a:cs typeface="Calibri" pitchFamily="34" charset="0"/>
                  </a:rPr>
                  <a:t>thống</a:t>
                </a:r>
                <a:r>
                  <a:rPr lang="en-US" sz="1900" dirty="0">
                    <a:latin typeface="Calibri" pitchFamily="34" charset="0"/>
                    <a:cs typeface="Calibri" pitchFamily="34" charset="0"/>
                  </a:rPr>
                  <a:t> </a:t>
                </a:r>
                <a:r>
                  <a:rPr lang="en-US" sz="1900" dirty="0" err="1">
                    <a:latin typeface="Calibri" pitchFamily="34" charset="0"/>
                    <a:cs typeface="Calibri" pitchFamily="34" charset="0"/>
                  </a:rPr>
                  <a:t>kê</a:t>
                </a:r>
                <a:r>
                  <a:rPr lang="en-US" sz="1900" dirty="0">
                    <a:latin typeface="Calibri" pitchFamily="34" charset="0"/>
                    <a:cs typeface="Calibri" pitchFamily="34" charset="0"/>
                  </a:rPr>
                  <a:t> t. V</a:t>
                </a:r>
                <a:r>
                  <a:rPr lang="en-US" sz="1900" dirty="0" smtClean="0">
                    <a:latin typeface="Calibri" pitchFamily="34" charset="0"/>
                    <a:cs typeface="Calibri" pitchFamily="34" charset="0"/>
                  </a:rPr>
                  <a:t>í </a:t>
                </a:r>
                <a:r>
                  <a:rPr lang="en-US" sz="1900" dirty="0">
                    <a:latin typeface="Calibri" pitchFamily="34" charset="0"/>
                    <a:cs typeface="Calibri" pitchFamily="34" charset="0"/>
                  </a:rPr>
                  <a:t>dụ </a:t>
                </a:r>
                <a:r>
                  <a:rPr lang="en-US" sz="1900" dirty="0" err="1" smtClean="0">
                    <a:latin typeface="Calibri" pitchFamily="34" charset="0"/>
                    <a:cs typeface="Calibri" pitchFamily="34" charset="0"/>
                  </a:rPr>
                  <a:t>sau</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đây</a:t>
                </a:r>
                <a:r>
                  <a:rPr lang="en-US" sz="1900" dirty="0" smtClean="0">
                    <a:latin typeface="Calibri" pitchFamily="34" charset="0"/>
                    <a:cs typeface="Calibri" pitchFamily="34" charset="0"/>
                  </a:rPr>
                  <a:t> sẽ </a:t>
                </a:r>
                <a:r>
                  <a:rPr lang="en-US" sz="1900" dirty="0" err="1">
                    <a:latin typeface="Calibri" pitchFamily="34" charset="0"/>
                    <a:cs typeface="Calibri" pitchFamily="34" charset="0"/>
                  </a:rPr>
                  <a:t>khiến</a:t>
                </a:r>
                <a:r>
                  <a:rPr lang="en-US" sz="1900" dirty="0">
                    <a:latin typeface="Calibri" pitchFamily="34" charset="0"/>
                    <a:cs typeface="Calibri" pitchFamily="34" charset="0"/>
                  </a:rPr>
                  <a:t> </a:t>
                </a:r>
                <a:r>
                  <a:rPr lang="en-US" sz="1900" dirty="0" err="1">
                    <a:latin typeface="Calibri" pitchFamily="34" charset="0"/>
                    <a:cs typeface="Calibri" pitchFamily="34" charset="0"/>
                  </a:rPr>
                  <a:t>chúng</a:t>
                </a:r>
                <a:r>
                  <a:rPr lang="en-US" sz="1900" dirty="0">
                    <a:latin typeface="Calibri" pitchFamily="34" charset="0"/>
                    <a:cs typeface="Calibri" pitchFamily="34" charset="0"/>
                  </a:rPr>
                  <a:t> ta </a:t>
                </a:r>
                <a:r>
                  <a:rPr lang="en-US" sz="1900" dirty="0" err="1">
                    <a:latin typeface="Calibri" pitchFamily="34" charset="0"/>
                    <a:cs typeface="Calibri" pitchFamily="34" charset="0"/>
                  </a:rPr>
                  <a:t>hiểu</a:t>
                </a:r>
                <a:r>
                  <a:rPr lang="en-US" sz="1900" dirty="0">
                    <a:latin typeface="Calibri" pitchFamily="34" charset="0"/>
                    <a:cs typeface="Calibri" pitchFamily="34" charset="0"/>
                  </a:rPr>
                  <a:t> </a:t>
                </a:r>
                <a:r>
                  <a:rPr lang="en-US" sz="1900" dirty="0" err="1">
                    <a:latin typeface="Calibri" pitchFamily="34" charset="0"/>
                    <a:cs typeface="Calibri" pitchFamily="34" charset="0"/>
                  </a:rPr>
                  <a:t>ro</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về</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việc</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này</a:t>
                </a:r>
                <a:r>
                  <a:rPr lang="en-US" sz="1900" dirty="0" smtClean="0">
                    <a:latin typeface="Calibri" pitchFamily="34" charset="0"/>
                    <a:cs typeface="Calibri" pitchFamily="34" charset="0"/>
                  </a:rPr>
                  <a:t>:</a:t>
                </a:r>
              </a:p>
              <a:p>
                <a:pPr marL="109728" indent="0" algn="just">
                  <a:buNone/>
                </a:pPr>
                <a14:m>
                  <m:oMathPara xmlns:m="http://schemas.openxmlformats.org/officeDocument/2006/math">
                    <m:oMathParaPr>
                      <m:jc m:val="centerGroup"/>
                    </m:oMathParaPr>
                    <m:oMath xmlns:m="http://schemas.openxmlformats.org/officeDocument/2006/math">
                      <m:acc>
                        <m:accPr>
                          <m:chr m:val="̂"/>
                          <m:ctrlPr>
                            <a:rPr lang="en-US" sz="1900" i="1" smtClean="0">
                              <a:latin typeface="Cambria Math"/>
                              <a:cs typeface="Calibri" pitchFamily="34" charset="0"/>
                            </a:rPr>
                          </m:ctrlPr>
                        </m:accPr>
                        <m:e>
                          <m:r>
                            <a:rPr lang="en-US" sz="1900" b="0" i="1" smtClean="0">
                              <a:latin typeface="Cambria Math"/>
                              <a:cs typeface="Calibri" pitchFamily="34" charset="0"/>
                            </a:rPr>
                            <m:t>𝑤𝑎𝑔𝑒</m:t>
                          </m:r>
                        </m:e>
                      </m:acc>
                      <m:r>
                        <a:rPr lang="en-US" sz="1900" b="0" i="1" smtClean="0">
                          <a:latin typeface="Cambria Math"/>
                          <a:cs typeface="Calibri" pitchFamily="34" charset="0"/>
                        </a:rPr>
                        <m:t>=−</m:t>
                      </m:r>
                      <m:r>
                        <a:rPr lang="en-US" sz="1900" b="0" i="1" smtClean="0">
                          <a:latin typeface="Cambria Math"/>
                          <a:cs typeface="Calibri" pitchFamily="34" charset="0"/>
                        </a:rPr>
                        <m:t>1</m:t>
                      </m:r>
                      <m:r>
                        <a:rPr lang="en-US" sz="1900" b="0" i="1" smtClean="0">
                          <a:latin typeface="Cambria Math"/>
                          <a:cs typeface="Calibri" pitchFamily="34" charset="0"/>
                        </a:rPr>
                        <m:t>.</m:t>
                      </m:r>
                      <m:r>
                        <a:rPr lang="en-US" sz="1900" b="0" i="1" smtClean="0">
                          <a:latin typeface="Cambria Math"/>
                          <a:cs typeface="Calibri" pitchFamily="34" charset="0"/>
                        </a:rPr>
                        <m:t>57</m:t>
                      </m:r>
                      <m:r>
                        <a:rPr lang="en-US" sz="1900" b="0" i="1" smtClean="0">
                          <a:latin typeface="Cambria Math"/>
                          <a:cs typeface="Calibri" pitchFamily="34" charset="0"/>
                        </a:rPr>
                        <m:t>−</m:t>
                      </m:r>
                      <m:r>
                        <a:rPr lang="en-US" sz="1900" b="0" i="1" smtClean="0">
                          <a:latin typeface="Cambria Math"/>
                          <a:cs typeface="Calibri" pitchFamily="34" charset="0"/>
                        </a:rPr>
                        <m:t>1</m:t>
                      </m:r>
                      <m:r>
                        <a:rPr lang="en-US" sz="1900" b="0" i="1" smtClean="0">
                          <a:latin typeface="Cambria Math"/>
                          <a:cs typeface="Calibri" pitchFamily="34" charset="0"/>
                        </a:rPr>
                        <m:t>.</m:t>
                      </m:r>
                      <m:r>
                        <a:rPr lang="en-US" sz="1900" b="0" i="1" smtClean="0">
                          <a:latin typeface="Cambria Math"/>
                          <a:cs typeface="Calibri" pitchFamily="34" charset="0"/>
                        </a:rPr>
                        <m:t>81</m:t>
                      </m:r>
                      <m:r>
                        <a:rPr lang="en-US" sz="1900" b="0" i="1" smtClean="0">
                          <a:latin typeface="Cambria Math"/>
                          <a:cs typeface="Calibri" pitchFamily="34" charset="0"/>
                        </a:rPr>
                        <m:t>𝑓𝑒𝑚𝑎𝑙𝑒</m:t>
                      </m:r>
                      <m:r>
                        <a:rPr lang="en-US" sz="1900" b="0" i="1" smtClean="0">
                          <a:latin typeface="Cambria Math"/>
                          <a:cs typeface="Calibri" pitchFamily="34" charset="0"/>
                        </a:rPr>
                        <m:t>+</m:t>
                      </m:r>
                      <m:r>
                        <a:rPr lang="en-US" sz="1900" b="0" i="1" smtClean="0">
                          <a:latin typeface="Cambria Math"/>
                          <a:cs typeface="Calibri" pitchFamily="34" charset="0"/>
                        </a:rPr>
                        <m:t>0</m:t>
                      </m:r>
                      <m:r>
                        <a:rPr lang="en-US" sz="1900" b="0" i="1" smtClean="0">
                          <a:latin typeface="Cambria Math"/>
                          <a:cs typeface="Calibri" pitchFamily="34" charset="0"/>
                        </a:rPr>
                        <m:t>.</m:t>
                      </m:r>
                      <m:r>
                        <a:rPr lang="en-US" sz="1900" b="0" i="1" smtClean="0">
                          <a:latin typeface="Cambria Math"/>
                          <a:cs typeface="Calibri" pitchFamily="34" charset="0"/>
                        </a:rPr>
                        <m:t>572</m:t>
                      </m:r>
                      <m:r>
                        <a:rPr lang="en-US" sz="1900" b="0" i="1" smtClean="0">
                          <a:latin typeface="Cambria Math"/>
                          <a:cs typeface="Calibri" pitchFamily="34" charset="0"/>
                        </a:rPr>
                        <m:t>𝑒𝑑𝑢𝑐</m:t>
                      </m:r>
                      <m:r>
                        <a:rPr lang="en-US" sz="1900" b="0" i="1" smtClean="0">
                          <a:latin typeface="Cambria Math"/>
                          <a:cs typeface="Calibri" pitchFamily="34" charset="0"/>
                        </a:rPr>
                        <m:t>+</m:t>
                      </m:r>
                      <m:r>
                        <a:rPr lang="en-US" sz="1900" b="0" i="1" smtClean="0">
                          <a:latin typeface="Cambria Math"/>
                          <a:cs typeface="Calibri" pitchFamily="34" charset="0"/>
                        </a:rPr>
                        <m:t>0</m:t>
                      </m:r>
                      <m:r>
                        <a:rPr lang="en-US" sz="1900" b="0" i="1" smtClean="0">
                          <a:latin typeface="Cambria Math"/>
                          <a:cs typeface="Calibri" pitchFamily="34" charset="0"/>
                        </a:rPr>
                        <m:t>.</m:t>
                      </m:r>
                      <m:r>
                        <a:rPr lang="en-US" sz="1900" b="0" i="1" smtClean="0">
                          <a:latin typeface="Cambria Math"/>
                          <a:cs typeface="Calibri" pitchFamily="34" charset="0"/>
                        </a:rPr>
                        <m:t>025</m:t>
                      </m:r>
                      <m:r>
                        <a:rPr lang="en-US" sz="1900" b="0" i="1" smtClean="0">
                          <a:latin typeface="Cambria Math"/>
                          <a:cs typeface="Calibri" pitchFamily="34" charset="0"/>
                        </a:rPr>
                        <m:t>𝑒𝑥𝑝𝑒𝑟</m:t>
                      </m:r>
                      <m:r>
                        <a:rPr lang="en-US" sz="1900" b="0" i="1" smtClean="0">
                          <a:latin typeface="Cambria Math"/>
                          <a:cs typeface="Calibri" pitchFamily="34" charset="0"/>
                        </a:rPr>
                        <m:t>+</m:t>
                      </m:r>
                      <m:r>
                        <a:rPr lang="en-US" sz="1900" b="0" i="1" smtClean="0">
                          <a:latin typeface="Cambria Math"/>
                          <a:cs typeface="Calibri" pitchFamily="34" charset="0"/>
                        </a:rPr>
                        <m:t>0</m:t>
                      </m:r>
                      <m:r>
                        <a:rPr lang="en-US" sz="1900" b="0" i="1" smtClean="0">
                          <a:latin typeface="Cambria Math"/>
                          <a:cs typeface="Calibri" pitchFamily="34" charset="0"/>
                        </a:rPr>
                        <m:t>.</m:t>
                      </m:r>
                      <m:r>
                        <a:rPr lang="en-US" sz="1900" b="0" i="1" smtClean="0">
                          <a:latin typeface="Cambria Math"/>
                          <a:cs typeface="Calibri" pitchFamily="34" charset="0"/>
                        </a:rPr>
                        <m:t>141</m:t>
                      </m:r>
                      <m:r>
                        <a:rPr lang="en-US" sz="1900" b="0" i="1" smtClean="0">
                          <a:latin typeface="Cambria Math"/>
                          <a:cs typeface="Calibri" pitchFamily="34" charset="0"/>
                        </a:rPr>
                        <m:t>𝑡𝑒𝑛𝑢𝑟𝑒</m:t>
                      </m:r>
                    </m:oMath>
                  </m:oMathPara>
                </a14:m>
                <a:endParaRPr lang="en-US" sz="1900" dirty="0" smtClean="0">
                  <a:latin typeface="Calibri" pitchFamily="34" charset="0"/>
                  <a:cs typeface="Calibri" pitchFamily="34" charset="0"/>
                </a:endParaRPr>
              </a:p>
              <a:p>
                <a:pPr marL="109728" indent="0" algn="just">
                  <a:buNone/>
                </a:pPr>
                <a:endParaRPr lang="en-US" sz="1900" dirty="0" smtClean="0">
                  <a:latin typeface="Calibri" pitchFamily="34" charset="0"/>
                  <a:cs typeface="Calibri" pitchFamily="34" charset="0"/>
                </a:endParaRPr>
              </a:p>
              <a:p>
                <a:pPr marL="109728" indent="0" algn="ctr">
                  <a:buNone/>
                </a:pPr>
                <a14:m>
                  <m:oMath xmlns:m="http://schemas.openxmlformats.org/officeDocument/2006/math">
                    <m:r>
                      <a:rPr lang="en-US" sz="1900" b="0" i="1" smtClean="0">
                        <a:latin typeface="Cambria Math"/>
                        <a:cs typeface="Calibri" pitchFamily="34" charset="0"/>
                      </a:rPr>
                      <m:t>𝑛</m:t>
                    </m:r>
                    <m:r>
                      <a:rPr lang="en-US" sz="1900" b="0" i="1" smtClean="0">
                        <a:latin typeface="Cambria Math"/>
                        <a:cs typeface="Calibri" pitchFamily="34" charset="0"/>
                      </a:rPr>
                      <m:t>=</m:t>
                    </m:r>
                    <m:r>
                      <a:rPr lang="en-US" sz="1900" b="0" i="1" smtClean="0">
                        <a:latin typeface="Cambria Math"/>
                        <a:cs typeface="Calibri" pitchFamily="34" charset="0"/>
                      </a:rPr>
                      <m:t>526</m:t>
                    </m:r>
                    <m:r>
                      <a:rPr lang="en-US" sz="1900" b="0" i="1" smtClean="0">
                        <a:latin typeface="Cambria Math"/>
                        <a:cs typeface="Calibri" pitchFamily="34" charset="0"/>
                      </a:rPr>
                      <m:t>, </m:t>
                    </m:r>
                    <m:sSup>
                      <m:sSupPr>
                        <m:ctrlPr>
                          <a:rPr lang="en-US" sz="1900" b="0" i="1" smtClean="0">
                            <a:latin typeface="Cambria Math"/>
                            <a:cs typeface="Calibri" pitchFamily="34" charset="0"/>
                          </a:rPr>
                        </m:ctrlPr>
                      </m:sSupPr>
                      <m:e>
                        <m:r>
                          <a:rPr lang="en-US" sz="1900" b="0" i="1" smtClean="0">
                            <a:latin typeface="Cambria Math"/>
                            <a:cs typeface="Calibri" pitchFamily="34" charset="0"/>
                          </a:rPr>
                          <m:t>𝑅</m:t>
                        </m:r>
                      </m:e>
                      <m:sup>
                        <m:r>
                          <a:rPr lang="en-US" sz="1900" b="0" i="1" smtClean="0">
                            <a:latin typeface="Cambria Math"/>
                            <a:cs typeface="Calibri" pitchFamily="34" charset="0"/>
                          </a:rPr>
                          <m:t>2</m:t>
                        </m:r>
                      </m:sup>
                    </m:sSup>
                    <m:r>
                      <a:rPr lang="en-US" sz="1900" b="0" i="1" smtClean="0">
                        <a:latin typeface="Cambria Math"/>
                        <a:cs typeface="Calibri" pitchFamily="34" charset="0"/>
                      </a:rPr>
                      <m:t>=</m:t>
                    </m:r>
                    <m:r>
                      <a:rPr lang="en-US" sz="1900" b="0" i="1" smtClean="0">
                        <a:latin typeface="Cambria Math"/>
                        <a:cs typeface="Calibri" pitchFamily="34" charset="0"/>
                      </a:rPr>
                      <m:t>0</m:t>
                    </m:r>
                    <m:r>
                      <a:rPr lang="en-US" sz="1900" b="0" i="1" smtClean="0">
                        <a:latin typeface="Cambria Math"/>
                        <a:cs typeface="Calibri" pitchFamily="34" charset="0"/>
                      </a:rPr>
                      <m:t>.</m:t>
                    </m:r>
                    <m:r>
                      <a:rPr lang="en-US" sz="1900" b="0" i="1" smtClean="0">
                        <a:latin typeface="Cambria Math"/>
                        <a:cs typeface="Calibri" pitchFamily="34" charset="0"/>
                      </a:rPr>
                      <m:t>364</m:t>
                    </m:r>
                  </m:oMath>
                </a14:m>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a:p>
                <a:pPr algn="just"/>
                <a:endParaRPr lang="en-US" sz="1900"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481328"/>
                <a:ext cx="8219256" cy="4755984"/>
              </a:xfrm>
              <a:blipFill rotWithShape="1">
                <a:blip r:embed="rId2"/>
                <a:stretch>
                  <a:fillRect r="-668"/>
                </a:stretch>
              </a:blipFill>
            </p:spPr>
            <p:txBody>
              <a:bodyPr/>
              <a:lstStyle/>
              <a:p>
                <a:r>
                  <a:rPr lang="en-US">
                    <a:noFill/>
                  </a:rPr>
                  <a:t> </a:t>
                </a:r>
              </a:p>
            </p:txBody>
          </p:sp>
        </mc:Fallback>
      </mc:AlternateContent>
      <p:sp>
        <p:nvSpPr>
          <p:cNvPr id="3" name="Title 2"/>
          <p:cNvSpPr>
            <a:spLocks noGrp="1"/>
          </p:cNvSpPr>
          <p:nvPr>
            <p:ph type="title"/>
          </p:nvPr>
        </p:nvSpPr>
        <p:spPr>
          <a:xfrm>
            <a:off x="457200" y="274638"/>
            <a:ext cx="8229600" cy="922114"/>
          </a:xfrm>
        </p:spPr>
        <p:txBody>
          <a:bodyPr>
            <a:normAutofit fontScale="90000"/>
          </a:bodyPr>
          <a:lstStyle/>
          <a:p>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Mô</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err="1">
                <a:solidFill>
                  <a:srgbClr val="FF0000"/>
                </a:solidFill>
                <a:effectLst/>
                <a:latin typeface="Calibri" pitchFamily="34" charset="0"/>
                <a:cs typeface="Calibri" pitchFamily="34" charset="0"/>
              </a:rPr>
              <a:t>tuyến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bội</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với</a:t>
            </a:r>
            <a:r>
              <a:rPr lang="en-US" dirty="0">
                <a:solidFill>
                  <a:srgbClr val="FF0000"/>
                </a:solidFill>
                <a:effectLst/>
                <a:latin typeface="Calibri" pitchFamily="34" charset="0"/>
                <a:cs typeface="Calibri" pitchFamily="34" charset="0"/>
              </a:rPr>
              <a:t> 1 </a:t>
            </a:r>
            <a:r>
              <a:rPr lang="en-US" dirty="0" err="1">
                <a:solidFill>
                  <a:srgbClr val="FF0000"/>
                </a:solidFill>
                <a:effectLst/>
                <a:latin typeface="Calibri" pitchFamily="34" charset="0"/>
                <a:cs typeface="Calibri" pitchFamily="34" charset="0"/>
              </a:rPr>
              <a:t>biến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gia</a:t>
            </a:r>
            <a:r>
              <a:rPr lang="en-US" dirty="0">
                <a:solidFill>
                  <a:srgbClr val="FF0000"/>
                </a:solidFill>
                <a:effectLst/>
                <a:latin typeface="Calibri" pitchFamily="34" charset="0"/>
                <a:cs typeface="Calibri" pitchFamily="34" charset="0"/>
              </a:rPr>
              <a:t>̉ </a:t>
            </a:r>
            <a:endParaRPr lang="en-US" dirty="0">
              <a:solidFill>
                <a:srgbClr val="FF0000"/>
              </a:solidFill>
              <a:latin typeface="Calibri" pitchFamily="34" charset="0"/>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726" y="1316132"/>
            <a:ext cx="7092022" cy="482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TextBox 3"/>
              <p:cNvSpPr txBox="1"/>
              <p:nvPr/>
            </p:nvSpPr>
            <p:spPr>
              <a:xfrm>
                <a:off x="1686050" y="4846940"/>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0</m:t>
                          </m:r>
                          <m:r>
                            <a:rPr lang="en-US" b="0" i="1" smtClean="0">
                              <a:latin typeface="Cambria Math"/>
                            </a:rPr>
                            <m:t>.</m:t>
                          </m:r>
                          <m:r>
                            <a:rPr lang="en-US" b="0" i="1" smtClean="0">
                              <a:latin typeface="Cambria Math"/>
                            </a:rPr>
                            <m:t>72</m:t>
                          </m:r>
                        </m:e>
                      </m:d>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1686050" y="4846940"/>
                <a:ext cx="504056" cy="369332"/>
              </a:xfrm>
              <a:prstGeom prst="rect">
                <a:avLst/>
              </a:prstGeom>
              <a:blipFill rotWithShape="1">
                <a:blip r:embed="rId4"/>
                <a:stretch>
                  <a:fillRect r="-402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83768" y="4846940"/>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0</m:t>
                          </m:r>
                          <m:r>
                            <a:rPr lang="en-US" b="0" i="1" smtClean="0">
                              <a:latin typeface="Cambria Math"/>
                            </a:rPr>
                            <m:t>.</m:t>
                          </m:r>
                          <m:r>
                            <a:rPr lang="en-US" b="0" i="1" smtClean="0">
                              <a:latin typeface="Cambria Math"/>
                            </a:rPr>
                            <m:t>26</m:t>
                          </m:r>
                        </m:e>
                      </m:d>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2483768" y="4846940"/>
                <a:ext cx="504056" cy="369332"/>
              </a:xfrm>
              <a:prstGeom prst="rect">
                <a:avLst/>
              </a:prstGeom>
              <a:blipFill rotWithShape="1">
                <a:blip r:embed="rId5"/>
                <a:stretch>
                  <a:fillRect r="-39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000725" y="4846940"/>
                <a:ext cx="8640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0</m:t>
                          </m:r>
                          <m:r>
                            <a:rPr lang="en-US" b="0" i="1" smtClean="0">
                              <a:latin typeface="Cambria Math"/>
                            </a:rPr>
                            <m:t>.</m:t>
                          </m:r>
                          <m:r>
                            <a:rPr lang="en-US" b="0" i="1" smtClean="0">
                              <a:latin typeface="Cambria Math"/>
                            </a:rPr>
                            <m:t>049</m:t>
                          </m:r>
                        </m:e>
                      </m:d>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000725" y="4846940"/>
                <a:ext cx="864096" cy="369332"/>
              </a:xfrm>
              <a:prstGeom prst="rect">
                <a:avLst/>
              </a:prstGeom>
              <a:blipFill rotWithShape="1">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28070" y="4846940"/>
                <a:ext cx="50405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0</m:t>
                          </m:r>
                          <m:r>
                            <a:rPr lang="en-US" b="0" i="1" smtClean="0">
                              <a:latin typeface="Cambria Math"/>
                            </a:rPr>
                            <m:t>.</m:t>
                          </m:r>
                          <m:r>
                            <a:rPr lang="en-US" b="0" i="1" smtClean="0">
                              <a:latin typeface="Cambria Math"/>
                            </a:rPr>
                            <m:t>012</m:t>
                          </m:r>
                        </m:e>
                      </m:d>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5428070" y="4846940"/>
                <a:ext cx="504056" cy="369332"/>
              </a:xfrm>
              <a:prstGeom prst="rect">
                <a:avLst/>
              </a:prstGeom>
              <a:blipFill rotWithShape="1">
                <a:blip r:embed="rId7"/>
                <a:stretch>
                  <a:fillRect r="-650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876256" y="4871359"/>
                <a:ext cx="6480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0</m:t>
                          </m:r>
                          <m:r>
                            <a:rPr lang="en-US" b="0" i="1" smtClean="0">
                              <a:latin typeface="Cambria Math"/>
                            </a:rPr>
                            <m:t>.</m:t>
                          </m:r>
                          <m:r>
                            <a:rPr lang="en-US" b="0" i="1" smtClean="0">
                              <a:latin typeface="Cambria Math"/>
                            </a:rPr>
                            <m:t>021</m:t>
                          </m:r>
                        </m:e>
                      </m:d>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6876256" y="4871359"/>
                <a:ext cx="648072" cy="369332"/>
              </a:xfrm>
              <a:prstGeom prst="rect">
                <a:avLst/>
              </a:prstGeom>
              <a:blipFill rotWithShape="1">
                <a:blip r:embed="rId8"/>
                <a:stretch>
                  <a:fillRect r="-28302"/>
                </a:stretch>
              </a:blipFill>
            </p:spPr>
            <p:txBody>
              <a:bodyPr/>
              <a:lstStyle/>
              <a:p>
                <a:r>
                  <a:rPr lang="en-US">
                    <a:noFill/>
                  </a:rPr>
                  <a:t> </a:t>
                </a:r>
              </a:p>
            </p:txBody>
          </p:sp>
        </mc:Fallback>
      </mc:AlternateContent>
    </p:spTree>
    <p:extLst>
      <p:ext uri="{BB962C8B-B14F-4D97-AF65-F5344CB8AC3E}">
        <p14:creationId xmlns:p14="http://schemas.microsoft.com/office/powerpoint/2010/main" val="1844406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70000" lnSpcReduction="20000"/>
              </a:bodyPr>
              <a:lstStyle/>
              <a:p>
                <a:pPr algn="just"/>
                <a:r>
                  <a:rPr lang="vi-VN" dirty="0" smtClean="0">
                    <a:latin typeface="Calibri" pitchFamily="34" charset="0"/>
                    <a:cs typeface="Calibri" pitchFamily="34" charset="0"/>
                  </a:rPr>
                  <a:t>Hệ số âm là hệ số chặn cho nam , trong trường hợp này, nó không thật sự có ý nghĩa vì không ai có tất cả các giá trị đều là 0 ở biến </a:t>
                </a:r>
                <a:r>
                  <a:rPr lang="vi-VN" i="1" dirty="0">
                    <a:latin typeface="Calibri" pitchFamily="34" charset="0"/>
                    <a:cs typeface="Calibri" pitchFamily="34" charset="0"/>
                  </a:rPr>
                  <a:t>educ</a:t>
                </a:r>
                <a:r>
                  <a:rPr lang="vi-VN" dirty="0">
                    <a:latin typeface="Calibri" pitchFamily="34" charset="0"/>
                    <a:cs typeface="Calibri" pitchFamily="34" charset="0"/>
                  </a:rPr>
                  <a:t>, </a:t>
                </a:r>
                <a:r>
                  <a:rPr lang="vi-VN" i="1" dirty="0">
                    <a:latin typeface="Calibri" pitchFamily="34" charset="0"/>
                    <a:cs typeface="Calibri" pitchFamily="34" charset="0"/>
                  </a:rPr>
                  <a:t>exper, tenure </a:t>
                </a:r>
                <a:r>
                  <a:rPr lang="vi-VN" dirty="0">
                    <a:latin typeface="Calibri" pitchFamily="34" charset="0"/>
                    <a:cs typeface="Calibri" pitchFamily="34" charset="0"/>
                  </a:rPr>
                  <a:t>trong mẫu. Hệ số của biến </a:t>
                </a:r>
                <a:r>
                  <a:rPr lang="vi-VN" i="1" dirty="0">
                    <a:latin typeface="Calibri" pitchFamily="34" charset="0"/>
                    <a:cs typeface="Calibri" pitchFamily="34" charset="0"/>
                  </a:rPr>
                  <a:t>female </a:t>
                </a:r>
                <a:r>
                  <a:rPr lang="vi-VN" dirty="0">
                    <a:latin typeface="Calibri" pitchFamily="34" charset="0"/>
                    <a:cs typeface="Calibri" pitchFamily="34" charset="0"/>
                  </a:rPr>
                  <a:t>rất thú vị bởi vì nó đo trung bình độ chênh lệch tiền lương trong 1 giờ giữa một nam và một nữ, khi cho cùng cấp độ của giáo dục, kinh nghiệm và sự bổ nhiệm. Nếu ta lấy 1 nữ và 1 nam với cùng giáo dục, kinh nghiệm và sự bổ nhiệm thì người nữ sẽ kiếm trung bình ít hơn người nam </a:t>
                </a:r>
                <a:r>
                  <a:rPr lang="en-US" dirty="0" smtClean="0">
                    <a:latin typeface="Calibri" pitchFamily="34" charset="0"/>
                    <a:cs typeface="Calibri" pitchFamily="34" charset="0"/>
                  </a:rPr>
                  <a:t>$</a:t>
                </a:r>
                <a:r>
                  <a:rPr lang="vi-VN" dirty="0" smtClean="0">
                    <a:latin typeface="Calibri" pitchFamily="34" charset="0"/>
                    <a:cs typeface="Calibri" pitchFamily="34" charset="0"/>
                  </a:rPr>
                  <a:t>1.81 </a:t>
                </a:r>
                <a:r>
                  <a:rPr lang="vi-VN" dirty="0">
                    <a:latin typeface="Calibri" pitchFamily="34" charset="0"/>
                    <a:cs typeface="Calibri" pitchFamily="34" charset="0"/>
                  </a:rPr>
                  <a:t>trên giờ </a:t>
                </a:r>
                <a:r>
                  <a:rPr lang="vi-VN" dirty="0" smtClean="0">
                    <a:latin typeface="Calibri" pitchFamily="34" charset="0"/>
                    <a:cs typeface="Calibri" pitchFamily="34" charset="0"/>
                  </a:rPr>
                  <a:t>(</a:t>
                </a:r>
                <a:r>
                  <a:rPr lang="en-US" dirty="0" smtClean="0">
                    <a:latin typeface="Calibri" pitchFamily="34" charset="0"/>
                    <a:cs typeface="Calibri" pitchFamily="34" charset="0"/>
                  </a:rPr>
                  <a:t> </a:t>
                </a:r>
                <a:r>
                  <a:rPr lang="vi-VN" dirty="0" smtClean="0">
                    <a:latin typeface="Calibri" pitchFamily="34" charset="0"/>
                    <a:cs typeface="Calibri" pitchFamily="34" charset="0"/>
                  </a:rPr>
                  <a:t>nhắc </a:t>
                </a:r>
                <a:r>
                  <a:rPr lang="vi-VN" dirty="0">
                    <a:latin typeface="Calibri" pitchFamily="34" charset="0"/>
                    <a:cs typeface="Calibri" pitchFamily="34" charset="0"/>
                  </a:rPr>
                  <a:t>lại đây là tiền lương năm 1976</a:t>
                </a:r>
                <a:r>
                  <a:rPr lang="vi-VN" dirty="0" smtClean="0">
                    <a:latin typeface="Calibri" pitchFamily="34" charset="0"/>
                    <a:cs typeface="Calibri" pitchFamily="34" charset="0"/>
                  </a:rPr>
                  <a:t>).</a:t>
                </a:r>
                <a:endParaRPr lang="en-US" dirty="0" smtClean="0">
                  <a:latin typeface="Calibri" pitchFamily="34" charset="0"/>
                  <a:cs typeface="Calibri" pitchFamily="34" charset="0"/>
                </a:endParaRPr>
              </a:p>
              <a:p>
                <a:pPr marL="109728" indent="0" algn="just">
                  <a:buNone/>
                </a:pPr>
                <a:endParaRPr lang="en-US" dirty="0">
                  <a:latin typeface="Calibri" pitchFamily="34" charset="0"/>
                  <a:cs typeface="Calibri" pitchFamily="34" charset="0"/>
                </a:endParaRPr>
              </a:p>
              <a:p>
                <a:pPr algn="just"/>
                <a:r>
                  <a:rPr lang="vi-VN" dirty="0">
                    <a:latin typeface="Calibri" pitchFamily="34" charset="0"/>
                    <a:cs typeface="Calibri" pitchFamily="34" charset="0"/>
                  </a:rPr>
                  <a:t>Và quan trọng ta cần nhớ rằng, bởi vì ta vừa thực hiện hồi qui bội và kiểm soát cho các biến </a:t>
                </a:r>
                <a:r>
                  <a:rPr lang="vi-VN" i="1" dirty="0">
                    <a:latin typeface="Calibri" pitchFamily="34" charset="0"/>
                    <a:cs typeface="Calibri" pitchFamily="34" charset="0"/>
                  </a:rPr>
                  <a:t>educ</a:t>
                </a:r>
                <a:r>
                  <a:rPr lang="vi-VN" dirty="0">
                    <a:latin typeface="Calibri" pitchFamily="34" charset="0"/>
                    <a:cs typeface="Calibri" pitchFamily="34" charset="0"/>
                  </a:rPr>
                  <a:t>, </a:t>
                </a:r>
                <a:r>
                  <a:rPr lang="vi-VN" i="1" dirty="0">
                    <a:latin typeface="Calibri" pitchFamily="34" charset="0"/>
                    <a:cs typeface="Calibri" pitchFamily="34" charset="0"/>
                  </a:rPr>
                  <a:t>exper, tenure </a:t>
                </a:r>
                <a:r>
                  <a:rPr lang="vi-VN" dirty="0">
                    <a:latin typeface="Calibri" pitchFamily="34" charset="0"/>
                    <a:cs typeface="Calibri" pitchFamily="34" charset="0"/>
                  </a:rPr>
                  <a:t>nên </a:t>
                </a:r>
                <a:r>
                  <a:rPr lang="en-US" dirty="0" smtClean="0">
                    <a:latin typeface="Calibri" pitchFamily="34" charset="0"/>
                    <a:cs typeface="Calibri" pitchFamily="34" charset="0"/>
                  </a:rPr>
                  <a:t>$</a:t>
                </a:r>
                <a:r>
                  <a:rPr lang="vi-VN" dirty="0" smtClean="0">
                    <a:latin typeface="Calibri" pitchFamily="34" charset="0"/>
                    <a:cs typeface="Calibri" pitchFamily="34" charset="0"/>
                  </a:rPr>
                  <a:t>1.81 </a:t>
                </a:r>
                <a:r>
                  <a:rPr lang="vi-VN" dirty="0">
                    <a:latin typeface="Calibri" pitchFamily="34" charset="0"/>
                    <a:cs typeface="Calibri" pitchFamily="34" charset="0"/>
                  </a:rPr>
                  <a:t>này không phải là được giải thích bởi cấp độ giáo dục, kinh nghiệm hay bổ nhiệm giữa nam và nữ. Chúng ta có thể nói ngắn gọn rằng sự sai biệt </a:t>
                </a:r>
                <a:r>
                  <a:rPr lang="en-US" dirty="0" smtClean="0">
                    <a:latin typeface="Calibri" pitchFamily="34" charset="0"/>
                    <a:cs typeface="Calibri" pitchFamily="34" charset="0"/>
                  </a:rPr>
                  <a:t>$</a:t>
                </a:r>
                <a:r>
                  <a:rPr lang="vi-VN" dirty="0" smtClean="0">
                    <a:latin typeface="Calibri" pitchFamily="34" charset="0"/>
                    <a:cs typeface="Calibri" pitchFamily="34" charset="0"/>
                  </a:rPr>
                  <a:t>1.81 </a:t>
                </a:r>
                <a:r>
                  <a:rPr lang="vi-VN" dirty="0">
                    <a:latin typeface="Calibri" pitchFamily="34" charset="0"/>
                    <a:cs typeface="Calibri" pitchFamily="34" charset="0"/>
                  </a:rPr>
                  <a:t>này tuân theo giới tính hoặc các nhân tố mà có kết hợp với giới tính mà chúng ta không thể kiểm soát trong hồi qui</a:t>
                </a:r>
                <a:r>
                  <a:rPr lang="vi-VN" dirty="0" smtClean="0">
                    <a:latin typeface="Calibri" pitchFamily="34" charset="0"/>
                    <a:cs typeface="Calibri" pitchFamily="34" charset="0"/>
                  </a:rPr>
                  <a:t>. </a:t>
                </a:r>
                <a:r>
                  <a:rPr lang="en-US" dirty="0" smtClean="0">
                    <a:latin typeface="Calibri" pitchFamily="34" charset="0"/>
                    <a:cs typeface="Calibri" pitchFamily="34" charset="0"/>
                  </a:rPr>
                  <a:t>(</a:t>
                </a:r>
                <a:r>
                  <a:rPr lang="vi-VN" dirty="0" smtClean="0">
                    <a:latin typeface="Calibri" pitchFamily="34" charset="0"/>
                    <a:cs typeface="Calibri" pitchFamily="34" charset="0"/>
                  </a:rPr>
                  <a:t>Nếu </a:t>
                </a:r>
                <a:r>
                  <a:rPr lang="vi-VN" dirty="0">
                    <a:latin typeface="Calibri" pitchFamily="34" charset="0"/>
                    <a:cs typeface="Calibri" pitchFamily="34" charset="0"/>
                  </a:rPr>
                  <a:t>tính </a:t>
                </a:r>
                <a:r>
                  <a:rPr lang="vi-VN" dirty="0" smtClean="0">
                    <a:latin typeface="Calibri" pitchFamily="34" charset="0"/>
                    <a:cs typeface="Calibri" pitchFamily="34" charset="0"/>
                  </a:rPr>
                  <a:t>theo</a:t>
                </a:r>
                <a:r>
                  <a:rPr lang="en-US" dirty="0" smtClean="0">
                    <a:latin typeface="Calibri" pitchFamily="34" charset="0"/>
                    <a:cs typeface="Calibri" pitchFamily="34" charset="0"/>
                  </a:rPr>
                  <a:t> </a:t>
                </a:r>
                <a:r>
                  <a:rPr lang="en-US" dirty="0" err="1" smtClean="0">
                    <a:latin typeface="Calibri" pitchFamily="34" charset="0"/>
                    <a:cs typeface="Calibri" pitchFamily="34" charset="0"/>
                  </a:rPr>
                  <a:t>mệnh</a:t>
                </a:r>
                <a:r>
                  <a:rPr lang="en-US" dirty="0" smtClean="0">
                    <a:latin typeface="Calibri" pitchFamily="34" charset="0"/>
                    <a:cs typeface="Calibri" pitchFamily="34" charset="0"/>
                  </a:rPr>
                  <a:t> </a:t>
                </a:r>
                <a:r>
                  <a:rPr lang="en-US" dirty="0" err="1" smtClean="0">
                    <a:latin typeface="Calibri" pitchFamily="34" charset="0"/>
                    <a:cs typeface="Calibri" pitchFamily="34" charset="0"/>
                  </a:rPr>
                  <a:t>giá</a:t>
                </a:r>
                <a:r>
                  <a:rPr lang="vi-VN" dirty="0" smtClean="0">
                    <a:latin typeface="Calibri" pitchFamily="34" charset="0"/>
                    <a:cs typeface="Calibri" pitchFamily="34" charset="0"/>
                  </a:rPr>
                  <a:t> </a:t>
                </a:r>
                <a:r>
                  <a:rPr lang="vi-VN" dirty="0">
                    <a:latin typeface="Calibri" pitchFamily="34" charset="0"/>
                    <a:cs typeface="Calibri" pitchFamily="34" charset="0"/>
                  </a:rPr>
                  <a:t>dollars năm 2003 thì sự chênh lệch này </a:t>
                </a:r>
                <a:r>
                  <a:rPr lang="vi-VN" dirty="0" smtClean="0">
                    <a:latin typeface="Calibri" pitchFamily="34" charset="0"/>
                    <a:cs typeface="Calibri" pitchFamily="34" charset="0"/>
                  </a:rPr>
                  <a:t>khoảng</a:t>
                </a:r>
                <a:r>
                  <a:rPr lang="en-US" dirty="0" smtClean="0">
                    <a:latin typeface="Calibri" pitchFamily="34" charset="0"/>
                    <a:cs typeface="Calibri" pitchFamily="34" charset="0"/>
                  </a:rPr>
                  <a:t> </a:t>
                </a:r>
                <a14:m>
                  <m:oMath xmlns:m="http://schemas.openxmlformats.org/officeDocument/2006/math">
                    <m:d>
                      <m:dPr>
                        <m:ctrlPr>
                          <a:rPr lang="en-US" b="0" i="1" smtClean="0">
                            <a:latin typeface="Cambria Math"/>
                            <a:cs typeface="Calibri" pitchFamily="34" charset="0"/>
                          </a:rPr>
                        </m:ctrlPr>
                      </m:dPr>
                      <m:e>
                        <m:r>
                          <a:rPr lang="en-US" b="0" i="1" smtClean="0">
                            <a:latin typeface="Cambria Math"/>
                            <a:cs typeface="Calibri" pitchFamily="34" charset="0"/>
                          </a:rPr>
                          <m:t>3</m:t>
                        </m:r>
                        <m:r>
                          <a:rPr lang="en-US" b="0" i="1" smtClean="0">
                            <a:latin typeface="Cambria Math"/>
                            <a:cs typeface="Calibri" pitchFamily="34" charset="0"/>
                          </a:rPr>
                          <m:t>.</m:t>
                        </m:r>
                        <m:r>
                          <a:rPr lang="en-US" b="0" i="1" smtClean="0">
                            <a:latin typeface="Cambria Math"/>
                            <a:cs typeface="Calibri" pitchFamily="34" charset="0"/>
                          </a:rPr>
                          <m:t>23</m:t>
                        </m:r>
                      </m:e>
                    </m:d>
                    <m:d>
                      <m:dPr>
                        <m:ctrlPr>
                          <a:rPr lang="en-US" b="0" i="1" smtClean="0">
                            <a:latin typeface="Cambria Math"/>
                            <a:cs typeface="Calibri" pitchFamily="34" charset="0"/>
                          </a:rPr>
                        </m:ctrlPr>
                      </m:dPr>
                      <m:e>
                        <m:r>
                          <a:rPr lang="en-US" b="0" i="1" smtClean="0">
                            <a:latin typeface="Cambria Math"/>
                            <a:cs typeface="Calibri" pitchFamily="34" charset="0"/>
                          </a:rPr>
                          <m:t>1</m:t>
                        </m:r>
                        <m:r>
                          <a:rPr lang="en-US" b="0" i="1" smtClean="0">
                            <a:latin typeface="Cambria Math"/>
                            <a:cs typeface="Calibri" pitchFamily="34" charset="0"/>
                          </a:rPr>
                          <m:t>.</m:t>
                        </m:r>
                        <m:r>
                          <a:rPr lang="en-US" b="0" i="1" smtClean="0">
                            <a:latin typeface="Cambria Math"/>
                            <a:cs typeface="Calibri" pitchFamily="34" charset="0"/>
                          </a:rPr>
                          <m:t>81</m:t>
                        </m:r>
                      </m:e>
                    </m:d>
                    <m:r>
                      <a:rPr lang="en-US" b="0" i="1" smtClean="0">
                        <a:latin typeface="Cambria Math"/>
                        <a:ea typeface="Cambria Math"/>
                        <a:cs typeface="Calibri" pitchFamily="34" charset="0"/>
                      </a:rPr>
                      <m:t>≈$</m:t>
                    </m:r>
                    <m:r>
                      <a:rPr lang="en-US" b="0" i="1" smtClean="0">
                        <a:latin typeface="Cambria Math"/>
                        <a:ea typeface="Cambria Math"/>
                        <a:cs typeface="Calibri" pitchFamily="34" charset="0"/>
                      </a:rPr>
                      <m:t>5</m:t>
                    </m:r>
                    <m:r>
                      <a:rPr lang="en-US" b="0" i="1" smtClean="0">
                        <a:latin typeface="Cambria Math"/>
                        <a:ea typeface="Cambria Math"/>
                        <a:cs typeface="Calibri" pitchFamily="34" charset="0"/>
                      </a:rPr>
                      <m:t>.</m:t>
                    </m:r>
                    <m:r>
                      <a:rPr lang="en-US" b="0" i="1" smtClean="0">
                        <a:latin typeface="Cambria Math"/>
                        <a:ea typeface="Cambria Math"/>
                        <a:cs typeface="Calibri" pitchFamily="34" charset="0"/>
                      </a:rPr>
                      <m:t>85</m:t>
                    </m:r>
                  </m:oMath>
                </a14:m>
                <a:r>
                  <a:rPr lang="vi-VN" dirty="0" smtClean="0">
                    <a:latin typeface="Calibri" pitchFamily="34" charset="0"/>
                    <a:cs typeface="Calibri" pitchFamily="34" charset="0"/>
                  </a:rPr>
                  <a:t>)</a:t>
                </a:r>
                <a:r>
                  <a:rPr lang="en-US" dirty="0" smtClean="0">
                    <a:latin typeface="Calibri" pitchFamily="34" charset="0"/>
                    <a:cs typeface="Calibri" pitchFamily="34" charset="0"/>
                  </a:rPr>
                  <a:t>.</a:t>
                </a:r>
              </a:p>
              <a:p>
                <a:pPr algn="just"/>
                <a:r>
                  <a:rPr lang="vi-VN" dirty="0" smtClean="0">
                    <a:latin typeface="Calibri" pitchFamily="34" charset="0"/>
                    <a:cs typeface="Calibri" pitchFamily="34" charset="0"/>
                  </a:rPr>
                  <a:t>Hoàn </a:t>
                </a:r>
                <a:r>
                  <a:rPr lang="vi-VN" dirty="0">
                    <a:latin typeface="Calibri" pitchFamily="34" charset="0"/>
                    <a:cs typeface="Calibri" pitchFamily="34" charset="0"/>
                  </a:rPr>
                  <a:t>toàn hợp lý để so sánh hệ số của </a:t>
                </a:r>
                <a:r>
                  <a:rPr lang="vi-VN" i="1" dirty="0">
                    <a:latin typeface="Calibri" pitchFamily="34" charset="0"/>
                    <a:cs typeface="Calibri" pitchFamily="34" charset="0"/>
                  </a:rPr>
                  <a:t>female </a:t>
                </a:r>
                <a:r>
                  <a:rPr lang="vi-VN" dirty="0">
                    <a:latin typeface="Calibri" pitchFamily="34" charset="0"/>
                    <a:cs typeface="Calibri" pitchFamily="34" charset="0"/>
                  </a:rPr>
                  <a:t>trong phương trình (7.4) với ước lượng mà ta có được khi tất cả các biến giải thích còn lại bị rút ra khỏi mô </a:t>
                </a:r>
                <a:r>
                  <a:rPr lang="vi-VN" dirty="0" smtClean="0">
                    <a:latin typeface="Calibri" pitchFamily="34" charset="0"/>
                    <a:cs typeface="Calibri" pitchFamily="34" charset="0"/>
                  </a:rPr>
                  <a:t>hình</a:t>
                </a:r>
                <a:r>
                  <a:rPr lang="en-US" dirty="0" smtClean="0">
                    <a:latin typeface="Calibri" pitchFamily="34" charset="0"/>
                    <a:cs typeface="Calibri" pitchFamily="34" charset="0"/>
                  </a:rPr>
                  <a:t>.</a:t>
                </a:r>
                <a:endParaRPr lang="en-US"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752" r="-667" b="-135"/>
                </a:stretch>
              </a:blipFill>
            </p:spPr>
            <p:txBody>
              <a:bodyPr/>
              <a:lstStyle/>
              <a:p>
                <a:r>
                  <a:rPr lang="en-US">
                    <a:noFill/>
                  </a:rPr>
                  <a:t> </a:t>
                </a:r>
              </a:p>
            </p:txBody>
          </p:sp>
        </mc:Fallback>
      </mc:AlternateContent>
      <p:sp>
        <p:nvSpPr>
          <p:cNvPr id="3" name="Title 2"/>
          <p:cNvSpPr>
            <a:spLocks noGrp="1"/>
          </p:cNvSpPr>
          <p:nvPr>
            <p:ph type="title"/>
          </p:nvPr>
        </p:nvSpPr>
        <p:spPr/>
        <p:txBody>
          <a:bodyPr>
            <a:normAutofit fontScale="90000"/>
          </a:bodyPr>
          <a:lstStyle/>
          <a:p>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Mô</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err="1">
                <a:solidFill>
                  <a:srgbClr val="FF0000"/>
                </a:solidFill>
                <a:effectLst/>
                <a:latin typeface="Calibri" pitchFamily="34" charset="0"/>
                <a:cs typeface="Calibri" pitchFamily="34" charset="0"/>
              </a:rPr>
              <a:t>tuyến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bội</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với</a:t>
            </a:r>
            <a:r>
              <a:rPr lang="en-US" dirty="0">
                <a:solidFill>
                  <a:srgbClr val="FF0000"/>
                </a:solidFill>
                <a:effectLst/>
                <a:latin typeface="Calibri" pitchFamily="34" charset="0"/>
                <a:cs typeface="Calibri" pitchFamily="34" charset="0"/>
              </a:rPr>
              <a:t> 1 </a:t>
            </a:r>
            <a:r>
              <a:rPr lang="en-US" dirty="0" err="1">
                <a:solidFill>
                  <a:srgbClr val="FF0000"/>
                </a:solidFill>
                <a:effectLst/>
                <a:latin typeface="Calibri" pitchFamily="34" charset="0"/>
                <a:cs typeface="Calibri" pitchFamily="34" charset="0"/>
              </a:rPr>
              <a:t>biến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gia</a:t>
            </a:r>
            <a:r>
              <a:rPr lang="en-US" dirty="0">
                <a:solidFill>
                  <a:srgbClr val="FF0000"/>
                </a:solidFill>
                <a:effectLst/>
                <a:latin typeface="Calibri" pitchFamily="34" charset="0"/>
                <a:cs typeface="Calibri" pitchFamily="34" charset="0"/>
              </a:rPr>
              <a:t>̉ </a:t>
            </a:r>
            <a:endParaRPr lang="en-US" dirty="0">
              <a:solidFill>
                <a:srgbClr val="FF0000"/>
              </a:solidFill>
            </a:endParaRPr>
          </a:p>
        </p:txBody>
      </p:sp>
    </p:spTree>
    <p:extLst>
      <p:ext uri="{BB962C8B-B14F-4D97-AF65-F5344CB8AC3E}">
        <p14:creationId xmlns:p14="http://schemas.microsoft.com/office/powerpoint/2010/main" val="1731787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endParaRPr lang="en-US" sz="1900" dirty="0" smtClean="0">
              <a:latin typeface="Calibri" pitchFamily="34" charset="0"/>
              <a:cs typeface="Calibri" pitchFamily="34" charset="0"/>
            </a:endParaRPr>
          </a:p>
          <a:p>
            <a:endParaRPr lang="en-US" sz="1900" dirty="0">
              <a:latin typeface="Calibri" pitchFamily="34" charset="0"/>
              <a:cs typeface="Calibri" pitchFamily="34" charset="0"/>
            </a:endParaRPr>
          </a:p>
          <a:p>
            <a:endParaRPr lang="en-US" sz="1900" dirty="0" smtClean="0">
              <a:latin typeface="Calibri" pitchFamily="34" charset="0"/>
              <a:cs typeface="Calibri" pitchFamily="34" charset="0"/>
            </a:endParaRPr>
          </a:p>
          <a:p>
            <a:endParaRPr lang="en-US" sz="1900" dirty="0" smtClean="0">
              <a:latin typeface="Calibri" pitchFamily="34" charset="0"/>
              <a:cs typeface="Calibri" pitchFamily="34" charset="0"/>
            </a:endParaRPr>
          </a:p>
          <a:p>
            <a:pPr algn="just"/>
            <a:r>
              <a:rPr lang="vi-VN" sz="1900" dirty="0" smtClean="0">
                <a:latin typeface="Calibri" pitchFamily="34" charset="0"/>
                <a:cs typeface="Calibri" pitchFamily="34" charset="0"/>
              </a:rPr>
              <a:t>Các </a:t>
            </a:r>
            <a:r>
              <a:rPr lang="vi-VN" sz="1900" dirty="0">
                <a:latin typeface="Calibri" pitchFamily="34" charset="0"/>
                <a:cs typeface="Calibri" pitchFamily="34" charset="0"/>
              </a:rPr>
              <a:t>hệ số trong công thức (7.5) có một sự giải thích đơn giản. Hệ số chặn là trung bình tiền lương cho nam trong mẫu </a:t>
            </a:r>
            <a:r>
              <a:rPr lang="vi-VN" sz="1900" dirty="0" smtClean="0">
                <a:latin typeface="Calibri" pitchFamily="34" charset="0"/>
                <a:cs typeface="Calibri" pitchFamily="34" charset="0"/>
              </a:rPr>
              <a:t>(đặt </a:t>
            </a:r>
            <a:r>
              <a:rPr lang="vi-VN" sz="1900" i="1" dirty="0">
                <a:latin typeface="Calibri" pitchFamily="34" charset="0"/>
                <a:cs typeface="Calibri" pitchFamily="34" charset="0"/>
              </a:rPr>
              <a:t>female </a:t>
            </a:r>
            <a:r>
              <a:rPr lang="vi-VN" sz="1900" dirty="0" smtClean="0">
                <a:latin typeface="Calibri" pitchFamily="34" charset="0"/>
                <a:cs typeface="Calibri" pitchFamily="34" charset="0"/>
              </a:rPr>
              <a:t>=</a:t>
            </a:r>
            <a:r>
              <a:rPr lang="en-US" sz="1900" dirty="0" smtClean="0">
                <a:latin typeface="Calibri" pitchFamily="34" charset="0"/>
                <a:cs typeface="Calibri" pitchFamily="34" charset="0"/>
              </a:rPr>
              <a:t> </a:t>
            </a:r>
            <a:r>
              <a:rPr lang="vi-VN" sz="1900" dirty="0" smtClean="0">
                <a:latin typeface="Calibri" pitchFamily="34" charset="0"/>
                <a:cs typeface="Calibri" pitchFamily="34" charset="0"/>
              </a:rPr>
              <a:t>0</a:t>
            </a:r>
            <a:r>
              <a:rPr lang="vi-VN" sz="1900" dirty="0">
                <a:latin typeface="Calibri" pitchFamily="34" charset="0"/>
                <a:cs typeface="Calibri" pitchFamily="34" charset="0"/>
              </a:rPr>
              <a:t>), nên nam sẽ kiếm trung bình </a:t>
            </a:r>
            <a:r>
              <a:rPr lang="en-US" sz="1900" dirty="0" smtClean="0">
                <a:latin typeface="Calibri" pitchFamily="34" charset="0"/>
                <a:cs typeface="Calibri" pitchFamily="34" charset="0"/>
              </a:rPr>
              <a:t>$</a:t>
            </a:r>
            <a:r>
              <a:rPr lang="vi-VN" sz="1900" dirty="0" smtClean="0">
                <a:latin typeface="Calibri" pitchFamily="34" charset="0"/>
                <a:cs typeface="Calibri" pitchFamily="34" charset="0"/>
              </a:rPr>
              <a:t>7.10 </a:t>
            </a:r>
            <a:r>
              <a:rPr lang="vi-VN" sz="1900" dirty="0">
                <a:latin typeface="Calibri" pitchFamily="34" charset="0"/>
                <a:cs typeface="Calibri" pitchFamily="34" charset="0"/>
              </a:rPr>
              <a:t>trên giờ. Hệ số trên biến </a:t>
            </a:r>
            <a:r>
              <a:rPr lang="vi-VN" sz="1900" i="1" dirty="0">
                <a:latin typeface="Calibri" pitchFamily="34" charset="0"/>
                <a:cs typeface="Calibri" pitchFamily="34" charset="0"/>
              </a:rPr>
              <a:t>female </a:t>
            </a:r>
            <a:r>
              <a:rPr lang="vi-VN" sz="1900" dirty="0">
                <a:latin typeface="Calibri" pitchFamily="34" charset="0"/>
                <a:cs typeface="Calibri" pitchFamily="34" charset="0"/>
              </a:rPr>
              <a:t>là sự khác biệt chênh lệch tiền lương giữa nam và nữ. Do đó, trung bình tiền lương theo giờ cho nữ trong mẫu này là 7.10 </a:t>
            </a:r>
            <a:r>
              <a:rPr lang="vi-VN" sz="1900" dirty="0" smtClean="0">
                <a:latin typeface="Calibri" pitchFamily="34" charset="0"/>
                <a:cs typeface="Calibri" pitchFamily="34" charset="0"/>
              </a:rPr>
              <a:t>–</a:t>
            </a:r>
            <a:r>
              <a:rPr lang="en-US" sz="1900" dirty="0" smtClean="0">
                <a:latin typeface="Calibri" pitchFamily="34" charset="0"/>
                <a:cs typeface="Calibri" pitchFamily="34" charset="0"/>
              </a:rPr>
              <a:t> </a:t>
            </a:r>
            <a:r>
              <a:rPr lang="vi-VN" sz="1900" dirty="0" smtClean="0">
                <a:latin typeface="Calibri" pitchFamily="34" charset="0"/>
                <a:cs typeface="Calibri" pitchFamily="34" charset="0"/>
              </a:rPr>
              <a:t>2.51 </a:t>
            </a:r>
            <a:r>
              <a:rPr lang="vi-VN" sz="1900" dirty="0">
                <a:latin typeface="Calibri" pitchFamily="34" charset="0"/>
                <a:cs typeface="Calibri" pitchFamily="34" charset="0"/>
              </a:rPr>
              <a:t>= 4.59 hay </a:t>
            </a:r>
            <a:r>
              <a:rPr lang="en-US" sz="1900" dirty="0" smtClean="0">
                <a:latin typeface="Calibri" pitchFamily="34" charset="0"/>
                <a:cs typeface="Calibri" pitchFamily="34" charset="0"/>
              </a:rPr>
              <a:t>$</a:t>
            </a:r>
            <a:r>
              <a:rPr lang="vi-VN" sz="1900" dirty="0" smtClean="0">
                <a:latin typeface="Calibri" pitchFamily="34" charset="0"/>
                <a:cs typeface="Calibri" pitchFamily="34" charset="0"/>
              </a:rPr>
              <a:t>4.59 </a:t>
            </a:r>
            <a:r>
              <a:rPr lang="vi-VN" sz="1900" dirty="0">
                <a:latin typeface="Calibri" pitchFamily="34" charset="0"/>
                <a:cs typeface="Calibri" pitchFamily="34" charset="0"/>
              </a:rPr>
              <a:t>( Nhân tiện, có 274 người nam và 252 người nữ trong mẫu</a:t>
            </a:r>
            <a:r>
              <a:rPr lang="vi-VN" sz="1900" dirty="0" smtClean="0">
                <a:latin typeface="Calibri" pitchFamily="34" charset="0"/>
                <a:cs typeface="Calibri" pitchFamily="34" charset="0"/>
              </a:rPr>
              <a:t>)</a:t>
            </a:r>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a:p>
            <a:pPr algn="just"/>
            <a:r>
              <a:rPr lang="vi-VN" sz="1900" dirty="0">
                <a:latin typeface="Calibri" pitchFamily="34" charset="0"/>
                <a:cs typeface="Calibri" pitchFamily="34" charset="0"/>
              </a:rPr>
              <a:t>Phương trình (7.5) cung cấp một cách đơn giản để thực </a:t>
            </a:r>
            <a:r>
              <a:rPr lang="vi-VN" sz="1900" dirty="0" smtClean="0">
                <a:latin typeface="Calibri" pitchFamily="34" charset="0"/>
                <a:cs typeface="Calibri" pitchFamily="34" charset="0"/>
              </a:rPr>
              <a:t>hiện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một</a:t>
            </a:r>
            <a:r>
              <a:rPr lang="vi-VN" sz="1900" dirty="0" smtClean="0">
                <a:latin typeface="Calibri" pitchFamily="34" charset="0"/>
                <a:cs typeface="Calibri" pitchFamily="34" charset="0"/>
              </a:rPr>
              <a:t> kiểm </a:t>
            </a:r>
            <a:r>
              <a:rPr lang="vi-VN" sz="1900" dirty="0">
                <a:latin typeface="Calibri" pitchFamily="34" charset="0"/>
                <a:cs typeface="Calibri" pitchFamily="34" charset="0"/>
              </a:rPr>
              <a:t>định về so sánh trung bình (comparison-of-means) giữa hai nhóm, và trong trường hợp này là nam và nữ. Sự chênh lệch ước lượng được là -2.51 có thống kê t là </a:t>
            </a:r>
            <a:r>
              <a:rPr lang="en-US" sz="1900" dirty="0" smtClean="0">
                <a:latin typeface="Calibri" pitchFamily="34" charset="0"/>
                <a:cs typeface="Calibri" pitchFamily="34" charset="0"/>
              </a:rPr>
              <a:t>-</a:t>
            </a:r>
            <a:r>
              <a:rPr lang="vi-VN" sz="1900" dirty="0" smtClean="0">
                <a:latin typeface="Calibri" pitchFamily="34" charset="0"/>
                <a:cs typeface="Calibri" pitchFamily="34" charset="0"/>
              </a:rPr>
              <a:t>8.27 </a:t>
            </a:r>
            <a:r>
              <a:rPr lang="vi-VN" sz="1900" dirty="0">
                <a:latin typeface="Calibri" pitchFamily="34" charset="0"/>
                <a:cs typeface="Calibri" pitchFamily="34" charset="0"/>
              </a:rPr>
              <a:t>rất có ý</a:t>
            </a:r>
            <a:r>
              <a:rPr lang="en-US" sz="1900" dirty="0">
                <a:latin typeface="Calibri" pitchFamily="34" charset="0"/>
                <a:cs typeface="Calibri" pitchFamily="34" charset="0"/>
              </a:rPr>
              <a:t> </a:t>
            </a:r>
            <a:r>
              <a:rPr lang="en-US" sz="1900" dirty="0" err="1">
                <a:latin typeface="Calibri" pitchFamily="34" charset="0"/>
                <a:cs typeface="Calibri" pitchFamily="34" charset="0"/>
              </a:rPr>
              <a:t>nghĩa</a:t>
            </a:r>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p:txBody>
      </p:sp>
      <p:sp>
        <p:nvSpPr>
          <p:cNvPr id="3" name="Title 2"/>
          <p:cNvSpPr>
            <a:spLocks noGrp="1"/>
          </p:cNvSpPr>
          <p:nvPr>
            <p:ph type="title"/>
          </p:nvPr>
        </p:nvSpPr>
        <p:spPr>
          <a:xfrm>
            <a:off x="457200" y="274638"/>
            <a:ext cx="8229600" cy="922114"/>
          </a:xfrm>
        </p:spPr>
        <p:txBody>
          <a:bodyPr>
            <a:normAutofit fontScale="90000"/>
          </a:bodyPr>
          <a:lstStyle/>
          <a:p>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Mô</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err="1">
                <a:solidFill>
                  <a:srgbClr val="FF0000"/>
                </a:solidFill>
                <a:effectLst/>
                <a:latin typeface="Calibri" pitchFamily="34" charset="0"/>
                <a:cs typeface="Calibri" pitchFamily="34" charset="0"/>
              </a:rPr>
              <a:t>tuyến</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tính</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bội</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với</a:t>
            </a:r>
            <a:r>
              <a:rPr lang="en-US" dirty="0">
                <a:solidFill>
                  <a:srgbClr val="FF0000"/>
                </a:solidFill>
                <a:effectLst/>
                <a:latin typeface="Calibri" pitchFamily="34" charset="0"/>
                <a:cs typeface="Calibri" pitchFamily="34" charset="0"/>
              </a:rPr>
              <a:t> 1 </a:t>
            </a:r>
            <a:r>
              <a:rPr lang="en-US" dirty="0" err="1">
                <a:solidFill>
                  <a:srgbClr val="FF0000"/>
                </a:solidFill>
                <a:effectLst/>
                <a:latin typeface="Calibri" pitchFamily="34" charset="0"/>
                <a:cs typeface="Calibri" pitchFamily="34" charset="0"/>
              </a:rPr>
              <a:t>biến</a:t>
            </a:r>
            <a:r>
              <a:rPr lang="en-US" dirty="0">
                <a:solidFill>
                  <a:srgbClr val="FF0000"/>
                </a:solidFill>
                <a:effectLst/>
                <a:latin typeface="Calibri" pitchFamily="34" charset="0"/>
                <a:cs typeface="Calibri" pitchFamily="34" charset="0"/>
              </a:rPr>
              <a:t> </a:t>
            </a:r>
            <a:r>
              <a:rPr lang="en-US" dirty="0" err="1" smtClean="0">
                <a:solidFill>
                  <a:srgbClr val="FF0000"/>
                </a:solidFill>
                <a:effectLst/>
                <a:latin typeface="Calibri" pitchFamily="34" charset="0"/>
                <a:cs typeface="Calibri" pitchFamily="34" charset="0"/>
              </a:rPr>
              <a:t>gia</a:t>
            </a:r>
            <a:r>
              <a:rPr lang="en-US" dirty="0" smtClean="0">
                <a:solidFill>
                  <a:srgbClr val="FF0000"/>
                </a:solidFill>
                <a:effectLst/>
                <a:latin typeface="Calibri" pitchFamily="34" charset="0"/>
                <a:cs typeface="Calibri" pitchFamily="34" charset="0"/>
              </a:rPr>
              <a:t>̉</a:t>
            </a:r>
            <a:endParaRPr lang="en-US" dirty="0">
              <a:solidFill>
                <a:srgbClr val="FF0000"/>
              </a:solidFill>
            </a:endParaRPr>
          </a:p>
        </p:txBody>
      </p:sp>
      <mc:AlternateContent xmlns:mc="http://schemas.openxmlformats.org/markup-compatibility/2006" xmlns:a14="http://schemas.microsoft.com/office/drawing/2010/main">
        <mc:Choice Requires="a14">
          <p:sp>
            <p:nvSpPr>
              <p:cNvPr id="5" name="TextBox 4"/>
              <p:cNvSpPr txBox="1"/>
              <p:nvPr/>
            </p:nvSpPr>
            <p:spPr>
              <a:xfrm>
                <a:off x="1835696" y="1340768"/>
                <a:ext cx="4896544" cy="1200329"/>
              </a:xfrm>
              <a:prstGeom prst="rect">
                <a:avLst/>
              </a:prstGeom>
              <a:noFill/>
            </p:spPr>
            <p:txBody>
              <a:bodyPr wrap="square" rtlCol="0">
                <a:spAutoFit/>
              </a:bodyPr>
              <a:lstStyle/>
              <a:p>
                <a14:m>
                  <m:oMath xmlns:m="http://schemas.openxmlformats.org/officeDocument/2006/math">
                    <m:acc>
                      <m:accPr>
                        <m:chr m:val="̂"/>
                        <m:ctrlPr>
                          <a:rPr lang="en-US" i="1" smtClean="0">
                            <a:latin typeface="Cambria Math"/>
                          </a:rPr>
                        </m:ctrlPr>
                      </m:accPr>
                      <m:e>
                        <m:r>
                          <a:rPr lang="en-US" b="0" i="1" smtClean="0">
                            <a:latin typeface="Cambria Math"/>
                          </a:rPr>
                          <m:t>𝑤𝑎𝑔𝑒</m:t>
                        </m:r>
                      </m:e>
                    </m:acc>
                    <m:r>
                      <a:rPr lang="en-US" b="0" i="1" smtClean="0">
                        <a:latin typeface="Cambria Math"/>
                      </a:rPr>
                      <m:t>=</m:t>
                    </m:r>
                    <m:r>
                      <a:rPr lang="en-US" b="0" i="1" smtClean="0">
                        <a:latin typeface="Cambria Math"/>
                      </a:rPr>
                      <m:t>7</m:t>
                    </m:r>
                    <m:r>
                      <a:rPr lang="en-US" b="0" i="1" smtClean="0">
                        <a:latin typeface="Cambria Math"/>
                      </a:rPr>
                      <m:t>.</m:t>
                    </m:r>
                    <m:r>
                      <a:rPr lang="en-US" b="0" i="1" smtClean="0">
                        <a:latin typeface="Cambria Math"/>
                      </a:rPr>
                      <m:t>10</m:t>
                    </m:r>
                    <m:r>
                      <a:rPr lang="en-US" b="0" i="1" smtClean="0">
                        <a:latin typeface="Cambria Math"/>
                      </a:rPr>
                      <m:t>−</m:t>
                    </m:r>
                    <m:r>
                      <a:rPr lang="en-US" b="0" i="1" smtClean="0">
                        <a:latin typeface="Cambria Math"/>
                      </a:rPr>
                      <m:t>2</m:t>
                    </m:r>
                    <m:r>
                      <a:rPr lang="en-US" b="0" i="1" smtClean="0">
                        <a:latin typeface="Cambria Math"/>
                      </a:rPr>
                      <m:t>.</m:t>
                    </m:r>
                    <m:r>
                      <a:rPr lang="en-US" b="0" i="1" smtClean="0">
                        <a:latin typeface="Cambria Math"/>
                      </a:rPr>
                      <m:t>51</m:t>
                    </m:r>
                    <m:r>
                      <a:rPr lang="en-US" b="0" i="1" smtClean="0">
                        <a:latin typeface="Cambria Math"/>
                      </a:rPr>
                      <m:t>𝑓𝑒𝑚𝑎𝑙𝑒</m:t>
                    </m:r>
                  </m:oMath>
                </a14:m>
                <a:r>
                  <a:rPr lang="en-US" dirty="0" smtClean="0"/>
                  <a:t>		(7.5)</a:t>
                </a:r>
              </a:p>
              <a:p>
                <a:endParaRPr lang="en-US" dirty="0" smtClean="0"/>
              </a:p>
              <a:p>
                <a:r>
                  <a:rPr lang="en-US" b="0" dirty="0" smtClean="0"/>
                  <a:t>	</a:t>
                </a:r>
              </a:p>
              <a:p>
                <a:r>
                  <a:rPr lang="en-US" dirty="0"/>
                  <a:t>	</a:t>
                </a:r>
                <a14:m>
                  <m:oMath xmlns:m="http://schemas.openxmlformats.org/officeDocument/2006/math">
                    <m:r>
                      <a:rPr lang="en-US" b="0" i="1" smtClean="0">
                        <a:latin typeface="Cambria Math"/>
                      </a:rPr>
                      <m:t>𝑛</m:t>
                    </m:r>
                    <m:r>
                      <a:rPr lang="en-US" b="0" i="1" smtClean="0">
                        <a:latin typeface="Cambria Math"/>
                      </a:rPr>
                      <m:t>=</m:t>
                    </m:r>
                    <m:r>
                      <a:rPr lang="en-US" b="0" i="1" smtClean="0">
                        <a:latin typeface="Cambria Math"/>
                      </a:rPr>
                      <m:t>526</m:t>
                    </m:r>
                    <m:r>
                      <a:rPr lang="en-US" b="0" i="1" smtClean="0">
                        <a:latin typeface="Cambria Math"/>
                      </a:rPr>
                      <m:t>, </m:t>
                    </m:r>
                    <m:sSup>
                      <m:sSupPr>
                        <m:ctrlPr>
                          <a:rPr lang="en-US" b="0" i="1" smtClean="0">
                            <a:latin typeface="Cambria Math"/>
                          </a:rPr>
                        </m:ctrlPr>
                      </m:sSupPr>
                      <m:e>
                        <m:r>
                          <a:rPr lang="en-US" b="0" i="1" smtClean="0">
                            <a:latin typeface="Cambria Math"/>
                          </a:rPr>
                          <m:t>𝑅</m:t>
                        </m:r>
                      </m:e>
                      <m:sup>
                        <m:r>
                          <a:rPr lang="en-US" b="0" i="1" smtClean="0">
                            <a:latin typeface="Cambria Math"/>
                          </a:rPr>
                          <m:t>2</m:t>
                        </m:r>
                      </m:sup>
                    </m:sSup>
                    <m:r>
                      <a:rPr lang="en-US" b="0" i="1" smtClean="0">
                        <a:latin typeface="Cambria Math"/>
                      </a:rPr>
                      <m:t>=.</m:t>
                    </m:r>
                    <m:r>
                      <a:rPr lang="en-US" b="0" i="1" smtClean="0">
                        <a:latin typeface="Cambria Math"/>
                      </a:rPr>
                      <m:t>116</m:t>
                    </m:r>
                  </m:oMath>
                </a14:m>
                <a:r>
                  <a:rPr lang="en-US" dirty="0" smtClean="0"/>
                  <a:t>	</a:t>
                </a:r>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1835696" y="1340768"/>
                <a:ext cx="4896544" cy="1200329"/>
              </a:xfrm>
              <a:prstGeom prst="rect">
                <a:avLst/>
              </a:prstGeom>
              <a:blipFill rotWithShape="1">
                <a:blip r:embed="rId2"/>
                <a:stretch>
                  <a:fillRect t="-30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703273" y="1690835"/>
                <a:ext cx="4320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m:t>
                          </m:r>
                          <m:r>
                            <a:rPr lang="en-US" b="0" i="1" smtClean="0">
                              <a:latin typeface="Cambria Math"/>
                            </a:rPr>
                            <m:t>21</m:t>
                          </m:r>
                        </m:e>
                      </m:d>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703273" y="1690835"/>
                <a:ext cx="432048" cy="369332"/>
              </a:xfrm>
              <a:prstGeom prst="rect">
                <a:avLst/>
              </a:prstGeom>
              <a:blipFill rotWithShape="1">
                <a:blip r:embed="rId3"/>
                <a:stretch>
                  <a:fillRect r="-338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419872" y="1690835"/>
                <a:ext cx="43204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b="0" i="1" smtClean="0">
                              <a:latin typeface="Cambria Math"/>
                            </a:rPr>
                          </m:ctrlPr>
                        </m:dPr>
                        <m:e>
                          <m:r>
                            <a:rPr lang="en-US" b="0" i="1" smtClean="0">
                              <a:latin typeface="Cambria Math"/>
                            </a:rPr>
                            <m:t>.</m:t>
                          </m:r>
                          <m:r>
                            <a:rPr lang="en-US" b="0" i="1" smtClean="0">
                              <a:latin typeface="Cambria Math"/>
                            </a:rPr>
                            <m:t>30</m:t>
                          </m:r>
                        </m:e>
                      </m:d>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419872" y="1690835"/>
                <a:ext cx="432048" cy="369332"/>
              </a:xfrm>
              <a:prstGeom prst="rect">
                <a:avLst/>
              </a:prstGeom>
              <a:blipFill rotWithShape="1">
                <a:blip r:embed="rId4"/>
                <a:stretch>
                  <a:fillRect r="-33803"/>
                </a:stretch>
              </a:blipFill>
            </p:spPr>
            <p:txBody>
              <a:bodyPr/>
              <a:lstStyle/>
              <a:p>
                <a:r>
                  <a:rPr lang="en-US">
                    <a:noFill/>
                  </a:rPr>
                  <a:t> </a:t>
                </a:r>
              </a:p>
            </p:txBody>
          </p:sp>
        </mc:Fallback>
      </mc:AlternateContent>
    </p:spTree>
    <p:extLst>
      <p:ext uri="{BB962C8B-B14F-4D97-AF65-F5344CB8AC3E}">
        <p14:creationId xmlns:p14="http://schemas.microsoft.com/office/powerpoint/2010/main" val="1146224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21596" y="1268760"/>
            <a:ext cx="8229600" cy="5112568"/>
          </a:xfrm>
        </p:spPr>
        <p:txBody>
          <a:bodyPr>
            <a:normAutofit fontScale="92500" lnSpcReduction="10000"/>
          </a:bodyPr>
          <a:lstStyle/>
          <a:p>
            <a:pPr algn="just"/>
            <a:r>
              <a:rPr lang="en-US" sz="2100" dirty="0" err="1" smtClean="0">
                <a:latin typeface="Calibri" pitchFamily="34" charset="0"/>
                <a:cs typeface="Calibri" pitchFamily="34" charset="0"/>
              </a:rPr>
              <a:t>Để</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làm</a:t>
            </a:r>
            <a:r>
              <a:rPr lang="en-US" sz="2100" dirty="0">
                <a:latin typeface="Calibri" pitchFamily="34" charset="0"/>
                <a:cs typeface="Calibri" pitchFamily="34" charset="0"/>
              </a:rPr>
              <a:t> </a:t>
            </a:r>
            <a:r>
              <a:rPr lang="en-US" sz="2100" dirty="0" err="1">
                <a:latin typeface="Calibri" pitchFamily="34" charset="0"/>
                <a:cs typeface="Calibri" pitchFamily="34" charset="0"/>
              </a:rPr>
              <a:t>ro</a:t>
            </a:r>
            <a:r>
              <a:rPr lang="en-US" sz="2100" dirty="0">
                <a:latin typeface="Calibri" pitchFamily="34" charset="0"/>
                <a:cs typeface="Calibri" pitchFamily="34" charset="0"/>
              </a:rPr>
              <a:t>̃ </a:t>
            </a:r>
            <a:r>
              <a:rPr lang="en-US" sz="2100" dirty="0" err="1">
                <a:latin typeface="Calibri" pitchFamily="34" charset="0"/>
                <a:cs typeface="Calibri" pitchFamily="34" charset="0"/>
              </a:rPr>
              <a:t>hơn</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về</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vấn</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đề</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này</a:t>
            </a:r>
            <a:r>
              <a:rPr lang="en-US" sz="2100" dirty="0">
                <a:latin typeface="Calibri" pitchFamily="34" charset="0"/>
                <a:cs typeface="Calibri" pitchFamily="34" charset="0"/>
              </a:rPr>
              <a:t>, </a:t>
            </a:r>
            <a:r>
              <a:rPr lang="en-US" sz="2100" dirty="0" err="1">
                <a:latin typeface="Calibri" pitchFamily="34" charset="0"/>
                <a:cs typeface="Calibri" pitchFamily="34" charset="0"/>
              </a:rPr>
              <a:t>chúng</a:t>
            </a:r>
            <a:r>
              <a:rPr lang="en-US" sz="2100" dirty="0">
                <a:latin typeface="Calibri" pitchFamily="34" charset="0"/>
                <a:cs typeface="Calibri" pitchFamily="34" charset="0"/>
              </a:rPr>
              <a:t> ta </a:t>
            </a:r>
            <a:r>
              <a:rPr lang="en-US" sz="2100" dirty="0" err="1">
                <a:latin typeface="Calibri" pitchFamily="34" charset="0"/>
                <a:cs typeface="Calibri" pitchFamily="34" charset="0"/>
              </a:rPr>
              <a:t>còn</a:t>
            </a:r>
            <a:r>
              <a:rPr lang="en-US" sz="2100" dirty="0">
                <a:latin typeface="Calibri" pitchFamily="34" charset="0"/>
                <a:cs typeface="Calibri" pitchFamily="34" charset="0"/>
              </a:rPr>
              <a:t> có </a:t>
            </a:r>
            <a:r>
              <a:rPr lang="en-US" sz="2100" dirty="0" err="1" smtClean="0">
                <a:latin typeface="Calibri" pitchFamily="34" charset="0"/>
                <a:cs typeface="Calibri" pitchFamily="34" charset="0"/>
              </a:rPr>
              <a:t>thể</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sư</a:t>
            </a:r>
            <a:r>
              <a:rPr lang="en-US" sz="2100" dirty="0">
                <a:latin typeface="Calibri" pitchFamily="34" charset="0"/>
                <a:cs typeface="Calibri" pitchFamily="34" charset="0"/>
              </a:rPr>
              <a:t>̉ </a:t>
            </a:r>
            <a:r>
              <a:rPr lang="en-US" sz="2100" dirty="0" err="1">
                <a:latin typeface="Calibri" pitchFamily="34" charset="0"/>
                <a:cs typeface="Calibri" pitchFamily="34" charset="0"/>
              </a:rPr>
              <a:t>dụng</a:t>
            </a:r>
            <a:r>
              <a:rPr lang="en-US" sz="2100" dirty="0">
                <a:latin typeface="Calibri" pitchFamily="34" charset="0"/>
                <a:cs typeface="Calibri" pitchFamily="34" charset="0"/>
              </a:rPr>
              <a:t> </a:t>
            </a:r>
            <a:r>
              <a:rPr lang="en-US" sz="2100" dirty="0" err="1">
                <a:latin typeface="Calibri" pitchFamily="34" charset="0"/>
                <a:cs typeface="Calibri" pitchFamily="34" charset="0"/>
              </a:rPr>
              <a:t>thêm</a:t>
            </a:r>
            <a:r>
              <a:rPr lang="en-US" sz="2100" dirty="0">
                <a:latin typeface="Calibri" pitchFamily="34" charset="0"/>
                <a:cs typeface="Calibri" pitchFamily="34" charset="0"/>
              </a:rPr>
              <a:t> </a:t>
            </a:r>
            <a:r>
              <a:rPr lang="en-US" sz="2100" dirty="0" err="1">
                <a:latin typeface="Calibri" pitchFamily="34" charset="0"/>
                <a:cs typeface="Calibri" pitchFamily="34" charset="0"/>
              </a:rPr>
              <a:t>một</a:t>
            </a:r>
            <a:r>
              <a:rPr lang="en-US" sz="2100" dirty="0">
                <a:latin typeface="Calibri" pitchFamily="34" charset="0"/>
                <a:cs typeface="Calibri" pitchFamily="34" charset="0"/>
              </a:rPr>
              <a:t> </a:t>
            </a:r>
            <a:r>
              <a:rPr lang="en-US" sz="2100" dirty="0" err="1">
                <a:latin typeface="Calibri" pitchFamily="34" charset="0"/>
                <a:cs typeface="Calibri" pitchFamily="34" charset="0"/>
              </a:rPr>
              <a:t>vài</a:t>
            </a:r>
            <a:r>
              <a:rPr lang="en-US" sz="2100" dirty="0">
                <a:latin typeface="Calibri" pitchFamily="34" charset="0"/>
                <a:cs typeface="Calibri" pitchFamily="34" charset="0"/>
              </a:rPr>
              <a:t> </a:t>
            </a:r>
            <a:r>
              <a:rPr lang="en-US" sz="2100" dirty="0" err="1">
                <a:latin typeface="Calibri" pitchFamily="34" charset="0"/>
                <a:cs typeface="Calibri" pitchFamily="34" charset="0"/>
              </a:rPr>
              <a:t>biến</a:t>
            </a:r>
            <a:r>
              <a:rPr lang="en-US" sz="2100" dirty="0">
                <a:latin typeface="Calibri" pitchFamily="34" charset="0"/>
                <a:cs typeface="Calibri" pitchFamily="34" charset="0"/>
              </a:rPr>
              <a:t> </a:t>
            </a:r>
            <a:r>
              <a:rPr lang="en-US" sz="2100" dirty="0" err="1">
                <a:latin typeface="Calibri" pitchFamily="34" charset="0"/>
                <a:cs typeface="Calibri" pitchFamily="34" charset="0"/>
              </a:rPr>
              <a:t>gia</a:t>
            </a:r>
            <a:r>
              <a:rPr lang="en-US" sz="2100" dirty="0">
                <a:latin typeface="Calibri" pitchFamily="34" charset="0"/>
                <a:cs typeface="Calibri" pitchFamily="34" charset="0"/>
              </a:rPr>
              <a:t>̉ </a:t>
            </a:r>
            <a:r>
              <a:rPr lang="en-US" sz="2100" dirty="0" err="1">
                <a:latin typeface="Calibri" pitchFamily="34" charset="0"/>
                <a:cs typeface="Calibri" pitchFamily="34" charset="0"/>
              </a:rPr>
              <a:t>độc</a:t>
            </a:r>
            <a:r>
              <a:rPr lang="en-US" sz="2100" dirty="0">
                <a:latin typeface="Calibri" pitchFamily="34" charset="0"/>
                <a:cs typeface="Calibri" pitchFamily="34" charset="0"/>
              </a:rPr>
              <a:t> </a:t>
            </a:r>
            <a:r>
              <a:rPr lang="en-US" sz="2100" dirty="0" err="1">
                <a:latin typeface="Calibri" pitchFamily="34" charset="0"/>
                <a:cs typeface="Calibri" pitchFamily="34" charset="0"/>
              </a:rPr>
              <a:t>lập</a:t>
            </a:r>
            <a:r>
              <a:rPr lang="en-US" sz="2100" dirty="0">
                <a:latin typeface="Calibri" pitchFamily="34" charset="0"/>
                <a:cs typeface="Calibri" pitchFamily="34" charset="0"/>
              </a:rPr>
              <a:t> </a:t>
            </a:r>
            <a:r>
              <a:rPr lang="en-US" sz="2100" dirty="0" err="1">
                <a:latin typeface="Calibri" pitchFamily="34" charset="0"/>
                <a:cs typeface="Calibri" pitchFamily="34" charset="0"/>
              </a:rPr>
              <a:t>trong</a:t>
            </a:r>
            <a:r>
              <a:rPr lang="en-US" sz="2100" dirty="0">
                <a:latin typeface="Calibri" pitchFamily="34" charset="0"/>
                <a:cs typeface="Calibri" pitchFamily="34" charset="0"/>
              </a:rPr>
              <a:t> </a:t>
            </a:r>
            <a:r>
              <a:rPr lang="en-US" sz="2100" dirty="0" err="1">
                <a:latin typeface="Calibri" pitchFamily="34" charset="0"/>
                <a:cs typeface="Calibri" pitchFamily="34" charset="0"/>
              </a:rPr>
              <a:t>cùng</a:t>
            </a:r>
            <a:r>
              <a:rPr lang="en-US" sz="2100" dirty="0">
                <a:latin typeface="Calibri" pitchFamily="34" charset="0"/>
                <a:cs typeface="Calibri" pitchFamily="34" charset="0"/>
              </a:rPr>
              <a:t> </a:t>
            </a:r>
            <a:r>
              <a:rPr lang="en-US" sz="2100" dirty="0" err="1">
                <a:latin typeface="Calibri" pitchFamily="34" charset="0"/>
                <a:cs typeface="Calibri" pitchFamily="34" charset="0"/>
              </a:rPr>
              <a:t>một</a:t>
            </a:r>
            <a:r>
              <a:rPr lang="en-US" sz="2100" dirty="0">
                <a:latin typeface="Calibri" pitchFamily="34" charset="0"/>
                <a:cs typeface="Calibri" pitchFamily="34" charset="0"/>
              </a:rPr>
              <a:t> </a:t>
            </a:r>
            <a:r>
              <a:rPr lang="en-US" sz="2100" dirty="0" err="1">
                <a:latin typeface="Calibri" pitchFamily="34" charset="0"/>
                <a:cs typeface="Calibri" pitchFamily="34" charset="0"/>
              </a:rPr>
              <a:t>phương</a:t>
            </a:r>
            <a:r>
              <a:rPr lang="en-US" sz="2100" dirty="0">
                <a:latin typeface="Calibri" pitchFamily="34" charset="0"/>
                <a:cs typeface="Calibri" pitchFamily="34" charset="0"/>
              </a:rPr>
              <a:t> </a:t>
            </a:r>
            <a:r>
              <a:rPr lang="en-US" sz="2100" dirty="0" err="1">
                <a:latin typeface="Calibri" pitchFamily="34" charset="0"/>
                <a:cs typeface="Calibri" pitchFamily="34" charset="0"/>
              </a:rPr>
              <a:t>trình</a:t>
            </a:r>
            <a:r>
              <a:rPr lang="en-US" sz="2100" dirty="0">
                <a:latin typeface="Calibri" pitchFamily="34" charset="0"/>
                <a:cs typeface="Calibri" pitchFamily="34" charset="0"/>
              </a:rPr>
              <a:t>. Ví dụ </a:t>
            </a:r>
            <a:r>
              <a:rPr lang="en-US" sz="2100" dirty="0" err="1">
                <a:latin typeface="Calibri" pitchFamily="34" charset="0"/>
                <a:cs typeface="Calibri" pitchFamily="34" charset="0"/>
              </a:rPr>
              <a:t>như</a:t>
            </a:r>
            <a:r>
              <a:rPr lang="en-US" sz="2100" dirty="0">
                <a:latin typeface="Calibri" pitchFamily="34" charset="0"/>
                <a:cs typeface="Calibri" pitchFamily="34" charset="0"/>
              </a:rPr>
              <a:t> </a:t>
            </a:r>
            <a:r>
              <a:rPr lang="en-US" sz="2100" dirty="0" err="1">
                <a:latin typeface="Calibri" pitchFamily="34" charset="0"/>
                <a:cs typeface="Calibri" pitchFamily="34" charset="0"/>
              </a:rPr>
              <a:t>chúng</a:t>
            </a:r>
            <a:r>
              <a:rPr lang="en-US" sz="2100" dirty="0">
                <a:latin typeface="Calibri" pitchFamily="34" charset="0"/>
                <a:cs typeface="Calibri" pitchFamily="34" charset="0"/>
              </a:rPr>
              <a:t> ta có </a:t>
            </a:r>
            <a:r>
              <a:rPr lang="en-US" sz="2100" dirty="0" err="1" smtClean="0">
                <a:latin typeface="Calibri" pitchFamily="34" charset="0"/>
                <a:cs typeface="Calibri" pitchFamily="34" charset="0"/>
              </a:rPr>
              <a:t>thể</a:t>
            </a:r>
            <a:r>
              <a:rPr lang="en-US" sz="2100" dirty="0" smtClean="0">
                <a:latin typeface="Calibri" pitchFamily="34" charset="0"/>
                <a:cs typeface="Calibri" pitchFamily="34" charset="0"/>
              </a:rPr>
              <a:t> </a:t>
            </a:r>
            <a:r>
              <a:rPr lang="en-US" sz="2100" dirty="0" err="1" smtClean="0">
                <a:latin typeface="Calibri" pitchFamily="34" charset="0"/>
                <a:cs typeface="Calibri" pitchFamily="34" charset="0"/>
              </a:rPr>
              <a:t>thêm</a:t>
            </a:r>
            <a:r>
              <a:rPr lang="en-US" sz="2100" dirty="0" smtClean="0">
                <a:latin typeface="Calibri" pitchFamily="34" charset="0"/>
                <a:cs typeface="Calibri" pitchFamily="34" charset="0"/>
              </a:rPr>
              <a:t> </a:t>
            </a:r>
            <a:r>
              <a:rPr lang="en-US" sz="2100" dirty="0" err="1" smtClean="0">
                <a:latin typeface="Calibri" pitchFamily="34" charset="0"/>
                <a:cs typeface="Calibri" pitchFamily="34" charset="0"/>
              </a:rPr>
              <a:t>biến</a:t>
            </a:r>
            <a:r>
              <a:rPr lang="en-US" sz="2100" dirty="0" smtClean="0">
                <a:latin typeface="Calibri" pitchFamily="34" charset="0"/>
                <a:cs typeface="Calibri" pitchFamily="34" charset="0"/>
              </a:rPr>
              <a:t> married, </a:t>
            </a:r>
            <a:r>
              <a:rPr lang="en-US" sz="2100" dirty="0" err="1">
                <a:latin typeface="Calibri" pitchFamily="34" charset="0"/>
                <a:cs typeface="Calibri" pitchFamily="34" charset="0"/>
              </a:rPr>
              <a:t>cho</a:t>
            </a:r>
            <a:r>
              <a:rPr lang="en-US" sz="2100" dirty="0">
                <a:latin typeface="Calibri" pitchFamily="34" charset="0"/>
                <a:cs typeface="Calibri" pitchFamily="34" charset="0"/>
              </a:rPr>
              <a:t> ta tỷ </a:t>
            </a:r>
            <a:r>
              <a:rPr lang="en-US" sz="2100" dirty="0" err="1">
                <a:latin typeface="Calibri" pitchFamily="34" charset="0"/>
                <a:cs typeface="Calibri" pitchFamily="34" charset="0"/>
              </a:rPr>
              <a:t>lê</a:t>
            </a:r>
            <a:r>
              <a:rPr lang="en-US" sz="2100" dirty="0">
                <a:latin typeface="Calibri" pitchFamily="34" charset="0"/>
                <a:cs typeface="Calibri" pitchFamily="34" charset="0"/>
              </a:rPr>
              <a:t>̣ </a:t>
            </a:r>
            <a:r>
              <a:rPr lang="en-US" sz="2100" dirty="0" err="1">
                <a:latin typeface="Calibri" pitchFamily="34" charset="0"/>
                <a:cs typeface="Calibri" pitchFamily="34" charset="0"/>
              </a:rPr>
              <a:t>chênh</a:t>
            </a:r>
            <a:r>
              <a:rPr lang="en-US" sz="2100" dirty="0">
                <a:latin typeface="Calibri" pitchFamily="34" charset="0"/>
                <a:cs typeface="Calibri" pitchFamily="34" charset="0"/>
              </a:rPr>
              <a:t> </a:t>
            </a:r>
            <a:r>
              <a:rPr lang="en-US" sz="2100" dirty="0" err="1">
                <a:latin typeface="Calibri" pitchFamily="34" charset="0"/>
                <a:cs typeface="Calibri" pitchFamily="34" charset="0"/>
              </a:rPr>
              <a:t>lệch</a:t>
            </a:r>
            <a:r>
              <a:rPr lang="en-US" sz="2100" dirty="0">
                <a:latin typeface="Calibri" pitchFamily="34" charset="0"/>
                <a:cs typeface="Calibri" pitchFamily="34" charset="0"/>
              </a:rPr>
              <a:t> </a:t>
            </a:r>
            <a:r>
              <a:rPr lang="en-US" sz="2100" dirty="0" err="1">
                <a:latin typeface="Calibri" pitchFamily="34" charset="0"/>
                <a:cs typeface="Calibri" pitchFamily="34" charset="0"/>
              </a:rPr>
              <a:t>xấp</a:t>
            </a:r>
            <a:r>
              <a:rPr lang="en-US" sz="2100" dirty="0">
                <a:latin typeface="Calibri" pitchFamily="34" charset="0"/>
                <a:cs typeface="Calibri" pitchFamily="34" charset="0"/>
              </a:rPr>
              <a:t> xỉ </a:t>
            </a:r>
            <a:r>
              <a:rPr lang="en-US" sz="2100" dirty="0" err="1">
                <a:latin typeface="Calibri" pitchFamily="34" charset="0"/>
                <a:cs typeface="Calibri" pitchFamily="34" charset="0"/>
              </a:rPr>
              <a:t>trong</a:t>
            </a:r>
            <a:r>
              <a:rPr lang="en-US" sz="2100" dirty="0">
                <a:latin typeface="Calibri" pitchFamily="34" charset="0"/>
                <a:cs typeface="Calibri" pitchFamily="34" charset="0"/>
              </a:rPr>
              <a:t> </a:t>
            </a:r>
            <a:r>
              <a:rPr lang="en-US" sz="2100" dirty="0" err="1">
                <a:latin typeface="Calibri" pitchFamily="34" charset="0"/>
                <a:cs typeface="Calibri" pitchFamily="34" charset="0"/>
              </a:rPr>
              <a:t>tiền</a:t>
            </a:r>
            <a:r>
              <a:rPr lang="en-US" sz="2100" dirty="0">
                <a:latin typeface="Calibri" pitchFamily="34" charset="0"/>
                <a:cs typeface="Calibri" pitchFamily="34" charset="0"/>
              </a:rPr>
              <a:t> </a:t>
            </a:r>
            <a:r>
              <a:rPr lang="en-US" sz="2100" dirty="0" err="1">
                <a:latin typeface="Calibri" pitchFamily="34" charset="0"/>
                <a:cs typeface="Calibri" pitchFamily="34" charset="0"/>
              </a:rPr>
              <a:t>lương</a:t>
            </a:r>
            <a:r>
              <a:rPr lang="en-US" sz="2100" dirty="0">
                <a:latin typeface="Calibri" pitchFamily="34" charset="0"/>
                <a:cs typeface="Calibri" pitchFamily="34" charset="0"/>
              </a:rPr>
              <a:t> </a:t>
            </a:r>
            <a:r>
              <a:rPr lang="en-US" sz="2100" dirty="0" err="1">
                <a:latin typeface="Calibri" pitchFamily="34" charset="0"/>
                <a:cs typeface="Calibri" pitchFamily="34" charset="0"/>
              </a:rPr>
              <a:t>giữa</a:t>
            </a:r>
            <a:r>
              <a:rPr lang="en-US" sz="2100" dirty="0">
                <a:latin typeface="Calibri" pitchFamily="34" charset="0"/>
                <a:cs typeface="Calibri" pitchFamily="34" charset="0"/>
              </a:rPr>
              <a:t> </a:t>
            </a:r>
            <a:r>
              <a:rPr lang="en-US" sz="2100" dirty="0" err="1">
                <a:latin typeface="Calibri" pitchFamily="34" charset="0"/>
                <a:cs typeface="Calibri" pitchFamily="34" charset="0"/>
              </a:rPr>
              <a:t>những</a:t>
            </a:r>
            <a:r>
              <a:rPr lang="en-US" sz="2100" dirty="0">
                <a:latin typeface="Calibri" pitchFamily="34" charset="0"/>
                <a:cs typeface="Calibri" pitchFamily="34" charset="0"/>
              </a:rPr>
              <a:t> </a:t>
            </a:r>
            <a:r>
              <a:rPr lang="en-US" sz="2100" dirty="0" err="1">
                <a:latin typeface="Calibri" pitchFamily="34" charset="0"/>
                <a:cs typeface="Calibri" pitchFamily="34" charset="0"/>
              </a:rPr>
              <a:t>người</a:t>
            </a:r>
            <a:r>
              <a:rPr lang="en-US" sz="2100" dirty="0">
                <a:latin typeface="Calibri" pitchFamily="34" charset="0"/>
                <a:cs typeface="Calibri" pitchFamily="34" charset="0"/>
              </a:rPr>
              <a:t> </a:t>
            </a:r>
            <a:r>
              <a:rPr lang="en-US" sz="2100" dirty="0" err="1">
                <a:latin typeface="Calibri" pitchFamily="34" charset="0"/>
                <a:cs typeface="Calibri" pitchFamily="34" charset="0"/>
              </a:rPr>
              <a:t>chưa</a:t>
            </a:r>
            <a:r>
              <a:rPr lang="en-US" sz="2100" dirty="0">
                <a:latin typeface="Calibri" pitchFamily="34" charset="0"/>
                <a:cs typeface="Calibri" pitchFamily="34" charset="0"/>
              </a:rPr>
              <a:t> </a:t>
            </a:r>
            <a:r>
              <a:rPr lang="en-US" sz="2100" dirty="0" err="1">
                <a:latin typeface="Calibri" pitchFamily="34" charset="0"/>
                <a:cs typeface="Calibri" pitchFamily="34" charset="0"/>
              </a:rPr>
              <a:t>kết</a:t>
            </a:r>
            <a:r>
              <a:rPr lang="en-US" sz="2100" dirty="0">
                <a:latin typeface="Calibri" pitchFamily="34" charset="0"/>
                <a:cs typeface="Calibri" pitchFamily="34" charset="0"/>
              </a:rPr>
              <a:t> </a:t>
            </a:r>
            <a:r>
              <a:rPr lang="en-US" sz="2100" dirty="0" err="1">
                <a:latin typeface="Calibri" pitchFamily="34" charset="0"/>
                <a:cs typeface="Calibri" pitchFamily="34" charset="0"/>
              </a:rPr>
              <a:t>hôn</a:t>
            </a:r>
            <a:r>
              <a:rPr lang="en-US" sz="2100" dirty="0">
                <a:latin typeface="Calibri" pitchFamily="34" charset="0"/>
                <a:cs typeface="Calibri" pitchFamily="34" charset="0"/>
              </a:rPr>
              <a:t>, </a:t>
            </a:r>
            <a:r>
              <a:rPr lang="en-US" sz="2100" dirty="0" err="1">
                <a:latin typeface="Calibri" pitchFamily="34" charset="0"/>
                <a:cs typeface="Calibri" pitchFamily="34" charset="0"/>
              </a:rPr>
              <a:t>va</a:t>
            </a:r>
            <a:r>
              <a:rPr lang="en-US" sz="2100" dirty="0">
                <a:latin typeface="Calibri" pitchFamily="34" charset="0"/>
                <a:cs typeface="Calibri" pitchFamily="34" charset="0"/>
              </a:rPr>
              <a:t>̀ </a:t>
            </a:r>
            <a:r>
              <a:rPr lang="en-US" sz="2100" dirty="0" err="1">
                <a:latin typeface="Calibri" pitchFamily="34" charset="0"/>
                <a:cs typeface="Calibri" pitchFamily="34" charset="0"/>
              </a:rPr>
              <a:t>những</a:t>
            </a:r>
            <a:r>
              <a:rPr lang="en-US" sz="2100" dirty="0">
                <a:latin typeface="Calibri" pitchFamily="34" charset="0"/>
                <a:cs typeface="Calibri" pitchFamily="34" charset="0"/>
              </a:rPr>
              <a:t> </a:t>
            </a:r>
            <a:r>
              <a:rPr lang="en-US" sz="2100" dirty="0" err="1">
                <a:latin typeface="Calibri" pitchFamily="34" charset="0"/>
                <a:cs typeface="Calibri" pitchFamily="34" charset="0"/>
              </a:rPr>
              <a:t>người</a:t>
            </a:r>
            <a:r>
              <a:rPr lang="en-US" sz="2100" dirty="0">
                <a:latin typeface="Calibri" pitchFamily="34" charset="0"/>
                <a:cs typeface="Calibri" pitchFamily="34" charset="0"/>
              </a:rPr>
              <a:t> </a:t>
            </a:r>
            <a:r>
              <a:rPr lang="en-US" sz="2100" dirty="0" err="1">
                <a:latin typeface="Calibri" pitchFamily="34" charset="0"/>
                <a:cs typeface="Calibri" pitchFamily="34" charset="0"/>
              </a:rPr>
              <a:t>đa</a:t>
            </a:r>
            <a:r>
              <a:rPr lang="en-US" sz="2100" dirty="0">
                <a:latin typeface="Calibri" pitchFamily="34" charset="0"/>
                <a:cs typeface="Calibri" pitchFamily="34" charset="0"/>
              </a:rPr>
              <a:t>̃ </a:t>
            </a:r>
            <a:r>
              <a:rPr lang="en-US" sz="2100" dirty="0" err="1">
                <a:latin typeface="Calibri" pitchFamily="34" charset="0"/>
                <a:cs typeface="Calibri" pitchFamily="34" charset="0"/>
              </a:rPr>
              <a:t>kết</a:t>
            </a:r>
            <a:r>
              <a:rPr lang="en-US" sz="2100" dirty="0">
                <a:latin typeface="Calibri" pitchFamily="34" charset="0"/>
                <a:cs typeface="Calibri" pitchFamily="34" charset="0"/>
              </a:rPr>
              <a:t> </a:t>
            </a:r>
            <a:r>
              <a:rPr lang="en-US" sz="2100" dirty="0" err="1">
                <a:latin typeface="Calibri" pitchFamily="34" charset="0"/>
                <a:cs typeface="Calibri" pitchFamily="34" charset="0"/>
              </a:rPr>
              <a:t>hôn</a:t>
            </a:r>
            <a:r>
              <a:rPr lang="en-US" sz="2100" dirty="0">
                <a:latin typeface="Calibri" pitchFamily="34" charset="0"/>
                <a:cs typeface="Calibri" pitchFamily="34" charset="0"/>
              </a:rPr>
              <a:t> </a:t>
            </a:r>
            <a:r>
              <a:rPr lang="en-US" sz="2100" dirty="0" err="1">
                <a:latin typeface="Calibri" pitchFamily="34" charset="0"/>
                <a:cs typeface="Calibri" pitchFamily="34" charset="0"/>
              </a:rPr>
              <a:t>khi</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cố</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định</a:t>
            </a:r>
            <a:r>
              <a:rPr lang="en-US" sz="2100" dirty="0">
                <a:latin typeface="Calibri" pitchFamily="34" charset="0"/>
                <a:cs typeface="Calibri" pitchFamily="34" charset="0"/>
              </a:rPr>
              <a:t> </a:t>
            </a:r>
            <a:r>
              <a:rPr lang="en-US" sz="2100" dirty="0" err="1">
                <a:latin typeface="Calibri" pitchFamily="34" charset="0"/>
                <a:cs typeface="Calibri" pitchFamily="34" charset="0"/>
              </a:rPr>
              <a:t>giới</a:t>
            </a:r>
            <a:r>
              <a:rPr lang="en-US" sz="2100" dirty="0">
                <a:latin typeface="Calibri" pitchFamily="34" charset="0"/>
                <a:cs typeface="Calibri" pitchFamily="34" charset="0"/>
              </a:rPr>
              <a:t> </a:t>
            </a:r>
            <a:r>
              <a:rPr lang="en-US" sz="2100" dirty="0" err="1">
                <a:latin typeface="Calibri" pitchFamily="34" charset="0"/>
                <a:cs typeface="Calibri" pitchFamily="34" charset="0"/>
              </a:rPr>
              <a:t>tính</a:t>
            </a:r>
            <a:r>
              <a:rPr lang="en-US" sz="2100" dirty="0">
                <a:latin typeface="Calibri" pitchFamily="34" charset="0"/>
                <a:cs typeface="Calibri" pitchFamily="34" charset="0"/>
              </a:rPr>
              <a:t>, </a:t>
            </a:r>
            <a:r>
              <a:rPr lang="en-US" sz="2100" dirty="0" err="1">
                <a:latin typeface="Calibri" pitchFamily="34" charset="0"/>
                <a:cs typeface="Calibri" pitchFamily="34" charset="0"/>
              </a:rPr>
              <a:t>giáo</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dục</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educ</a:t>
            </a:r>
            <a:r>
              <a:rPr lang="en-US" sz="2100" dirty="0">
                <a:latin typeface="Calibri" pitchFamily="34" charset="0"/>
                <a:cs typeface="Calibri" pitchFamily="34" charset="0"/>
              </a:rPr>
              <a:t>), </a:t>
            </a:r>
            <a:r>
              <a:rPr lang="en-US" sz="2100" dirty="0" err="1">
                <a:latin typeface="Calibri" pitchFamily="34" charset="0"/>
                <a:cs typeface="Calibri" pitchFamily="34" charset="0"/>
              </a:rPr>
              <a:t>kinh</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nghiệm</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exper</a:t>
            </a:r>
            <a:r>
              <a:rPr lang="en-US" sz="2100" dirty="0">
                <a:latin typeface="Calibri" pitchFamily="34" charset="0"/>
                <a:cs typeface="Calibri" pitchFamily="34" charset="0"/>
              </a:rPr>
              <a:t>), </a:t>
            </a:r>
            <a:r>
              <a:rPr lang="en-US" sz="2100" dirty="0" err="1">
                <a:latin typeface="Calibri" pitchFamily="34" charset="0"/>
                <a:cs typeface="Calibri" pitchFamily="34" charset="0"/>
              </a:rPr>
              <a:t>va</a:t>
            </a:r>
            <a:r>
              <a:rPr lang="en-US" sz="2100" dirty="0">
                <a:latin typeface="Calibri" pitchFamily="34" charset="0"/>
                <a:cs typeface="Calibri" pitchFamily="34" charset="0"/>
              </a:rPr>
              <a:t>̀ </a:t>
            </a:r>
            <a:r>
              <a:rPr lang="en-US" sz="2100" dirty="0" err="1">
                <a:latin typeface="Calibri" pitchFamily="34" charset="0"/>
                <a:cs typeface="Calibri" pitchFamily="34" charset="0"/>
              </a:rPr>
              <a:t>sư</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bổ</a:t>
            </a:r>
            <a:r>
              <a:rPr lang="en-US" sz="2100" dirty="0" smtClean="0">
                <a:latin typeface="Calibri" pitchFamily="34" charset="0"/>
                <a:cs typeface="Calibri" pitchFamily="34" charset="0"/>
              </a:rPr>
              <a:t> </a:t>
            </a:r>
            <a:r>
              <a:rPr lang="en-US" sz="2100" dirty="0" err="1" smtClean="0">
                <a:latin typeface="Calibri" pitchFamily="34" charset="0"/>
                <a:cs typeface="Calibri" pitchFamily="34" charset="0"/>
              </a:rPr>
              <a:t>nhiệm</a:t>
            </a:r>
            <a:r>
              <a:rPr lang="en-US" sz="2100" dirty="0" smtClean="0">
                <a:latin typeface="Calibri" pitchFamily="34" charset="0"/>
                <a:cs typeface="Calibri" pitchFamily="34" charset="0"/>
              </a:rPr>
              <a:t> (</a:t>
            </a:r>
            <a:r>
              <a:rPr lang="en-US" sz="2100" dirty="0">
                <a:latin typeface="Calibri" pitchFamily="34" charset="0"/>
                <a:cs typeface="Calibri" pitchFamily="34" charset="0"/>
              </a:rPr>
              <a:t>tenure).</a:t>
            </a:r>
          </a:p>
          <a:p>
            <a:pPr algn="just"/>
            <a:r>
              <a:rPr lang="en-US" sz="2100" dirty="0">
                <a:latin typeface="Calibri" pitchFamily="34" charset="0"/>
                <a:cs typeface="Calibri" pitchFamily="34" charset="0"/>
              </a:rPr>
              <a:t>Ta </a:t>
            </a:r>
            <a:r>
              <a:rPr lang="en-US" sz="2100" dirty="0" err="1">
                <a:latin typeface="Calibri" pitchFamily="34" charset="0"/>
                <a:cs typeface="Calibri" pitchFamily="34" charset="0"/>
              </a:rPr>
              <a:t>ước</a:t>
            </a:r>
            <a:r>
              <a:rPr lang="en-US" sz="2100" dirty="0">
                <a:latin typeface="Calibri" pitchFamily="34" charset="0"/>
                <a:cs typeface="Calibri" pitchFamily="34" charset="0"/>
              </a:rPr>
              <a:t> </a:t>
            </a:r>
            <a:r>
              <a:rPr lang="en-US" sz="2100" dirty="0" err="1">
                <a:latin typeface="Calibri" pitchFamily="34" charset="0"/>
                <a:cs typeface="Calibri" pitchFamily="34" charset="0"/>
              </a:rPr>
              <a:t>lượng</a:t>
            </a:r>
            <a:r>
              <a:rPr lang="en-US" sz="2100" dirty="0">
                <a:latin typeface="Calibri" pitchFamily="34" charset="0"/>
                <a:cs typeface="Calibri" pitchFamily="34" charset="0"/>
              </a:rPr>
              <a:t> </a:t>
            </a:r>
            <a:r>
              <a:rPr lang="en-US" sz="2100" dirty="0" err="1">
                <a:latin typeface="Calibri" pitchFamily="34" charset="0"/>
                <a:cs typeface="Calibri" pitchFamily="34" charset="0"/>
              </a:rPr>
              <a:t>một</a:t>
            </a:r>
            <a:r>
              <a:rPr lang="en-US" sz="2100" dirty="0">
                <a:latin typeface="Calibri" pitchFamily="34" charset="0"/>
                <a:cs typeface="Calibri" pitchFamily="34" charset="0"/>
              </a:rPr>
              <a:t> </a:t>
            </a:r>
            <a:r>
              <a:rPr lang="en-US" sz="2100" dirty="0" err="1">
                <a:latin typeface="Calibri" pitchFamily="34" charset="0"/>
                <a:cs typeface="Calibri" pitchFamily="34" charset="0"/>
              </a:rPr>
              <a:t>mô</a:t>
            </a:r>
            <a:r>
              <a:rPr lang="en-US" sz="2100" dirty="0">
                <a:latin typeface="Calibri" pitchFamily="34" charset="0"/>
                <a:cs typeface="Calibri" pitchFamily="34" charset="0"/>
              </a:rPr>
              <a:t> </a:t>
            </a:r>
            <a:r>
              <a:rPr lang="en-US" sz="2100" dirty="0" err="1">
                <a:latin typeface="Calibri" pitchFamily="34" charset="0"/>
                <a:cs typeface="Calibri" pitchFamily="34" charset="0"/>
              </a:rPr>
              <a:t>hình</a:t>
            </a:r>
            <a:r>
              <a:rPr lang="en-US" sz="2100" dirty="0">
                <a:latin typeface="Calibri" pitchFamily="34" charset="0"/>
                <a:cs typeface="Calibri" pitchFamily="34" charset="0"/>
              </a:rPr>
              <a:t> </a:t>
            </a:r>
            <a:r>
              <a:rPr lang="en-US" sz="2100" dirty="0" err="1">
                <a:latin typeface="Calibri" pitchFamily="34" charset="0"/>
                <a:cs typeface="Calibri" pitchFamily="34" charset="0"/>
              </a:rPr>
              <a:t>vê</a:t>
            </a:r>
            <a:r>
              <a:rPr lang="en-US" sz="2100" dirty="0">
                <a:latin typeface="Calibri" pitchFamily="34" charset="0"/>
                <a:cs typeface="Calibri" pitchFamily="34" charset="0"/>
              </a:rPr>
              <a:t>̀ </a:t>
            </a:r>
            <a:r>
              <a:rPr lang="en-US" sz="2100" dirty="0" err="1">
                <a:latin typeface="Calibri" pitchFamily="34" charset="0"/>
                <a:cs typeface="Calibri" pitchFamily="34" charset="0"/>
              </a:rPr>
              <a:t>sư</a:t>
            </a:r>
            <a:r>
              <a:rPr lang="en-US" sz="2100" dirty="0">
                <a:latin typeface="Calibri" pitchFamily="34" charset="0"/>
                <a:cs typeface="Calibri" pitchFamily="34" charset="0"/>
              </a:rPr>
              <a:t>̣ </a:t>
            </a:r>
            <a:r>
              <a:rPr lang="en-US" sz="2100" dirty="0" err="1">
                <a:latin typeface="Calibri" pitchFamily="34" charset="0"/>
                <a:cs typeface="Calibri" pitchFamily="34" charset="0"/>
              </a:rPr>
              <a:t>chênh</a:t>
            </a:r>
            <a:r>
              <a:rPr lang="en-US" sz="2100" dirty="0">
                <a:latin typeface="Calibri" pitchFamily="34" charset="0"/>
                <a:cs typeface="Calibri" pitchFamily="34" charset="0"/>
              </a:rPr>
              <a:t> </a:t>
            </a:r>
            <a:r>
              <a:rPr lang="en-US" sz="2100" dirty="0" err="1">
                <a:latin typeface="Calibri" pitchFamily="34" charset="0"/>
                <a:cs typeface="Calibri" pitchFamily="34" charset="0"/>
              </a:rPr>
              <a:t>lệch</a:t>
            </a:r>
            <a:r>
              <a:rPr lang="en-US" sz="2100" dirty="0">
                <a:latin typeface="Calibri" pitchFamily="34" charset="0"/>
                <a:cs typeface="Calibri" pitchFamily="34" charset="0"/>
              </a:rPr>
              <a:t> </a:t>
            </a:r>
            <a:r>
              <a:rPr lang="en-US" sz="2100" dirty="0" err="1">
                <a:latin typeface="Calibri" pitchFamily="34" charset="0"/>
                <a:cs typeface="Calibri" pitchFamily="34" charset="0"/>
              </a:rPr>
              <a:t>tiền</a:t>
            </a:r>
            <a:r>
              <a:rPr lang="en-US" sz="2100" dirty="0">
                <a:latin typeface="Calibri" pitchFamily="34" charset="0"/>
                <a:cs typeface="Calibri" pitchFamily="34" charset="0"/>
              </a:rPr>
              <a:t> </a:t>
            </a:r>
            <a:r>
              <a:rPr lang="en-US" sz="2100" dirty="0" err="1">
                <a:latin typeface="Calibri" pitchFamily="34" charset="0"/>
                <a:cs typeface="Calibri" pitchFamily="34" charset="0"/>
              </a:rPr>
              <a:t>lương</a:t>
            </a:r>
            <a:r>
              <a:rPr lang="en-US" sz="2100" dirty="0">
                <a:latin typeface="Calibri" pitchFamily="34" charset="0"/>
                <a:cs typeface="Calibri" pitchFamily="34" charset="0"/>
              </a:rPr>
              <a:t> </a:t>
            </a:r>
            <a:r>
              <a:rPr lang="en-US" sz="2100" dirty="0" err="1">
                <a:latin typeface="Calibri" pitchFamily="34" charset="0"/>
                <a:cs typeface="Calibri" pitchFamily="34" charset="0"/>
              </a:rPr>
              <a:t>giữa</a:t>
            </a:r>
            <a:r>
              <a:rPr lang="en-US" sz="2100" dirty="0">
                <a:latin typeface="Calibri" pitchFamily="34" charset="0"/>
                <a:cs typeface="Calibri" pitchFamily="34" charset="0"/>
              </a:rPr>
              <a:t> 4 </a:t>
            </a:r>
            <a:r>
              <a:rPr lang="en-US" sz="2100" dirty="0" err="1">
                <a:latin typeface="Calibri" pitchFamily="34" charset="0"/>
                <a:cs typeface="Calibri" pitchFamily="34" charset="0"/>
              </a:rPr>
              <a:t>nhóm</a:t>
            </a:r>
            <a:r>
              <a:rPr lang="en-US" sz="2100" dirty="0">
                <a:latin typeface="Calibri" pitchFamily="34" charset="0"/>
                <a:cs typeface="Calibri" pitchFamily="34" charset="0"/>
              </a:rPr>
              <a:t>: </a:t>
            </a:r>
            <a:r>
              <a:rPr lang="en-US" sz="2100" dirty="0" err="1">
                <a:latin typeface="Calibri" pitchFamily="34" charset="0"/>
                <a:cs typeface="Calibri" pitchFamily="34" charset="0"/>
              </a:rPr>
              <a:t>nam</a:t>
            </a:r>
            <a:r>
              <a:rPr lang="en-US" sz="2100" dirty="0">
                <a:latin typeface="Calibri" pitchFamily="34" charset="0"/>
                <a:cs typeface="Calibri" pitchFamily="34" charset="0"/>
              </a:rPr>
              <a:t> </a:t>
            </a:r>
            <a:r>
              <a:rPr lang="en-US" sz="2100" dirty="0" err="1">
                <a:latin typeface="Calibri" pitchFamily="34" charset="0"/>
                <a:cs typeface="Calibri" pitchFamily="34" charset="0"/>
              </a:rPr>
              <a:t>đa</a:t>
            </a:r>
            <a:r>
              <a:rPr lang="en-US" sz="2100" dirty="0">
                <a:latin typeface="Calibri" pitchFamily="34" charset="0"/>
                <a:cs typeface="Calibri" pitchFamily="34" charset="0"/>
              </a:rPr>
              <a:t>̃ </a:t>
            </a:r>
            <a:r>
              <a:rPr lang="en-US" sz="2100" dirty="0" err="1">
                <a:latin typeface="Calibri" pitchFamily="34" charset="0"/>
                <a:cs typeface="Calibri" pitchFamily="34" charset="0"/>
              </a:rPr>
              <a:t>kết</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hôn</a:t>
            </a:r>
            <a:r>
              <a:rPr lang="en-US" sz="2100" dirty="0" smtClean="0">
                <a:latin typeface="Calibri" pitchFamily="34" charset="0"/>
                <a:cs typeface="Calibri" pitchFamily="34" charset="0"/>
              </a:rPr>
              <a:t> (married </a:t>
            </a:r>
            <a:r>
              <a:rPr lang="en-US" sz="2100" dirty="0">
                <a:latin typeface="Calibri" pitchFamily="34" charset="0"/>
                <a:cs typeface="Calibri" pitchFamily="34" charset="0"/>
              </a:rPr>
              <a:t>men), </a:t>
            </a:r>
            <a:r>
              <a:rPr lang="en-US" sz="2100" dirty="0" err="1">
                <a:latin typeface="Calibri" pitchFamily="34" charset="0"/>
                <a:cs typeface="Calibri" pitchFamily="34" charset="0"/>
              </a:rPr>
              <a:t>nư</a:t>
            </a:r>
            <a:r>
              <a:rPr lang="en-US" sz="2100" dirty="0">
                <a:latin typeface="Calibri" pitchFamily="34" charset="0"/>
                <a:cs typeface="Calibri" pitchFamily="34" charset="0"/>
              </a:rPr>
              <a:t>̃ </a:t>
            </a:r>
            <a:r>
              <a:rPr lang="en-US" sz="2100" dirty="0" err="1">
                <a:latin typeface="Calibri" pitchFamily="34" charset="0"/>
                <a:cs typeface="Calibri" pitchFamily="34" charset="0"/>
              </a:rPr>
              <a:t>đa</a:t>
            </a:r>
            <a:r>
              <a:rPr lang="en-US" sz="2100" dirty="0">
                <a:latin typeface="Calibri" pitchFamily="34" charset="0"/>
                <a:cs typeface="Calibri" pitchFamily="34" charset="0"/>
              </a:rPr>
              <a:t>̃ </a:t>
            </a:r>
            <a:r>
              <a:rPr lang="en-US" sz="2100" dirty="0" err="1">
                <a:latin typeface="Calibri" pitchFamily="34" charset="0"/>
                <a:cs typeface="Calibri" pitchFamily="34" charset="0"/>
              </a:rPr>
              <a:t>kết</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hôn</a:t>
            </a:r>
            <a:r>
              <a:rPr lang="en-US" sz="2100" dirty="0" smtClean="0">
                <a:latin typeface="Calibri" pitchFamily="34" charset="0"/>
                <a:cs typeface="Calibri" pitchFamily="34" charset="0"/>
              </a:rPr>
              <a:t> (</a:t>
            </a:r>
            <a:r>
              <a:rPr lang="en-US" sz="2100" dirty="0">
                <a:latin typeface="Calibri" pitchFamily="34" charset="0"/>
                <a:cs typeface="Calibri" pitchFamily="34" charset="0"/>
              </a:rPr>
              <a:t>married women), </a:t>
            </a:r>
            <a:r>
              <a:rPr lang="en-US" sz="2100" dirty="0" err="1">
                <a:latin typeface="Calibri" pitchFamily="34" charset="0"/>
                <a:cs typeface="Calibri" pitchFamily="34" charset="0"/>
              </a:rPr>
              <a:t>nam</a:t>
            </a:r>
            <a:r>
              <a:rPr lang="en-US" sz="2100" dirty="0">
                <a:latin typeface="Calibri" pitchFamily="34" charset="0"/>
                <a:cs typeface="Calibri" pitchFamily="34" charset="0"/>
              </a:rPr>
              <a:t> </a:t>
            </a:r>
            <a:r>
              <a:rPr lang="en-US" sz="2100" dirty="0" err="1">
                <a:latin typeface="Calibri" pitchFamily="34" charset="0"/>
                <a:cs typeface="Calibri" pitchFamily="34" charset="0"/>
              </a:rPr>
              <a:t>chưa</a:t>
            </a:r>
            <a:r>
              <a:rPr lang="en-US" sz="2100" dirty="0">
                <a:latin typeface="Calibri" pitchFamily="34" charset="0"/>
                <a:cs typeface="Calibri" pitchFamily="34" charset="0"/>
              </a:rPr>
              <a:t> </a:t>
            </a:r>
            <a:r>
              <a:rPr lang="en-US" sz="2100" dirty="0" err="1">
                <a:latin typeface="Calibri" pitchFamily="34" charset="0"/>
                <a:cs typeface="Calibri" pitchFamily="34" charset="0"/>
              </a:rPr>
              <a:t>kết</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hôn</a:t>
            </a:r>
            <a:r>
              <a:rPr lang="en-US" sz="2100" dirty="0" smtClean="0">
                <a:latin typeface="Calibri" pitchFamily="34" charset="0"/>
                <a:cs typeface="Calibri" pitchFamily="34" charset="0"/>
              </a:rPr>
              <a:t> (</a:t>
            </a:r>
            <a:r>
              <a:rPr lang="en-US" sz="2100" dirty="0">
                <a:latin typeface="Calibri" pitchFamily="34" charset="0"/>
                <a:cs typeface="Calibri" pitchFamily="34" charset="0"/>
              </a:rPr>
              <a:t>single men), </a:t>
            </a:r>
            <a:r>
              <a:rPr lang="en-US" sz="2100" dirty="0" err="1">
                <a:latin typeface="Calibri" pitchFamily="34" charset="0"/>
                <a:cs typeface="Calibri" pitchFamily="34" charset="0"/>
              </a:rPr>
              <a:t>nư</a:t>
            </a:r>
            <a:r>
              <a:rPr lang="en-US" sz="2100" dirty="0">
                <a:latin typeface="Calibri" pitchFamily="34" charset="0"/>
                <a:cs typeface="Calibri" pitchFamily="34" charset="0"/>
              </a:rPr>
              <a:t>̃ </a:t>
            </a:r>
            <a:r>
              <a:rPr lang="en-US" sz="2100" dirty="0" err="1">
                <a:latin typeface="Calibri" pitchFamily="34" charset="0"/>
                <a:cs typeface="Calibri" pitchFamily="34" charset="0"/>
              </a:rPr>
              <a:t>chưa</a:t>
            </a:r>
            <a:r>
              <a:rPr lang="en-US" sz="2100" dirty="0">
                <a:latin typeface="Calibri" pitchFamily="34" charset="0"/>
                <a:cs typeface="Calibri" pitchFamily="34" charset="0"/>
              </a:rPr>
              <a:t> </a:t>
            </a:r>
            <a:r>
              <a:rPr lang="en-US" sz="2100" dirty="0" err="1">
                <a:latin typeface="Calibri" pitchFamily="34" charset="0"/>
                <a:cs typeface="Calibri" pitchFamily="34" charset="0"/>
              </a:rPr>
              <a:t>kết</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hôn</a:t>
            </a:r>
            <a:r>
              <a:rPr lang="en-US" sz="2100" dirty="0" smtClean="0">
                <a:latin typeface="Calibri" pitchFamily="34" charset="0"/>
                <a:cs typeface="Calibri" pitchFamily="34" charset="0"/>
              </a:rPr>
              <a:t> (single </a:t>
            </a:r>
            <a:r>
              <a:rPr lang="en-US" sz="2100" dirty="0">
                <a:latin typeface="Calibri" pitchFamily="34" charset="0"/>
                <a:cs typeface="Calibri" pitchFamily="34" charset="0"/>
              </a:rPr>
              <a:t>women). </a:t>
            </a:r>
            <a:r>
              <a:rPr lang="en-US" sz="2100" dirty="0" err="1" smtClean="0">
                <a:latin typeface="Calibri" pitchFamily="34" charset="0"/>
                <a:cs typeface="Calibri" pitchFamily="34" charset="0"/>
              </a:rPr>
              <a:t>Để</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làm</a:t>
            </a:r>
            <a:r>
              <a:rPr lang="en-US" sz="2100" dirty="0">
                <a:latin typeface="Calibri" pitchFamily="34" charset="0"/>
                <a:cs typeface="Calibri" pitchFamily="34" charset="0"/>
              </a:rPr>
              <a:t> </a:t>
            </a:r>
            <a:r>
              <a:rPr lang="en-US" sz="2100" dirty="0" err="1">
                <a:latin typeface="Calibri" pitchFamily="34" charset="0"/>
                <a:cs typeface="Calibri" pitchFamily="34" charset="0"/>
              </a:rPr>
              <a:t>điều</a:t>
            </a:r>
            <a:r>
              <a:rPr lang="en-US" sz="2100" dirty="0">
                <a:latin typeface="Calibri" pitchFamily="34" charset="0"/>
                <a:cs typeface="Calibri" pitchFamily="34" charset="0"/>
              </a:rPr>
              <a:t> </a:t>
            </a:r>
            <a:r>
              <a:rPr lang="en-US" sz="2100" dirty="0" err="1">
                <a:latin typeface="Calibri" pitchFamily="34" charset="0"/>
                <a:cs typeface="Calibri" pitchFamily="34" charset="0"/>
              </a:rPr>
              <a:t>này</a:t>
            </a:r>
            <a:r>
              <a:rPr lang="en-US" sz="2100" dirty="0">
                <a:latin typeface="Calibri" pitchFamily="34" charset="0"/>
                <a:cs typeface="Calibri" pitchFamily="34" charset="0"/>
              </a:rPr>
              <a:t>, ta </a:t>
            </a:r>
            <a:r>
              <a:rPr lang="en-US" sz="2100" dirty="0" err="1">
                <a:latin typeface="Calibri" pitchFamily="34" charset="0"/>
                <a:cs typeface="Calibri" pitchFamily="34" charset="0"/>
              </a:rPr>
              <a:t>chọn</a:t>
            </a:r>
            <a:r>
              <a:rPr lang="en-US" sz="2100" dirty="0">
                <a:latin typeface="Calibri" pitchFamily="34" charset="0"/>
                <a:cs typeface="Calibri" pitchFamily="34" charset="0"/>
              </a:rPr>
              <a:t> </a:t>
            </a:r>
            <a:r>
              <a:rPr lang="en-US" sz="2100" dirty="0" err="1">
                <a:latin typeface="Calibri" pitchFamily="34" charset="0"/>
                <a:cs typeface="Calibri" pitchFamily="34" charset="0"/>
              </a:rPr>
              <a:t>nhóm</a:t>
            </a:r>
            <a:r>
              <a:rPr lang="en-US" sz="2100" dirty="0">
                <a:latin typeface="Calibri" pitchFamily="34" charset="0"/>
                <a:cs typeface="Calibri" pitchFamily="34" charset="0"/>
              </a:rPr>
              <a:t> </a:t>
            </a:r>
            <a:r>
              <a:rPr lang="en-US" sz="2100" dirty="0" err="1">
                <a:latin typeface="Calibri" pitchFamily="34" charset="0"/>
                <a:cs typeface="Calibri" pitchFamily="34" charset="0"/>
              </a:rPr>
              <a:t>cơ</a:t>
            </a:r>
            <a:r>
              <a:rPr lang="en-US" sz="2100" dirty="0">
                <a:latin typeface="Calibri" pitchFamily="34" charset="0"/>
                <a:cs typeface="Calibri" pitchFamily="34" charset="0"/>
              </a:rPr>
              <a:t> </a:t>
            </a:r>
            <a:r>
              <a:rPr lang="en-US" sz="2100" dirty="0" err="1">
                <a:latin typeface="Calibri" pitchFamily="34" charset="0"/>
                <a:cs typeface="Calibri" pitchFamily="34" charset="0"/>
              </a:rPr>
              <a:t>sơ</a:t>
            </a:r>
            <a:r>
              <a:rPr lang="en-US" sz="2100" dirty="0">
                <a:latin typeface="Calibri" pitchFamily="34" charset="0"/>
                <a:cs typeface="Calibri" pitchFamily="34" charset="0"/>
              </a:rPr>
              <a:t>̉, ở </a:t>
            </a:r>
            <a:r>
              <a:rPr lang="en-US" sz="2100" dirty="0" err="1">
                <a:latin typeface="Calibri" pitchFamily="34" charset="0"/>
                <a:cs typeface="Calibri" pitchFamily="34" charset="0"/>
              </a:rPr>
              <a:t>đây</a:t>
            </a:r>
            <a:r>
              <a:rPr lang="en-US" sz="2100" dirty="0">
                <a:latin typeface="Calibri" pitchFamily="34" charset="0"/>
                <a:cs typeface="Calibri" pitchFamily="34" charset="0"/>
              </a:rPr>
              <a:t> ta </a:t>
            </a:r>
            <a:r>
              <a:rPr lang="en-US" sz="2100" dirty="0" err="1">
                <a:latin typeface="Calibri" pitchFamily="34" charset="0"/>
                <a:cs typeface="Calibri" pitchFamily="34" charset="0"/>
              </a:rPr>
              <a:t>chọn</a:t>
            </a:r>
            <a:r>
              <a:rPr lang="en-US" sz="2100" dirty="0">
                <a:latin typeface="Calibri" pitchFamily="34" charset="0"/>
                <a:cs typeface="Calibri" pitchFamily="34" charset="0"/>
              </a:rPr>
              <a:t> single men. Sau </a:t>
            </a:r>
            <a:r>
              <a:rPr lang="en-US" sz="2100" dirty="0" err="1">
                <a:latin typeface="Calibri" pitchFamily="34" charset="0"/>
                <a:cs typeface="Calibri" pitchFamily="34" charset="0"/>
              </a:rPr>
              <a:t>đo</a:t>
            </a:r>
            <a:r>
              <a:rPr lang="en-US" sz="2100" dirty="0">
                <a:latin typeface="Calibri" pitchFamily="34" charset="0"/>
                <a:cs typeface="Calibri" pitchFamily="34" charset="0"/>
              </a:rPr>
              <a:t>́, </a:t>
            </a:r>
            <a:r>
              <a:rPr lang="en-US" sz="2100" dirty="0" err="1">
                <a:latin typeface="Calibri" pitchFamily="34" charset="0"/>
                <a:cs typeface="Calibri" pitchFamily="34" charset="0"/>
              </a:rPr>
              <a:t>chúng</a:t>
            </a:r>
            <a:r>
              <a:rPr lang="en-US" sz="2100" dirty="0">
                <a:latin typeface="Calibri" pitchFamily="34" charset="0"/>
                <a:cs typeface="Calibri" pitchFamily="34" charset="0"/>
              </a:rPr>
              <a:t> ta </a:t>
            </a:r>
            <a:r>
              <a:rPr lang="en-US" sz="2100" dirty="0" err="1">
                <a:latin typeface="Calibri" pitchFamily="34" charset="0"/>
                <a:cs typeface="Calibri" pitchFamily="34" charset="0"/>
              </a:rPr>
              <a:t>xác</a:t>
            </a:r>
            <a:r>
              <a:rPr lang="en-US" sz="2100" dirty="0">
                <a:latin typeface="Calibri" pitchFamily="34" charset="0"/>
                <a:cs typeface="Calibri" pitchFamily="34" charset="0"/>
              </a:rPr>
              <a:t> </a:t>
            </a:r>
            <a:r>
              <a:rPr lang="en-US" sz="2100" dirty="0" err="1">
                <a:latin typeface="Calibri" pitchFamily="34" charset="0"/>
                <a:cs typeface="Calibri" pitchFamily="34" charset="0"/>
              </a:rPr>
              <a:t>định</a:t>
            </a:r>
            <a:r>
              <a:rPr lang="en-US" sz="2100" dirty="0">
                <a:latin typeface="Calibri" pitchFamily="34" charset="0"/>
                <a:cs typeface="Calibri" pitchFamily="34" charset="0"/>
              </a:rPr>
              <a:t> </a:t>
            </a:r>
            <a:r>
              <a:rPr lang="en-US" sz="2100" dirty="0" err="1" smtClean="0">
                <a:latin typeface="Calibri" pitchFamily="34" charset="0"/>
                <a:cs typeface="Calibri" pitchFamily="34" charset="0"/>
              </a:rPr>
              <a:t>các</a:t>
            </a:r>
            <a:r>
              <a:rPr lang="en-US" sz="2100" dirty="0" smtClean="0">
                <a:latin typeface="Calibri" pitchFamily="34" charset="0"/>
                <a:cs typeface="Calibri" pitchFamily="34" charset="0"/>
              </a:rPr>
              <a:t> </a:t>
            </a:r>
            <a:r>
              <a:rPr lang="en-US" sz="2100" dirty="0" err="1" smtClean="0">
                <a:latin typeface="Calibri" pitchFamily="34" charset="0"/>
                <a:cs typeface="Calibri" pitchFamily="34" charset="0"/>
              </a:rPr>
              <a:t>nhóm</a:t>
            </a:r>
            <a:r>
              <a:rPr lang="en-US" sz="2100" dirty="0" smtClean="0">
                <a:latin typeface="Calibri" pitchFamily="34" charset="0"/>
                <a:cs typeface="Calibri" pitchFamily="34" charset="0"/>
              </a:rPr>
              <a:t> </a:t>
            </a:r>
            <a:r>
              <a:rPr lang="en-US" sz="2100" dirty="0" err="1">
                <a:latin typeface="Calibri" pitchFamily="34" charset="0"/>
                <a:cs typeface="Calibri" pitchFamily="34" charset="0"/>
              </a:rPr>
              <a:t>này</a:t>
            </a:r>
            <a:r>
              <a:rPr lang="en-US" sz="2100" dirty="0">
                <a:latin typeface="Calibri" pitchFamily="34" charset="0"/>
                <a:cs typeface="Calibri" pitchFamily="34" charset="0"/>
              </a:rPr>
              <a:t> </a:t>
            </a:r>
            <a:r>
              <a:rPr lang="en-US" sz="2100" dirty="0" err="1">
                <a:latin typeface="Calibri" pitchFamily="34" charset="0"/>
                <a:cs typeface="Calibri" pitchFamily="34" charset="0"/>
              </a:rPr>
              <a:t>lần</a:t>
            </a:r>
            <a:r>
              <a:rPr lang="en-US" sz="2100" dirty="0">
                <a:latin typeface="Calibri" pitchFamily="34" charset="0"/>
                <a:cs typeface="Calibri" pitchFamily="34" charset="0"/>
              </a:rPr>
              <a:t> </a:t>
            </a:r>
            <a:r>
              <a:rPr lang="en-US" sz="2100" dirty="0" err="1">
                <a:latin typeface="Calibri" pitchFamily="34" charset="0"/>
                <a:cs typeface="Calibri" pitchFamily="34" charset="0"/>
              </a:rPr>
              <a:t>lượt</a:t>
            </a:r>
            <a:r>
              <a:rPr lang="en-US" sz="2100" dirty="0">
                <a:latin typeface="Calibri" pitchFamily="34" charset="0"/>
                <a:cs typeface="Calibri" pitchFamily="34" charset="0"/>
              </a:rPr>
              <a:t> là </a:t>
            </a:r>
            <a:r>
              <a:rPr lang="en-US" sz="2100" dirty="0" err="1">
                <a:latin typeface="Calibri" pitchFamily="34" charset="0"/>
                <a:cs typeface="Calibri" pitchFamily="34" charset="0"/>
              </a:rPr>
              <a:t>marrmale</a:t>
            </a:r>
            <a:r>
              <a:rPr lang="en-US" sz="2100" dirty="0">
                <a:latin typeface="Calibri" pitchFamily="34" charset="0"/>
                <a:cs typeface="Calibri" pitchFamily="34" charset="0"/>
              </a:rPr>
              <a:t>, </a:t>
            </a:r>
            <a:r>
              <a:rPr lang="en-US" sz="2100" dirty="0" err="1">
                <a:latin typeface="Calibri" pitchFamily="34" charset="0"/>
                <a:cs typeface="Calibri" pitchFamily="34" charset="0"/>
              </a:rPr>
              <a:t>marrfem</a:t>
            </a:r>
            <a:r>
              <a:rPr lang="en-US" sz="2100" dirty="0">
                <a:latin typeface="Calibri" pitchFamily="34" charset="0"/>
                <a:cs typeface="Calibri" pitchFamily="34" charset="0"/>
              </a:rPr>
              <a:t> </a:t>
            </a:r>
            <a:r>
              <a:rPr lang="en-US" sz="2100" dirty="0" err="1">
                <a:latin typeface="Calibri" pitchFamily="34" charset="0"/>
                <a:cs typeface="Calibri" pitchFamily="34" charset="0"/>
              </a:rPr>
              <a:t>va</a:t>
            </a:r>
            <a:r>
              <a:rPr lang="en-US" sz="2100" dirty="0">
                <a:latin typeface="Calibri" pitchFamily="34" charset="0"/>
                <a:cs typeface="Calibri" pitchFamily="34" charset="0"/>
              </a:rPr>
              <a:t>̀ </a:t>
            </a:r>
            <a:r>
              <a:rPr lang="en-US" sz="2100" dirty="0" err="1">
                <a:latin typeface="Calibri" pitchFamily="34" charset="0"/>
                <a:cs typeface="Calibri" pitchFamily="34" charset="0"/>
              </a:rPr>
              <a:t>singfem</a:t>
            </a:r>
            <a:r>
              <a:rPr lang="en-US" sz="2100" dirty="0">
                <a:latin typeface="Calibri" pitchFamily="34" charset="0"/>
                <a:cs typeface="Calibri" pitchFamily="34" charset="0"/>
              </a:rPr>
              <a:t>. </a:t>
            </a:r>
            <a:r>
              <a:rPr lang="en-US" sz="2100" dirty="0" err="1">
                <a:latin typeface="Calibri" pitchFamily="34" charset="0"/>
                <a:cs typeface="Calibri" pitchFamily="34" charset="0"/>
              </a:rPr>
              <a:t>Đặt</a:t>
            </a:r>
            <a:r>
              <a:rPr lang="en-US" sz="2100" dirty="0">
                <a:latin typeface="Calibri" pitchFamily="34" charset="0"/>
                <a:cs typeface="Calibri" pitchFamily="34" charset="0"/>
              </a:rPr>
              <a:t> 3 </a:t>
            </a:r>
            <a:r>
              <a:rPr lang="en-US" sz="2100" dirty="0" err="1">
                <a:latin typeface="Calibri" pitchFamily="34" charset="0"/>
                <a:cs typeface="Calibri" pitchFamily="34" charset="0"/>
              </a:rPr>
              <a:t>nhóm</a:t>
            </a:r>
            <a:r>
              <a:rPr lang="en-US" sz="2100" dirty="0">
                <a:latin typeface="Calibri" pitchFamily="34" charset="0"/>
                <a:cs typeface="Calibri" pitchFamily="34" charset="0"/>
              </a:rPr>
              <a:t> </a:t>
            </a:r>
            <a:r>
              <a:rPr lang="en-US" sz="2100" dirty="0" err="1">
                <a:latin typeface="Calibri" pitchFamily="34" charset="0"/>
                <a:cs typeface="Calibri" pitchFamily="34" charset="0"/>
              </a:rPr>
              <a:t>này</a:t>
            </a:r>
            <a:r>
              <a:rPr lang="en-US" sz="2100" dirty="0">
                <a:latin typeface="Calibri" pitchFamily="34" charset="0"/>
                <a:cs typeface="Calibri" pitchFamily="34" charset="0"/>
              </a:rPr>
              <a:t> </a:t>
            </a:r>
            <a:r>
              <a:rPr lang="en-US" sz="2100" dirty="0" err="1">
                <a:latin typeface="Calibri" pitchFamily="34" charset="0"/>
                <a:cs typeface="Calibri" pitchFamily="34" charset="0"/>
              </a:rPr>
              <a:t>vào</a:t>
            </a:r>
            <a:r>
              <a:rPr lang="en-US" sz="2100" dirty="0">
                <a:latin typeface="Calibri" pitchFamily="34" charset="0"/>
                <a:cs typeface="Calibri" pitchFamily="34" charset="0"/>
              </a:rPr>
              <a:t> </a:t>
            </a:r>
            <a:r>
              <a:rPr lang="en-US" sz="2100" dirty="0" err="1">
                <a:latin typeface="Calibri" pitchFamily="34" charset="0"/>
                <a:cs typeface="Calibri" pitchFamily="34" charset="0"/>
              </a:rPr>
              <a:t>mô</a:t>
            </a:r>
            <a:r>
              <a:rPr lang="en-US" sz="2100" dirty="0">
                <a:latin typeface="Calibri" pitchFamily="34" charset="0"/>
                <a:cs typeface="Calibri" pitchFamily="34" charset="0"/>
              </a:rPr>
              <a:t> </a:t>
            </a:r>
            <a:r>
              <a:rPr lang="en-US" sz="2100" dirty="0" err="1">
                <a:latin typeface="Calibri" pitchFamily="34" charset="0"/>
                <a:cs typeface="Calibri" pitchFamily="34" charset="0"/>
              </a:rPr>
              <a:t>hình</a:t>
            </a:r>
            <a:r>
              <a:rPr lang="en-US" sz="2100" dirty="0">
                <a:latin typeface="Calibri" pitchFamily="34" charset="0"/>
                <a:cs typeface="Calibri" pitchFamily="34" charset="0"/>
              </a:rPr>
              <a:t>, ta </a:t>
            </a:r>
            <a:r>
              <a:rPr lang="en-US" sz="2100" dirty="0" err="1">
                <a:latin typeface="Calibri" pitchFamily="34" charset="0"/>
                <a:cs typeface="Calibri" pitchFamily="34" charset="0"/>
              </a:rPr>
              <a:t>loại</a:t>
            </a:r>
            <a:r>
              <a:rPr lang="en-US" sz="2100" dirty="0">
                <a:latin typeface="Calibri" pitchFamily="34" charset="0"/>
                <a:cs typeface="Calibri" pitchFamily="34" charset="0"/>
              </a:rPr>
              <a:t> </a:t>
            </a:r>
            <a:r>
              <a:rPr lang="en-US" sz="2100" dirty="0" err="1">
                <a:latin typeface="Calibri" pitchFamily="34" charset="0"/>
                <a:cs typeface="Calibri" pitchFamily="34" charset="0"/>
              </a:rPr>
              <a:t>bo</a:t>
            </a:r>
            <a:r>
              <a:rPr lang="en-US" sz="2100" dirty="0">
                <a:latin typeface="Calibri" pitchFamily="34" charset="0"/>
                <a:cs typeface="Calibri" pitchFamily="34" charset="0"/>
              </a:rPr>
              <a:t>̉ </a:t>
            </a:r>
            <a:r>
              <a:rPr lang="en-US" sz="2100" dirty="0" err="1">
                <a:latin typeface="Calibri" pitchFamily="34" charset="0"/>
                <a:cs typeface="Calibri" pitchFamily="34" charset="0"/>
              </a:rPr>
              <a:t>biến</a:t>
            </a:r>
            <a:r>
              <a:rPr lang="en-US" sz="2100" dirty="0">
                <a:latin typeface="Calibri" pitchFamily="34" charset="0"/>
                <a:cs typeface="Calibri" pitchFamily="34" charset="0"/>
              </a:rPr>
              <a:t> </a:t>
            </a:r>
            <a:r>
              <a:rPr lang="en-US" sz="2100" dirty="0" smtClean="0">
                <a:latin typeface="Calibri" pitchFamily="34" charset="0"/>
                <a:cs typeface="Calibri" pitchFamily="34" charset="0"/>
              </a:rPr>
              <a:t>female (vì </a:t>
            </a:r>
            <a:r>
              <a:rPr lang="en-US" sz="2100" dirty="0" err="1">
                <a:latin typeface="Calibri" pitchFamily="34" charset="0"/>
                <a:cs typeface="Calibri" pitchFamily="34" charset="0"/>
              </a:rPr>
              <a:t>thừa</a:t>
            </a:r>
            <a:r>
              <a:rPr lang="en-US" sz="2100" dirty="0">
                <a:latin typeface="Calibri" pitchFamily="34" charset="0"/>
                <a:cs typeface="Calibri" pitchFamily="34" charset="0"/>
              </a:rPr>
              <a:t> </a:t>
            </a:r>
            <a:r>
              <a:rPr lang="en-US" sz="2100" dirty="0" err="1">
                <a:latin typeface="Calibri" pitchFamily="34" charset="0"/>
                <a:cs typeface="Calibri" pitchFamily="34" charset="0"/>
              </a:rPr>
              <a:t>va</a:t>
            </a:r>
            <a:r>
              <a:rPr lang="en-US" sz="2100" dirty="0">
                <a:latin typeface="Calibri" pitchFamily="34" charset="0"/>
                <a:cs typeface="Calibri" pitchFamily="34" charset="0"/>
              </a:rPr>
              <a:t>̀ </a:t>
            </a:r>
            <a:r>
              <a:rPr lang="en-US" sz="2100" dirty="0" err="1">
                <a:latin typeface="Calibri" pitchFamily="34" charset="0"/>
                <a:cs typeface="Calibri" pitchFamily="34" charset="0"/>
              </a:rPr>
              <a:t>tránh</a:t>
            </a:r>
            <a:r>
              <a:rPr lang="en-US" sz="2100" dirty="0">
                <a:latin typeface="Calibri" pitchFamily="34" charset="0"/>
                <a:cs typeface="Calibri" pitchFamily="34" charset="0"/>
              </a:rPr>
              <a:t> </a:t>
            </a:r>
            <a:r>
              <a:rPr lang="en-US" sz="2100" dirty="0" err="1">
                <a:latin typeface="Calibri" pitchFamily="34" charset="0"/>
                <a:cs typeface="Calibri" pitchFamily="34" charset="0"/>
              </a:rPr>
              <a:t>trường</a:t>
            </a:r>
            <a:r>
              <a:rPr lang="en-US" sz="2100" dirty="0">
                <a:latin typeface="Calibri" pitchFamily="34" charset="0"/>
                <a:cs typeface="Calibri" pitchFamily="34" charset="0"/>
              </a:rPr>
              <a:t> </a:t>
            </a:r>
            <a:r>
              <a:rPr lang="en-US" sz="2100" dirty="0" err="1">
                <a:latin typeface="Calibri" pitchFamily="34" charset="0"/>
                <a:cs typeface="Calibri" pitchFamily="34" charset="0"/>
              </a:rPr>
              <a:t>hợp</a:t>
            </a:r>
            <a:r>
              <a:rPr lang="en-US" sz="2100" dirty="0">
                <a:latin typeface="Calibri" pitchFamily="34" charset="0"/>
                <a:cs typeface="Calibri" pitchFamily="34" charset="0"/>
              </a:rPr>
              <a:t> </a:t>
            </a:r>
            <a:r>
              <a:rPr lang="en-US" sz="2100" dirty="0" err="1">
                <a:latin typeface="Calibri" pitchFamily="34" charset="0"/>
                <a:cs typeface="Calibri" pitchFamily="34" charset="0"/>
              </a:rPr>
              <a:t>bẫy</a:t>
            </a:r>
            <a:r>
              <a:rPr lang="en-US" sz="2100" dirty="0">
                <a:latin typeface="Calibri" pitchFamily="34" charset="0"/>
                <a:cs typeface="Calibri" pitchFamily="34" charset="0"/>
              </a:rPr>
              <a:t> </a:t>
            </a:r>
            <a:r>
              <a:rPr lang="en-US" sz="2100" dirty="0" err="1">
                <a:latin typeface="Calibri" pitchFamily="34" charset="0"/>
                <a:cs typeface="Calibri" pitchFamily="34" charset="0"/>
              </a:rPr>
              <a:t>biến</a:t>
            </a:r>
            <a:r>
              <a:rPr lang="en-US" sz="2100" dirty="0">
                <a:latin typeface="Calibri" pitchFamily="34" charset="0"/>
                <a:cs typeface="Calibri" pitchFamily="34" charset="0"/>
              </a:rPr>
              <a:t> </a:t>
            </a:r>
            <a:r>
              <a:rPr lang="en-US" sz="2100" dirty="0" err="1">
                <a:latin typeface="Calibri" pitchFamily="34" charset="0"/>
                <a:cs typeface="Calibri" pitchFamily="34" charset="0"/>
              </a:rPr>
              <a:t>gia</a:t>
            </a:r>
            <a:r>
              <a:rPr lang="en-US" sz="2100" dirty="0">
                <a:latin typeface="Calibri" pitchFamily="34" charset="0"/>
                <a:cs typeface="Calibri" pitchFamily="34" charset="0"/>
              </a:rPr>
              <a:t>̉) </a:t>
            </a:r>
            <a:r>
              <a:rPr lang="en-US" sz="2100" dirty="0" smtClean="0">
                <a:latin typeface="Calibri" pitchFamily="34" charset="0"/>
                <a:cs typeface="Calibri" pitchFamily="34" charset="0"/>
              </a:rPr>
              <a:t>:</a:t>
            </a: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r>
              <a:rPr lang="en-US" sz="2000" dirty="0" smtClean="0">
                <a:latin typeface="Calibri" pitchFamily="34" charset="0"/>
                <a:cs typeface="Calibri" pitchFamily="34" charset="0"/>
              </a:rPr>
              <a:t>Ở </a:t>
            </a:r>
            <a:r>
              <a:rPr lang="en-US" sz="2000" dirty="0" err="1">
                <a:latin typeface="Calibri" pitchFamily="34" charset="0"/>
                <a:cs typeface="Calibri" pitchFamily="34" charset="0"/>
              </a:rPr>
              <a:t>trên</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để</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giải</a:t>
            </a:r>
            <a:r>
              <a:rPr lang="en-US" sz="2000" dirty="0">
                <a:latin typeface="Calibri" pitchFamily="34" charset="0"/>
                <a:cs typeface="Calibri" pitchFamily="34" charset="0"/>
              </a:rPr>
              <a:t> </a:t>
            </a:r>
            <a:r>
              <a:rPr lang="en-US" sz="2000" dirty="0" err="1">
                <a:latin typeface="Calibri" pitchFamily="34" charset="0"/>
                <a:cs typeface="Calibri" pitchFamily="34" charset="0"/>
              </a:rPr>
              <a:t>thích</a:t>
            </a:r>
            <a:r>
              <a:rPr lang="en-US" sz="2000" dirty="0">
                <a:latin typeface="Calibri" pitchFamily="34" charset="0"/>
                <a:cs typeface="Calibri" pitchFamily="34" charset="0"/>
              </a:rPr>
              <a:t> </a:t>
            </a:r>
            <a:r>
              <a:rPr lang="en-US" sz="2000" dirty="0" err="1">
                <a:latin typeface="Calibri" pitchFamily="34" charset="0"/>
                <a:cs typeface="Calibri" pitchFamily="34" charset="0"/>
              </a:rPr>
              <a:t>các</a:t>
            </a:r>
            <a:r>
              <a:rPr lang="en-US" sz="2000" dirty="0">
                <a:latin typeface="Calibri" pitchFamily="34" charset="0"/>
                <a:cs typeface="Calibri" pitchFamily="34" charset="0"/>
              </a:rPr>
              <a:t> </a:t>
            </a:r>
            <a:r>
              <a:rPr lang="en-US" sz="2000" dirty="0" err="1">
                <a:latin typeface="Calibri" pitchFamily="34" charset="0"/>
                <a:cs typeface="Calibri" pitchFamily="34" charset="0"/>
              </a:rPr>
              <a:t>hê</a:t>
            </a:r>
            <a:r>
              <a:rPr lang="en-US" sz="2000" dirty="0">
                <a:latin typeface="Calibri" pitchFamily="34" charset="0"/>
                <a:cs typeface="Calibri" pitchFamily="34" charset="0"/>
              </a:rPr>
              <a:t>̣ </a:t>
            </a:r>
            <a:r>
              <a:rPr lang="en-US" sz="2000" dirty="0" err="1" smtClean="0">
                <a:latin typeface="Calibri" pitchFamily="34" charset="0"/>
                <a:cs typeface="Calibri" pitchFamily="34" charset="0"/>
              </a:rPr>
              <a:t>số</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trên</a:t>
            </a:r>
            <a:r>
              <a:rPr lang="en-US" sz="2000" dirty="0">
                <a:latin typeface="Calibri" pitchFamily="34" charset="0"/>
                <a:cs typeface="Calibri" pitchFamily="34" charset="0"/>
              </a:rPr>
              <a:t> </a:t>
            </a:r>
            <a:r>
              <a:rPr lang="en-US" sz="2000" dirty="0" err="1">
                <a:latin typeface="Calibri" pitchFamily="34" charset="0"/>
                <a:cs typeface="Calibri" pitchFamily="34" charset="0"/>
              </a:rPr>
              <a:t>các</a:t>
            </a:r>
            <a:r>
              <a:rPr lang="en-US" sz="2000" dirty="0">
                <a:latin typeface="Calibri" pitchFamily="34" charset="0"/>
                <a:cs typeface="Calibri" pitchFamily="34" charset="0"/>
              </a:rPr>
              <a:t> </a:t>
            </a:r>
            <a:r>
              <a:rPr lang="en-US" sz="2000" dirty="0" err="1">
                <a:latin typeface="Calibri" pitchFamily="34" charset="0"/>
                <a:cs typeface="Calibri" pitchFamily="34" charset="0"/>
              </a:rPr>
              <a:t>biến</a:t>
            </a:r>
            <a:r>
              <a:rPr lang="en-US" sz="2000" dirty="0">
                <a:latin typeface="Calibri" pitchFamily="34" charset="0"/>
                <a:cs typeface="Calibri" pitchFamily="34" charset="0"/>
              </a:rPr>
              <a:t> </a:t>
            </a:r>
            <a:r>
              <a:rPr lang="en-US" sz="2000" dirty="0" err="1">
                <a:latin typeface="Calibri" pitchFamily="34" charset="0"/>
                <a:cs typeface="Calibri" pitchFamily="34" charset="0"/>
              </a:rPr>
              <a:t>gia</a:t>
            </a:r>
            <a:r>
              <a:rPr lang="en-US" sz="2000" dirty="0">
                <a:latin typeface="Calibri" pitchFamily="34" charset="0"/>
                <a:cs typeface="Calibri" pitchFamily="34" charset="0"/>
              </a:rPr>
              <a:t>̉</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nhóm</a:t>
            </a:r>
            <a:r>
              <a:rPr lang="en-US" sz="2000" dirty="0" smtClean="0">
                <a:latin typeface="Calibri" pitchFamily="34" charset="0"/>
                <a:cs typeface="Calibri" pitchFamily="34" charset="0"/>
              </a:rPr>
              <a:t> </a:t>
            </a:r>
            <a:r>
              <a:rPr lang="en-US" sz="2000" dirty="0" err="1">
                <a:latin typeface="Calibri" pitchFamily="34" charset="0"/>
                <a:cs typeface="Calibri" pitchFamily="34" charset="0"/>
              </a:rPr>
              <a:t>cơ</a:t>
            </a:r>
            <a:r>
              <a:rPr lang="en-US" sz="2000" dirty="0">
                <a:latin typeface="Calibri" pitchFamily="34" charset="0"/>
                <a:cs typeface="Calibri" pitchFamily="34" charset="0"/>
              </a:rPr>
              <a:t> </a:t>
            </a:r>
            <a:r>
              <a:rPr lang="en-US" sz="2000" dirty="0" err="1">
                <a:latin typeface="Calibri" pitchFamily="34" charset="0"/>
                <a:cs typeface="Calibri" pitchFamily="34" charset="0"/>
              </a:rPr>
              <a:t>sơ</a:t>
            </a:r>
            <a:r>
              <a:rPr lang="en-US" sz="2000" dirty="0">
                <a:latin typeface="Calibri" pitchFamily="34" charset="0"/>
                <a:cs typeface="Calibri" pitchFamily="34" charset="0"/>
              </a:rPr>
              <a:t>̉ là single male</a:t>
            </a:r>
            <a:r>
              <a:rPr lang="en-US" sz="2000" dirty="0" smtClean="0">
                <a:latin typeface="Calibri" pitchFamily="34" charset="0"/>
                <a:cs typeface="Calibri" pitchFamily="34" charset="0"/>
              </a:rPr>
              <a:t>. Do </a:t>
            </a:r>
            <a:r>
              <a:rPr lang="en-US" sz="2000" dirty="0" err="1">
                <a:latin typeface="Calibri" pitchFamily="34" charset="0"/>
                <a:cs typeface="Calibri" pitchFamily="34" charset="0"/>
              </a:rPr>
              <a:t>đo</a:t>
            </a:r>
            <a:r>
              <a:rPr lang="en-US" sz="2000" dirty="0">
                <a:latin typeface="Calibri" pitchFamily="34" charset="0"/>
                <a:cs typeface="Calibri" pitchFamily="34" charset="0"/>
              </a:rPr>
              <a:t>́ </a:t>
            </a:r>
            <a:r>
              <a:rPr lang="en-US" sz="2000" dirty="0" err="1">
                <a:latin typeface="Calibri" pitchFamily="34" charset="0"/>
                <a:cs typeface="Calibri" pitchFamily="34" charset="0"/>
              </a:rPr>
              <a:t>trên</a:t>
            </a:r>
            <a:r>
              <a:rPr lang="en-US" sz="2000" dirty="0">
                <a:latin typeface="Calibri" pitchFamily="34" charset="0"/>
                <a:cs typeface="Calibri" pitchFamily="34" charset="0"/>
              </a:rPr>
              <a:t> 3  </a:t>
            </a:r>
            <a:r>
              <a:rPr lang="en-US" sz="2000" dirty="0" err="1">
                <a:latin typeface="Calibri" pitchFamily="34" charset="0"/>
                <a:cs typeface="Calibri" pitchFamily="34" charset="0"/>
              </a:rPr>
              <a:t>biến</a:t>
            </a:r>
            <a:r>
              <a:rPr lang="en-US" sz="2000" dirty="0">
                <a:latin typeface="Calibri" pitchFamily="34" charset="0"/>
                <a:cs typeface="Calibri" pitchFamily="34" charset="0"/>
              </a:rPr>
              <a:t> </a:t>
            </a:r>
            <a:r>
              <a:rPr lang="en-US" sz="2000" dirty="0" err="1">
                <a:latin typeface="Calibri" pitchFamily="34" charset="0"/>
                <a:cs typeface="Calibri" pitchFamily="34" charset="0"/>
              </a:rPr>
              <a:t>gia</a:t>
            </a:r>
            <a:r>
              <a:rPr lang="en-US" sz="2000" dirty="0">
                <a:latin typeface="Calibri" pitchFamily="34" charset="0"/>
                <a:cs typeface="Calibri" pitchFamily="34" charset="0"/>
              </a:rPr>
              <a:t>̉ </a:t>
            </a:r>
            <a:r>
              <a:rPr lang="en-US" sz="2000" dirty="0" err="1">
                <a:latin typeface="Calibri" pitchFamily="34" charset="0"/>
                <a:cs typeface="Calibri" pitchFamily="34" charset="0"/>
              </a:rPr>
              <a:t>đo</a:t>
            </a:r>
            <a:r>
              <a:rPr lang="en-US" sz="2000" dirty="0">
                <a:latin typeface="Calibri" pitchFamily="34" charset="0"/>
                <a:cs typeface="Calibri" pitchFamily="34" charset="0"/>
              </a:rPr>
              <a:t> </a:t>
            </a:r>
            <a:r>
              <a:rPr lang="en-US" sz="2000" dirty="0" err="1">
                <a:latin typeface="Calibri" pitchFamily="34" charset="0"/>
                <a:cs typeface="Calibri" pitchFamily="34" charset="0"/>
              </a:rPr>
              <a:t>được</a:t>
            </a:r>
            <a:r>
              <a:rPr lang="en-US" sz="2000" dirty="0">
                <a:latin typeface="Calibri" pitchFamily="34" charset="0"/>
                <a:cs typeface="Calibri" pitchFamily="34" charset="0"/>
              </a:rPr>
              <a:t> 1 </a:t>
            </a:r>
            <a:r>
              <a:rPr lang="en-US" sz="2000" dirty="0" err="1">
                <a:latin typeface="Calibri" pitchFamily="34" charset="0"/>
                <a:cs typeface="Calibri" pitchFamily="34" charset="0"/>
              </a:rPr>
              <a:t>ty</a:t>
            </a:r>
            <a:r>
              <a:rPr lang="en-US" sz="2000" dirty="0">
                <a:latin typeface="Calibri" pitchFamily="34" charset="0"/>
                <a:cs typeface="Calibri" pitchFamily="34" charset="0"/>
              </a:rPr>
              <a:t>̉ </a:t>
            </a:r>
            <a:r>
              <a:rPr lang="en-US" sz="2000" dirty="0" err="1">
                <a:latin typeface="Calibri" pitchFamily="34" charset="0"/>
                <a:cs typeface="Calibri" pitchFamily="34" charset="0"/>
              </a:rPr>
              <a:t>lê</a:t>
            </a:r>
            <a:r>
              <a:rPr lang="en-US" sz="2000" dirty="0">
                <a:latin typeface="Calibri" pitchFamily="34" charset="0"/>
                <a:cs typeface="Calibri" pitchFamily="34" charset="0"/>
              </a:rPr>
              <a:t>̣ </a:t>
            </a:r>
            <a:r>
              <a:rPr lang="en-US" sz="2000" dirty="0" err="1">
                <a:latin typeface="Calibri" pitchFamily="34" charset="0"/>
                <a:cs typeface="Calibri" pitchFamily="34" charset="0"/>
              </a:rPr>
              <a:t>chênh</a:t>
            </a:r>
            <a:r>
              <a:rPr lang="en-US" sz="2000" dirty="0">
                <a:latin typeface="Calibri" pitchFamily="34" charset="0"/>
                <a:cs typeface="Calibri" pitchFamily="34" charset="0"/>
              </a:rPr>
              <a:t> </a:t>
            </a:r>
            <a:r>
              <a:rPr lang="en-US" sz="2000" dirty="0" err="1">
                <a:latin typeface="Calibri" pitchFamily="34" charset="0"/>
                <a:cs typeface="Calibri" pitchFamily="34" charset="0"/>
              </a:rPr>
              <a:t>lệch</a:t>
            </a:r>
            <a:r>
              <a:rPr lang="en-US" sz="2000" dirty="0">
                <a:latin typeface="Calibri" pitchFamily="34" charset="0"/>
                <a:cs typeface="Calibri" pitchFamily="34" charset="0"/>
              </a:rPr>
              <a:t> </a:t>
            </a:r>
            <a:r>
              <a:rPr lang="en-US" sz="2000" dirty="0" err="1">
                <a:latin typeface="Calibri" pitchFamily="34" charset="0"/>
                <a:cs typeface="Calibri" pitchFamily="34" charset="0"/>
              </a:rPr>
              <a:t>vê</a:t>
            </a:r>
            <a:r>
              <a:rPr lang="en-US" sz="2000" dirty="0">
                <a:latin typeface="Calibri" pitchFamily="34" charset="0"/>
                <a:cs typeface="Calibri" pitchFamily="34" charset="0"/>
              </a:rPr>
              <a:t>̀ </a:t>
            </a:r>
            <a:r>
              <a:rPr lang="en-US" sz="2000" dirty="0" err="1">
                <a:latin typeface="Calibri" pitchFamily="34" charset="0"/>
                <a:cs typeface="Calibri" pitchFamily="34" charset="0"/>
              </a:rPr>
              <a:t>tiền</a:t>
            </a:r>
            <a:r>
              <a:rPr lang="en-US" sz="2000" dirty="0">
                <a:latin typeface="Calibri" pitchFamily="34" charset="0"/>
                <a:cs typeface="Calibri" pitchFamily="34" charset="0"/>
              </a:rPr>
              <a:t> </a:t>
            </a:r>
            <a:r>
              <a:rPr lang="en-US" sz="2000" dirty="0" err="1">
                <a:latin typeface="Calibri" pitchFamily="34" charset="0"/>
                <a:cs typeface="Calibri" pitchFamily="34" charset="0"/>
              </a:rPr>
              <a:t>lương</a:t>
            </a:r>
            <a:r>
              <a:rPr lang="en-US" sz="2000" dirty="0">
                <a:latin typeface="Calibri" pitchFamily="34" charset="0"/>
                <a:cs typeface="Calibri" pitchFamily="34" charset="0"/>
              </a:rPr>
              <a:t>.</a:t>
            </a:r>
          </a:p>
          <a:p>
            <a:endParaRPr lang="en-US" sz="1900" dirty="0">
              <a:latin typeface="Calibri" pitchFamily="34" charset="0"/>
              <a:cs typeface="Calibri" pitchFamily="34" charset="0"/>
            </a:endParaRPr>
          </a:p>
          <a:p>
            <a:endParaRPr lang="en-US" sz="1900" dirty="0">
              <a:latin typeface="Calibri" pitchFamily="34" charset="0"/>
              <a:cs typeface="Calibri" pitchFamily="34" charset="0"/>
            </a:endParaRPr>
          </a:p>
        </p:txBody>
      </p:sp>
      <p:sp>
        <p:nvSpPr>
          <p:cNvPr id="3" name="Title 2"/>
          <p:cNvSpPr>
            <a:spLocks noGrp="1"/>
          </p:cNvSpPr>
          <p:nvPr>
            <p:ph type="title"/>
          </p:nvPr>
        </p:nvSpPr>
        <p:spPr/>
        <p:txBody>
          <a:bodyPr>
            <a:normAutofit/>
          </a:bodyPr>
          <a:lstStyle/>
          <a:p>
            <a:r>
              <a:rPr lang="en-US" sz="3900" dirty="0" smtClean="0">
                <a:solidFill>
                  <a:srgbClr val="FF0000"/>
                </a:solidFill>
                <a:latin typeface="Calibri" pitchFamily="34" charset="0"/>
                <a:cs typeface="Calibri" pitchFamily="34" charset="0"/>
              </a:rPr>
              <a:t>* </a:t>
            </a:r>
            <a:r>
              <a:rPr lang="en-US" sz="3900" dirty="0" err="1" smtClean="0">
                <a:solidFill>
                  <a:srgbClr val="FF0000"/>
                </a:solidFill>
                <a:latin typeface="Calibri" pitchFamily="34" charset="0"/>
                <a:cs typeface="Calibri" pitchFamily="34" charset="0"/>
              </a:rPr>
              <a:t>Sử</a:t>
            </a:r>
            <a:r>
              <a:rPr lang="en-US" sz="3900" dirty="0" smtClean="0">
                <a:solidFill>
                  <a:srgbClr val="FF0000"/>
                </a:solidFill>
                <a:latin typeface="Calibri" pitchFamily="34" charset="0"/>
                <a:cs typeface="Calibri" pitchFamily="34" charset="0"/>
              </a:rPr>
              <a:t> </a:t>
            </a:r>
            <a:r>
              <a:rPr lang="en-US" sz="3900" dirty="0" err="1" smtClean="0">
                <a:solidFill>
                  <a:srgbClr val="FF0000"/>
                </a:solidFill>
                <a:latin typeface="Calibri" pitchFamily="34" charset="0"/>
                <a:cs typeface="Calibri" pitchFamily="34" charset="0"/>
              </a:rPr>
              <a:t>dụng</a:t>
            </a:r>
            <a:r>
              <a:rPr lang="en-US" sz="3900" dirty="0" smtClean="0">
                <a:solidFill>
                  <a:srgbClr val="FF0000"/>
                </a:solidFill>
                <a:latin typeface="Calibri" pitchFamily="34" charset="0"/>
                <a:cs typeface="Calibri" pitchFamily="34" charset="0"/>
              </a:rPr>
              <a:t> </a:t>
            </a:r>
            <a:r>
              <a:rPr lang="en-US" sz="3900" dirty="0" err="1" smtClean="0">
                <a:solidFill>
                  <a:srgbClr val="FF0000"/>
                </a:solidFill>
                <a:latin typeface="Calibri" pitchFamily="34" charset="0"/>
                <a:cs typeface="Calibri" pitchFamily="34" charset="0"/>
              </a:rPr>
              <a:t>đa</a:t>
            </a:r>
            <a:r>
              <a:rPr lang="en-US" sz="3900" dirty="0" smtClean="0">
                <a:solidFill>
                  <a:srgbClr val="FF0000"/>
                </a:solidFill>
                <a:latin typeface="Calibri" pitchFamily="34" charset="0"/>
                <a:cs typeface="Calibri" pitchFamily="34" charset="0"/>
              </a:rPr>
              <a:t> </a:t>
            </a:r>
            <a:r>
              <a:rPr lang="en-US" sz="3900" dirty="0" err="1" smtClean="0">
                <a:solidFill>
                  <a:srgbClr val="FF0000"/>
                </a:solidFill>
                <a:latin typeface="Calibri" pitchFamily="34" charset="0"/>
                <a:cs typeface="Calibri" pitchFamily="34" charset="0"/>
              </a:rPr>
              <a:t>biến</a:t>
            </a:r>
            <a:r>
              <a:rPr lang="en-US" sz="3900" dirty="0" smtClean="0">
                <a:solidFill>
                  <a:srgbClr val="FF0000"/>
                </a:solidFill>
                <a:latin typeface="Calibri" pitchFamily="34" charset="0"/>
                <a:cs typeface="Calibri" pitchFamily="34" charset="0"/>
              </a:rPr>
              <a:t> </a:t>
            </a:r>
            <a:r>
              <a:rPr lang="en-US" sz="3900" dirty="0" err="1" smtClean="0">
                <a:solidFill>
                  <a:srgbClr val="FF0000"/>
                </a:solidFill>
                <a:latin typeface="Calibri" pitchFamily="34" charset="0"/>
                <a:cs typeface="Calibri" pitchFamily="34" charset="0"/>
              </a:rPr>
              <a:t>giả</a:t>
            </a:r>
            <a:endParaRPr lang="en-US" sz="3900" dirty="0">
              <a:solidFill>
                <a:srgbClr val="FF0000"/>
              </a:solidFill>
              <a:latin typeface="Calibri" pitchFamily="34" charset="0"/>
              <a:cs typeface="Calibri" pitchFamily="34" charset="0"/>
            </a:endParaRPr>
          </a:p>
        </p:txBody>
      </p:sp>
      <mc:AlternateContent xmlns:mc="http://schemas.openxmlformats.org/markup-compatibility/2006" xmlns:a14="http://schemas.microsoft.com/office/drawing/2010/main">
        <mc:Choice Requires="a14">
          <p:sp>
            <p:nvSpPr>
              <p:cNvPr id="4" name="TextBox 3"/>
              <p:cNvSpPr txBox="1"/>
              <p:nvPr/>
            </p:nvSpPr>
            <p:spPr>
              <a:xfrm>
                <a:off x="539552" y="4365104"/>
                <a:ext cx="8604448" cy="11170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1600" b="0" i="1" smtClean="0">
                              <a:solidFill>
                                <a:schemeClr val="tx1"/>
                              </a:solidFill>
                              <a:latin typeface="Cambria Math"/>
                            </a:rPr>
                          </m:ctrlPr>
                        </m:accPr>
                        <m:e>
                          <m:r>
                            <m:rPr>
                              <m:sty m:val="p"/>
                            </m:rPr>
                            <a:rPr lang="en-US" sz="1600">
                              <a:solidFill>
                                <a:schemeClr val="tx1"/>
                              </a:solidFill>
                              <a:latin typeface="Cambria Math"/>
                            </a:rPr>
                            <m:t>log</m:t>
                          </m:r>
                          <m:r>
                            <a:rPr lang="en-US" sz="1600" i="1">
                              <a:solidFill>
                                <a:schemeClr val="tx1"/>
                              </a:solidFill>
                              <a:latin typeface="Cambria Math"/>
                            </a:rPr>
                            <m:t>⁡(</m:t>
                          </m:r>
                          <m:r>
                            <a:rPr lang="en-US" sz="1600" i="1">
                              <a:solidFill>
                                <a:schemeClr val="tx1"/>
                              </a:solidFill>
                              <a:latin typeface="Cambria Math"/>
                            </a:rPr>
                            <m:t>𝑤𝑎𝑔𝑒</m:t>
                          </m:r>
                          <m:r>
                            <a:rPr lang="en-US" sz="1600" i="1">
                              <a:solidFill>
                                <a:schemeClr val="tx1"/>
                              </a:solidFill>
                              <a:latin typeface="Cambria Math"/>
                            </a:rPr>
                            <m:t>)</m:t>
                          </m:r>
                        </m:e>
                      </m:acc>
                      <m:r>
                        <a:rPr lang="en-US" sz="1600" b="0" i="1" smtClean="0">
                          <a:solidFill>
                            <a:schemeClr val="tx1"/>
                          </a:solidFill>
                          <a:latin typeface="Cambria Math"/>
                        </a:rPr>
                        <m:t>=.</m:t>
                      </m:r>
                      <m:r>
                        <a:rPr lang="en-US" sz="1600" b="0" i="1" smtClean="0">
                          <a:solidFill>
                            <a:schemeClr val="tx1"/>
                          </a:solidFill>
                          <a:latin typeface="Cambria Math"/>
                        </a:rPr>
                        <m:t>321</m:t>
                      </m:r>
                      <m:r>
                        <a:rPr lang="en-US" sz="1600" b="0" i="1" smtClean="0">
                          <a:solidFill>
                            <a:schemeClr val="tx1"/>
                          </a:solidFill>
                          <a:latin typeface="Cambria Math"/>
                        </a:rPr>
                        <m:t>+.</m:t>
                      </m:r>
                      <m:r>
                        <a:rPr lang="en-US" sz="1600" b="0" i="1" smtClean="0">
                          <a:solidFill>
                            <a:schemeClr val="tx1"/>
                          </a:solidFill>
                          <a:latin typeface="Cambria Math"/>
                        </a:rPr>
                        <m:t>213</m:t>
                      </m:r>
                      <m:r>
                        <a:rPr lang="en-US" sz="1600" b="0" i="1" smtClean="0">
                          <a:solidFill>
                            <a:schemeClr val="tx1"/>
                          </a:solidFill>
                          <a:latin typeface="Cambria Math"/>
                        </a:rPr>
                        <m:t>𝑚𝑎𝑟𝑟𝑚𝑎𝑙𝑒</m:t>
                      </m:r>
                      <m:r>
                        <a:rPr lang="en-US" sz="1600" b="0" i="1" smtClean="0">
                          <a:solidFill>
                            <a:schemeClr val="tx1"/>
                          </a:solidFill>
                          <a:latin typeface="Cambria Math"/>
                        </a:rPr>
                        <m:t>−.</m:t>
                      </m:r>
                      <m:r>
                        <a:rPr lang="en-US" sz="1600" b="0" i="1" smtClean="0">
                          <a:solidFill>
                            <a:schemeClr val="tx1"/>
                          </a:solidFill>
                          <a:latin typeface="Cambria Math"/>
                        </a:rPr>
                        <m:t>198</m:t>
                      </m:r>
                      <m:r>
                        <a:rPr lang="en-US" sz="1600" b="0" i="1" smtClean="0">
                          <a:solidFill>
                            <a:schemeClr val="tx1"/>
                          </a:solidFill>
                          <a:latin typeface="Cambria Math"/>
                        </a:rPr>
                        <m:t>𝑚𝑎𝑟𝑟𝑓𝑒𝑚</m:t>
                      </m:r>
                      <m:r>
                        <a:rPr lang="en-US" sz="1600" b="0" i="1" smtClean="0">
                          <a:solidFill>
                            <a:schemeClr val="tx1"/>
                          </a:solidFill>
                          <a:latin typeface="Cambria Math"/>
                        </a:rPr>
                        <m:t>−.</m:t>
                      </m:r>
                      <m:r>
                        <a:rPr lang="en-US" sz="1600" b="0" i="1" smtClean="0">
                          <a:solidFill>
                            <a:schemeClr val="tx1"/>
                          </a:solidFill>
                          <a:latin typeface="Cambria Math"/>
                        </a:rPr>
                        <m:t>110</m:t>
                      </m:r>
                      <m:r>
                        <a:rPr lang="en-US" sz="1600" b="0" i="1" smtClean="0">
                          <a:solidFill>
                            <a:schemeClr val="tx1"/>
                          </a:solidFill>
                          <a:latin typeface="Cambria Math"/>
                        </a:rPr>
                        <m:t>𝑠𝑖𝑛𝑔𝑓𝑒𝑚</m:t>
                      </m:r>
                      <m:r>
                        <a:rPr lang="en-US" sz="1600" b="0" i="1" smtClean="0">
                          <a:solidFill>
                            <a:schemeClr val="tx1"/>
                          </a:solidFill>
                          <a:latin typeface="Cambria Math"/>
                        </a:rPr>
                        <m:t>+.</m:t>
                      </m:r>
                      <m:r>
                        <a:rPr lang="en-US" sz="1600" b="0" i="1" smtClean="0">
                          <a:solidFill>
                            <a:schemeClr val="tx1"/>
                          </a:solidFill>
                          <a:latin typeface="Cambria Math"/>
                        </a:rPr>
                        <m:t>079</m:t>
                      </m:r>
                      <m:r>
                        <a:rPr lang="en-US" sz="1600" b="0" i="1" smtClean="0">
                          <a:solidFill>
                            <a:schemeClr val="tx1"/>
                          </a:solidFill>
                          <a:latin typeface="Cambria Math"/>
                        </a:rPr>
                        <m:t>𝑒𝑑𝑢𝑐</m:t>
                      </m:r>
                      <m:r>
                        <a:rPr lang="en-US" sz="1600" b="0" i="1" smtClean="0">
                          <a:solidFill>
                            <a:schemeClr val="tx1"/>
                          </a:solidFill>
                          <a:latin typeface="Cambria Math"/>
                        </a:rPr>
                        <m:t>+.</m:t>
                      </m:r>
                      <m:r>
                        <a:rPr lang="en-US" sz="1600" b="0" i="1" smtClean="0">
                          <a:solidFill>
                            <a:schemeClr val="tx1"/>
                          </a:solidFill>
                          <a:latin typeface="Cambria Math"/>
                        </a:rPr>
                        <m:t>027</m:t>
                      </m:r>
                      <m:r>
                        <a:rPr lang="en-US" sz="1600" b="0" i="1" smtClean="0">
                          <a:solidFill>
                            <a:schemeClr val="tx1"/>
                          </a:solidFill>
                          <a:latin typeface="Cambria Math"/>
                        </a:rPr>
                        <m:t>𝑒𝑥𝑝𝑒𝑟</m:t>
                      </m:r>
                      <m:r>
                        <a:rPr lang="en-US" sz="1600" b="0" i="1" smtClean="0">
                          <a:solidFill>
                            <a:schemeClr val="tx1"/>
                          </a:solidFill>
                          <a:latin typeface="Cambria Math"/>
                        </a:rPr>
                        <m:t>−.</m:t>
                      </m:r>
                      <m:r>
                        <a:rPr lang="en-US" sz="1600" b="0" i="1" smtClean="0">
                          <a:solidFill>
                            <a:schemeClr val="tx1"/>
                          </a:solidFill>
                          <a:latin typeface="Cambria Math"/>
                        </a:rPr>
                        <m:t>00054</m:t>
                      </m:r>
                      <m:r>
                        <a:rPr lang="en-US" sz="1600" b="0" i="1" smtClean="0">
                          <a:solidFill>
                            <a:schemeClr val="tx1"/>
                          </a:solidFill>
                          <a:latin typeface="Cambria Math"/>
                        </a:rPr>
                        <m:t>𝑒𝑥𝑝𝑒</m:t>
                      </m:r>
                      <m:sSup>
                        <m:sSupPr>
                          <m:ctrlPr>
                            <a:rPr lang="en-US" sz="1600" b="0" i="1" smtClean="0">
                              <a:solidFill>
                                <a:schemeClr val="tx1"/>
                              </a:solidFill>
                              <a:latin typeface="Cambria Math"/>
                            </a:rPr>
                          </m:ctrlPr>
                        </m:sSupPr>
                        <m:e>
                          <m:r>
                            <a:rPr lang="en-US" sz="1600" b="0" i="1" smtClean="0">
                              <a:solidFill>
                                <a:schemeClr val="tx1"/>
                              </a:solidFill>
                              <a:latin typeface="Cambria Math"/>
                            </a:rPr>
                            <m:t>𝑟</m:t>
                          </m:r>
                        </m:e>
                        <m:sup>
                          <m:r>
                            <a:rPr lang="en-US" sz="1600" b="0" i="1" smtClean="0">
                              <a:solidFill>
                                <a:schemeClr val="tx1"/>
                              </a:solidFill>
                              <a:latin typeface="Cambria Math"/>
                            </a:rPr>
                            <m:t>2</m:t>
                          </m:r>
                        </m:sup>
                      </m:sSup>
                      <m:r>
                        <a:rPr lang="en-US" sz="1600" b="0" i="1" smtClean="0">
                          <a:solidFill>
                            <a:schemeClr val="tx1"/>
                          </a:solidFill>
                          <a:latin typeface="Cambria Math"/>
                        </a:rPr>
                        <m:t>+.</m:t>
                      </m:r>
                      <m:r>
                        <a:rPr lang="en-US" sz="1600" b="0" i="1" smtClean="0">
                          <a:solidFill>
                            <a:schemeClr val="tx1"/>
                          </a:solidFill>
                          <a:latin typeface="Cambria Math"/>
                        </a:rPr>
                        <m:t>029</m:t>
                      </m:r>
                      <m:r>
                        <a:rPr lang="en-US" sz="1600" b="0" i="1" smtClean="0">
                          <a:solidFill>
                            <a:schemeClr val="tx1"/>
                          </a:solidFill>
                          <a:latin typeface="Cambria Math"/>
                        </a:rPr>
                        <m:t>𝑡𝑒𝑛𝑢𝑟𝑒</m:t>
                      </m:r>
                      <m:r>
                        <a:rPr lang="en-US" sz="1600" b="0" i="1" smtClean="0">
                          <a:solidFill>
                            <a:schemeClr val="tx1"/>
                          </a:solidFill>
                          <a:latin typeface="Cambria Math"/>
                        </a:rPr>
                        <m:t>−.</m:t>
                      </m:r>
                      <m:r>
                        <a:rPr lang="en-US" sz="1600" b="0" i="1" smtClean="0">
                          <a:solidFill>
                            <a:schemeClr val="tx1"/>
                          </a:solidFill>
                          <a:latin typeface="Cambria Math"/>
                        </a:rPr>
                        <m:t>00053</m:t>
                      </m:r>
                      <m:r>
                        <a:rPr lang="en-US" sz="1600" b="0" i="1" smtClean="0">
                          <a:solidFill>
                            <a:schemeClr val="tx1"/>
                          </a:solidFill>
                          <a:latin typeface="Cambria Math"/>
                        </a:rPr>
                        <m:t>𝑡𝑒𝑛𝑢𝑟</m:t>
                      </m:r>
                      <m:sSup>
                        <m:sSupPr>
                          <m:ctrlPr>
                            <a:rPr lang="en-US" sz="1600" b="0" i="1" smtClean="0">
                              <a:solidFill>
                                <a:schemeClr val="tx1"/>
                              </a:solidFill>
                              <a:latin typeface="Cambria Math"/>
                            </a:rPr>
                          </m:ctrlPr>
                        </m:sSupPr>
                        <m:e>
                          <m:r>
                            <a:rPr lang="en-US" sz="1600" b="0" i="1" smtClean="0">
                              <a:solidFill>
                                <a:schemeClr val="tx1"/>
                              </a:solidFill>
                              <a:latin typeface="Cambria Math"/>
                            </a:rPr>
                            <m:t>𝑒</m:t>
                          </m:r>
                        </m:e>
                        <m:sup>
                          <m:r>
                            <a:rPr lang="en-US" sz="1600" b="0" i="1" smtClean="0">
                              <a:solidFill>
                                <a:schemeClr val="tx1"/>
                              </a:solidFill>
                              <a:latin typeface="Cambria Math"/>
                            </a:rPr>
                            <m:t>2</m:t>
                          </m:r>
                        </m:sup>
                      </m:sSup>
                    </m:oMath>
                  </m:oMathPara>
                </a14:m>
                <a:endParaRPr lang="en-US" sz="1700" dirty="0" smtClean="0">
                  <a:solidFill>
                    <a:schemeClr val="tx1"/>
                  </a:solidFill>
                </a:endParaRPr>
              </a:p>
              <a:p>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a:rPr>
                        <m:t>𝑛</m:t>
                      </m:r>
                      <m:r>
                        <a:rPr lang="en-US" b="0" i="1" smtClean="0">
                          <a:solidFill>
                            <a:schemeClr val="tx1"/>
                          </a:solidFill>
                          <a:latin typeface="Cambria Math"/>
                        </a:rPr>
                        <m:t>=</m:t>
                      </m:r>
                      <m:r>
                        <a:rPr lang="en-US" b="0" i="1" smtClean="0">
                          <a:solidFill>
                            <a:schemeClr val="tx1"/>
                          </a:solidFill>
                          <a:latin typeface="Cambria Math"/>
                        </a:rPr>
                        <m:t>526</m:t>
                      </m:r>
                      <m:r>
                        <a:rPr lang="en-US" b="0" i="1" smtClean="0">
                          <a:solidFill>
                            <a:schemeClr val="tx1"/>
                          </a:solidFill>
                          <a:latin typeface="Cambria Math"/>
                        </a:rPr>
                        <m:t>, </m:t>
                      </m:r>
                      <m:sSup>
                        <m:sSupPr>
                          <m:ctrlPr>
                            <a:rPr lang="en-US" b="0" i="1" smtClean="0">
                              <a:solidFill>
                                <a:schemeClr val="tx1"/>
                              </a:solidFill>
                              <a:latin typeface="Cambria Math"/>
                            </a:rPr>
                          </m:ctrlPr>
                        </m:sSupPr>
                        <m:e>
                          <m:r>
                            <a:rPr lang="en-US" b="0" i="1" smtClean="0">
                              <a:solidFill>
                                <a:schemeClr val="tx1"/>
                              </a:solidFill>
                              <a:latin typeface="Cambria Math"/>
                            </a:rPr>
                            <m:t>𝑅</m:t>
                          </m:r>
                        </m:e>
                        <m:sup>
                          <m:r>
                            <a:rPr lang="en-US" b="0" i="1" smtClean="0">
                              <a:solidFill>
                                <a:schemeClr val="tx1"/>
                              </a:solidFill>
                              <a:latin typeface="Cambria Math"/>
                            </a:rPr>
                            <m:t>2</m:t>
                          </m:r>
                        </m:sup>
                      </m:sSup>
                      <m:r>
                        <a:rPr lang="en-US" b="0" i="1" smtClean="0">
                          <a:solidFill>
                            <a:schemeClr val="tx1"/>
                          </a:solidFill>
                          <a:latin typeface="Cambria Math"/>
                        </a:rPr>
                        <m:t>=.</m:t>
                      </m:r>
                      <m:r>
                        <a:rPr lang="en-US" b="0" i="1" smtClean="0">
                          <a:solidFill>
                            <a:schemeClr val="tx1"/>
                          </a:solidFill>
                          <a:latin typeface="Cambria Math"/>
                        </a:rPr>
                        <m:t>461</m:t>
                      </m:r>
                    </m:oMath>
                  </m:oMathPara>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539552" y="4365104"/>
                <a:ext cx="8604448" cy="1117037"/>
              </a:xfrm>
              <a:prstGeom prst="rect">
                <a:avLst/>
              </a:prstGeom>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07612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479871"/>
            <a:ext cx="8229600" cy="4525963"/>
          </a:xfrm>
        </p:spPr>
        <p:txBody>
          <a:bodyPr>
            <a:normAutofit/>
          </a:bodyPr>
          <a:lstStyle/>
          <a:p>
            <a:pPr algn="just"/>
            <a:r>
              <a:rPr lang="en-US" sz="1900" dirty="0" err="1">
                <a:latin typeface="Calibri" pitchFamily="34" charset="0"/>
                <a:cs typeface="Calibri" pitchFamily="34" charset="0"/>
              </a:rPr>
              <a:t>Vậy</a:t>
            </a:r>
            <a:r>
              <a:rPr lang="en-US" sz="1900" dirty="0">
                <a:latin typeface="Calibri" pitchFamily="34" charset="0"/>
                <a:cs typeface="Calibri" pitchFamily="34" charset="0"/>
              </a:rPr>
              <a:t> , </a:t>
            </a:r>
            <a:r>
              <a:rPr lang="en-US" sz="1900" dirty="0" err="1" smtClean="0">
                <a:latin typeface="Calibri" pitchFamily="34" charset="0"/>
                <a:cs typeface="Calibri" pitchFamily="34" charset="0"/>
              </a:rPr>
              <a:t>làm</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thế</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nào</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để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xác</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được</a:t>
            </a:r>
            <a:r>
              <a:rPr lang="en-US" sz="1900" dirty="0">
                <a:latin typeface="Calibri" pitchFamily="34" charset="0"/>
                <a:cs typeface="Calibri" pitchFamily="34" charset="0"/>
              </a:rPr>
              <a:t> </a:t>
            </a:r>
            <a:r>
              <a:rPr lang="en-US" sz="1900" dirty="0" err="1">
                <a:latin typeface="Calibri" pitchFamily="34" charset="0"/>
                <a:cs typeface="Calibri" pitchFamily="34" charset="0"/>
              </a:rPr>
              <a:t>mức</a:t>
            </a:r>
            <a:r>
              <a:rPr lang="en-US" sz="1900" dirty="0">
                <a:latin typeface="Calibri" pitchFamily="34" charset="0"/>
                <a:cs typeface="Calibri" pitchFamily="34" charset="0"/>
              </a:rPr>
              <a:t> </a:t>
            </a:r>
            <a:r>
              <a:rPr lang="en-US" sz="1900" dirty="0" err="1">
                <a:latin typeface="Calibri" pitchFamily="34" charset="0"/>
                <a:cs typeface="Calibri" pitchFamily="34" charset="0"/>
              </a:rPr>
              <a:t>đô</a:t>
            </a:r>
            <a:r>
              <a:rPr lang="en-US" sz="1900" dirty="0">
                <a:latin typeface="Calibri" pitchFamily="34" charset="0"/>
                <a:cs typeface="Calibri" pitchFamily="34" charset="0"/>
              </a:rPr>
              <a:t>̣ </a:t>
            </a:r>
            <a:r>
              <a:rPr lang="en-US" sz="1900" dirty="0" err="1">
                <a:latin typeface="Calibri" pitchFamily="34" charset="0"/>
                <a:cs typeface="Calibri" pitchFamily="34" charset="0"/>
              </a:rPr>
              <a:t>chênh</a:t>
            </a:r>
            <a:r>
              <a:rPr lang="en-US" sz="1900" dirty="0">
                <a:latin typeface="Calibri" pitchFamily="34" charset="0"/>
                <a:cs typeface="Calibri" pitchFamily="34" charset="0"/>
              </a:rPr>
              <a:t> </a:t>
            </a:r>
            <a:r>
              <a:rPr lang="en-US" sz="1900" dirty="0" err="1">
                <a:latin typeface="Calibri" pitchFamily="34" charset="0"/>
                <a:cs typeface="Calibri" pitchFamily="34" charset="0"/>
              </a:rPr>
              <a:t>lệch</a:t>
            </a:r>
            <a:r>
              <a:rPr lang="en-US" sz="1900" dirty="0">
                <a:latin typeface="Calibri" pitchFamily="34" charset="0"/>
                <a:cs typeface="Calibri" pitchFamily="34" charset="0"/>
              </a:rPr>
              <a:t> </a:t>
            </a:r>
            <a:r>
              <a:rPr lang="en-US" sz="1900" dirty="0" err="1">
                <a:latin typeface="Calibri" pitchFamily="34" charset="0"/>
                <a:cs typeface="Calibri" pitchFamily="34" charset="0"/>
              </a:rPr>
              <a:t>hê</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số</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chặn</a:t>
            </a:r>
            <a:r>
              <a:rPr lang="en-US" sz="1900" dirty="0">
                <a:latin typeface="Calibri" pitchFamily="34" charset="0"/>
                <a:cs typeface="Calibri" pitchFamily="34" charset="0"/>
              </a:rPr>
              <a:t> </a:t>
            </a:r>
            <a:r>
              <a:rPr lang="en-US" sz="1900" dirty="0" err="1">
                <a:latin typeface="Calibri" pitchFamily="34" charset="0"/>
                <a:cs typeface="Calibri" pitchFamily="34" charset="0"/>
              </a:rPr>
              <a:t>giữa</a:t>
            </a:r>
            <a:r>
              <a:rPr lang="en-US" sz="1900" dirty="0">
                <a:latin typeface="Calibri" pitchFamily="34" charset="0"/>
                <a:cs typeface="Calibri" pitchFamily="34" charset="0"/>
              </a:rPr>
              <a:t> </a:t>
            </a:r>
            <a:r>
              <a:rPr lang="en-US" sz="1900" dirty="0" err="1">
                <a:latin typeface="Calibri" pitchFamily="34" charset="0"/>
                <a:cs typeface="Calibri" pitchFamily="34" charset="0"/>
              </a:rPr>
              <a:t>các</a:t>
            </a:r>
            <a:r>
              <a:rPr lang="en-US" sz="1900" dirty="0">
                <a:latin typeface="Calibri" pitchFamily="34" charset="0"/>
                <a:cs typeface="Calibri" pitchFamily="34" charset="0"/>
              </a:rPr>
              <a:t> </a:t>
            </a:r>
            <a:r>
              <a:rPr lang="en-US" sz="1900" dirty="0" err="1">
                <a:latin typeface="Calibri" pitchFamily="34" charset="0"/>
                <a:cs typeface="Calibri" pitchFamily="34" charset="0"/>
              </a:rPr>
              <a:t>nhóm</a:t>
            </a:r>
            <a:r>
              <a:rPr lang="en-US" sz="1900" dirty="0">
                <a:latin typeface="Calibri" pitchFamily="34" charset="0"/>
                <a:cs typeface="Calibri" pitchFamily="34" charset="0"/>
              </a:rPr>
              <a:t> </a:t>
            </a:r>
            <a:r>
              <a:rPr lang="en-US" sz="1900" dirty="0" err="1">
                <a:latin typeface="Calibri" pitchFamily="34" charset="0"/>
                <a:cs typeface="Calibri" pitchFamily="34" charset="0"/>
              </a:rPr>
              <a:t>trong</a:t>
            </a:r>
            <a:r>
              <a:rPr lang="en-US" sz="1900" dirty="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hồi</a:t>
            </a:r>
            <a:r>
              <a:rPr lang="en-US" sz="1900" dirty="0">
                <a:latin typeface="Calibri" pitchFamily="34" charset="0"/>
                <a:cs typeface="Calibri" pitchFamily="34" charset="0"/>
              </a:rPr>
              <a:t> </a:t>
            </a:r>
            <a:r>
              <a:rPr lang="en-US" sz="1900" dirty="0" err="1">
                <a:latin typeface="Calibri" pitchFamily="34" charset="0"/>
                <a:cs typeface="Calibri" pitchFamily="34" charset="0"/>
              </a:rPr>
              <a:t>quy</a:t>
            </a:r>
            <a:r>
              <a:rPr lang="en-US" sz="1900" dirty="0">
                <a:latin typeface="Calibri" pitchFamily="34" charset="0"/>
                <a:cs typeface="Calibri" pitchFamily="34" charset="0"/>
              </a:rPr>
              <a:t>?</a:t>
            </a:r>
          </a:p>
          <a:p>
            <a:pPr algn="just"/>
            <a:r>
              <a:rPr lang="en-US" sz="1900" dirty="0">
                <a:latin typeface="Calibri" pitchFamily="34" charset="0"/>
                <a:cs typeface="Calibri" pitchFamily="34" charset="0"/>
              </a:rPr>
              <a:t>Theo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về</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tiền</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lương</a:t>
            </a:r>
            <a:r>
              <a:rPr lang="en-US" sz="1900" dirty="0">
                <a:latin typeface="Calibri" pitchFamily="34" charset="0"/>
                <a:cs typeface="Calibri" pitchFamily="34" charset="0"/>
              </a:rPr>
              <a:t> </a:t>
            </a:r>
            <a:r>
              <a:rPr lang="en-US" sz="1900" dirty="0" err="1">
                <a:latin typeface="Calibri" pitchFamily="34" charset="0"/>
                <a:cs typeface="Calibri" pitchFamily="34" charset="0"/>
              </a:rPr>
              <a:t>trên</a:t>
            </a:r>
            <a:r>
              <a:rPr lang="en-US" sz="1900" dirty="0">
                <a:latin typeface="Calibri" pitchFamily="34" charset="0"/>
                <a:cs typeface="Calibri" pitchFamily="34" charset="0"/>
              </a:rPr>
              <a:t>, ta </a:t>
            </a:r>
            <a:r>
              <a:rPr lang="en-US" sz="1900" dirty="0" err="1">
                <a:latin typeface="Calibri" pitchFamily="34" charset="0"/>
                <a:cs typeface="Calibri" pitchFamily="34" charset="0"/>
              </a:rPr>
              <a:t>muốn</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tác</a:t>
            </a:r>
            <a:r>
              <a:rPr lang="en-US" sz="1900" dirty="0">
                <a:latin typeface="Calibri" pitchFamily="34" charset="0"/>
                <a:cs typeface="Calibri" pitchFamily="34" charset="0"/>
              </a:rPr>
              <a:t> </a:t>
            </a:r>
            <a:r>
              <a:rPr lang="en-US" sz="1900" dirty="0" err="1">
                <a:latin typeface="Calibri" pitchFamily="34" charset="0"/>
                <a:cs typeface="Calibri" pitchFamily="34" charset="0"/>
              </a:rPr>
              <a:t>động</a:t>
            </a:r>
            <a:r>
              <a:rPr lang="en-US" sz="1900" dirty="0">
                <a:latin typeface="Calibri" pitchFamily="34" charset="0"/>
                <a:cs typeface="Calibri" pitchFamily="34" charset="0"/>
              </a:rPr>
              <a:t> </a:t>
            </a:r>
            <a:r>
              <a:rPr lang="en-US" sz="1900" dirty="0" err="1">
                <a:latin typeface="Calibri" pitchFamily="34" charset="0"/>
                <a:cs typeface="Calibri" pitchFamily="34" charset="0"/>
              </a:rPr>
              <a:t>của</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lượng</a:t>
            </a:r>
            <a:r>
              <a:rPr lang="en-US" sz="1900" dirty="0">
                <a:latin typeface="Calibri" pitchFamily="34" charset="0"/>
                <a:cs typeface="Calibri" pitchFamily="34" charset="0"/>
              </a:rPr>
              <a:t> </a:t>
            </a:r>
            <a:r>
              <a:rPr lang="en-US" sz="1900" dirty="0" err="1">
                <a:latin typeface="Calibri" pitchFamily="34" charset="0"/>
                <a:cs typeface="Calibri" pitchFamily="34" charset="0"/>
              </a:rPr>
              <a:t>giáo</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dục</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educ</a:t>
            </a:r>
            <a:r>
              <a:rPr lang="en-US" sz="1900" dirty="0">
                <a:latin typeface="Calibri" pitchFamily="34" charset="0"/>
                <a:cs typeface="Calibri" pitchFamily="34" charset="0"/>
              </a:rPr>
              <a:t>) có là </a:t>
            </a:r>
            <a:r>
              <a:rPr lang="en-US" sz="1900" dirty="0" err="1">
                <a:latin typeface="Calibri" pitchFamily="34" charset="0"/>
                <a:cs typeface="Calibri" pitchFamily="34" charset="0"/>
              </a:rPr>
              <a:t>như</a:t>
            </a:r>
            <a:r>
              <a:rPr lang="en-US" sz="1900" dirty="0">
                <a:latin typeface="Calibri" pitchFamily="34" charset="0"/>
                <a:cs typeface="Calibri" pitchFamily="34" charset="0"/>
              </a:rPr>
              <a:t> </a:t>
            </a:r>
            <a:r>
              <a:rPr lang="en-US" sz="1900" dirty="0" err="1">
                <a:latin typeface="Calibri" pitchFamily="34" charset="0"/>
                <a:cs typeface="Calibri" pitchFamily="34" charset="0"/>
              </a:rPr>
              <a:t>nhau</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giáo</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nam</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nư</a:t>
            </a:r>
            <a:r>
              <a:rPr lang="en-US" sz="1900" dirty="0">
                <a:latin typeface="Calibri" pitchFamily="34" charset="0"/>
                <a:cs typeface="Calibri" pitchFamily="34" charset="0"/>
              </a:rPr>
              <a:t>̃ hay </a:t>
            </a:r>
            <a:r>
              <a:rPr lang="en-US" sz="1900" dirty="0" err="1">
                <a:latin typeface="Calibri" pitchFamily="34" charset="0"/>
                <a:cs typeface="Calibri" pitchFamily="34" charset="0"/>
              </a:rPr>
              <a:t>không</a:t>
            </a:r>
            <a:r>
              <a:rPr lang="en-US" sz="1900" dirty="0">
                <a:latin typeface="Calibri" pitchFamily="34" charset="0"/>
                <a:cs typeface="Calibri" pitchFamily="34" charset="0"/>
              </a:rPr>
              <a:t>?­</a:t>
            </a:r>
          </a:p>
          <a:p>
            <a:pPr algn="just"/>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đơn</a:t>
            </a:r>
            <a:r>
              <a:rPr lang="en-US" sz="1900" dirty="0">
                <a:latin typeface="Calibri" pitchFamily="34" charset="0"/>
                <a:cs typeface="Calibri" pitchFamily="34" charset="0"/>
              </a:rPr>
              <a:t> </a:t>
            </a:r>
            <a:r>
              <a:rPr lang="en-US" sz="1900" dirty="0" err="1">
                <a:latin typeface="Calibri" pitchFamily="34" charset="0"/>
                <a:cs typeface="Calibri" pitchFamily="34" charset="0"/>
              </a:rPr>
              <a:t>giản</a:t>
            </a:r>
            <a:r>
              <a:rPr lang="en-US" sz="1900" dirty="0">
                <a:latin typeface="Calibri" pitchFamily="34" charset="0"/>
                <a:cs typeface="Calibri" pitchFamily="34" charset="0"/>
              </a:rPr>
              <a:t> chỉ </a:t>
            </a:r>
            <a:r>
              <a:rPr lang="en-US" sz="1900" dirty="0" err="1">
                <a:latin typeface="Calibri" pitchFamily="34" charset="0"/>
                <a:cs typeface="Calibri" pitchFamily="34" charset="0"/>
              </a:rPr>
              <a:t>phu</a:t>
            </a:r>
            <a:r>
              <a:rPr lang="en-US" sz="1900" dirty="0">
                <a:latin typeface="Calibri" pitchFamily="34" charset="0"/>
                <a:cs typeface="Calibri" pitchFamily="34" charset="0"/>
              </a:rPr>
              <a:t>̣ </a:t>
            </a:r>
            <a:r>
              <a:rPr lang="en-US" sz="1900" dirty="0" err="1">
                <a:latin typeface="Calibri" pitchFamily="34" charset="0"/>
                <a:cs typeface="Calibri" pitchFamily="34" charset="0"/>
              </a:rPr>
              <a:t>thuộc</a:t>
            </a:r>
            <a:r>
              <a:rPr lang="en-US" sz="1900" dirty="0">
                <a:latin typeface="Calibri" pitchFamily="34" charset="0"/>
                <a:cs typeface="Calibri" pitchFamily="34" charset="0"/>
              </a:rPr>
              <a:t> </a:t>
            </a:r>
            <a:r>
              <a:rPr lang="en-US" sz="1900" dirty="0" err="1">
                <a:latin typeface="Calibri" pitchFamily="34" charset="0"/>
                <a:cs typeface="Calibri" pitchFamily="34" charset="0"/>
              </a:rPr>
              <a:t>vào</a:t>
            </a:r>
            <a:r>
              <a:rPr lang="en-US" sz="1900" dirty="0">
                <a:latin typeface="Calibri" pitchFamily="34" charset="0"/>
                <a:cs typeface="Calibri" pitchFamily="34" charset="0"/>
              </a:rPr>
              <a:t> </a:t>
            </a:r>
            <a:r>
              <a:rPr lang="en-US" sz="1900" dirty="0" err="1">
                <a:latin typeface="Calibri" pitchFamily="34" charset="0"/>
                <a:cs typeface="Calibri" pitchFamily="34" charset="0"/>
              </a:rPr>
              <a:t>giáo</a:t>
            </a:r>
            <a:r>
              <a:rPr lang="en-US" sz="1900" dirty="0">
                <a:latin typeface="Calibri" pitchFamily="34" charset="0"/>
                <a:cs typeface="Calibri" pitchFamily="34" charset="0"/>
              </a:rPr>
              <a:t> </a:t>
            </a:r>
            <a:r>
              <a:rPr lang="en-US" sz="1900" dirty="0" err="1">
                <a:latin typeface="Calibri" pitchFamily="34" charset="0"/>
                <a:cs typeface="Calibri" pitchFamily="34" charset="0"/>
              </a:rPr>
              <a:t>dục</a:t>
            </a:r>
            <a:r>
              <a:rPr lang="en-US" sz="1900" dirty="0">
                <a:latin typeface="Calibri" pitchFamily="34" charset="0"/>
                <a:cs typeface="Calibri" pitchFamily="34" charset="0"/>
              </a:rPr>
              <a:t> </a:t>
            </a:r>
            <a:r>
              <a:rPr lang="en-US" sz="1900" dirty="0" err="1">
                <a:latin typeface="Calibri" pitchFamily="34" charset="0"/>
                <a:cs typeface="Calibri" pitchFamily="34" charset="0"/>
              </a:rPr>
              <a:t>tác</a:t>
            </a:r>
            <a:r>
              <a:rPr lang="en-US" sz="1900" dirty="0">
                <a:latin typeface="Calibri" pitchFamily="34" charset="0"/>
                <a:cs typeface="Calibri" pitchFamily="34" charset="0"/>
              </a:rPr>
              <a:t> </a:t>
            </a:r>
            <a:r>
              <a:rPr lang="en-US" sz="1900" dirty="0" err="1">
                <a:latin typeface="Calibri" pitchFamily="34" charset="0"/>
                <a:cs typeface="Calibri" pitchFamily="34" charset="0"/>
              </a:rPr>
              <a:t>động</a:t>
            </a:r>
            <a:r>
              <a:rPr lang="en-US" sz="1900" dirty="0">
                <a:latin typeface="Calibri" pitchFamily="34" charset="0"/>
                <a:cs typeface="Calibri" pitchFamily="34" charset="0"/>
              </a:rPr>
              <a:t> </a:t>
            </a:r>
            <a:r>
              <a:rPr lang="en-US" sz="1900" dirty="0" err="1">
                <a:latin typeface="Calibri" pitchFamily="34" charset="0"/>
                <a:cs typeface="Calibri" pitchFamily="34" charset="0"/>
              </a:rPr>
              <a:t>giữa</a:t>
            </a:r>
            <a:r>
              <a:rPr lang="en-US" sz="1900" dirty="0">
                <a:latin typeface="Calibri" pitchFamily="34" charset="0"/>
                <a:cs typeface="Calibri" pitchFamily="34" charset="0"/>
              </a:rPr>
              <a:t> </a:t>
            </a:r>
            <a:r>
              <a:rPr lang="en-US" sz="1900" dirty="0" err="1">
                <a:latin typeface="Calibri" pitchFamily="34" charset="0"/>
                <a:cs typeface="Calibri" pitchFamily="34" charset="0"/>
              </a:rPr>
              <a:t>nam</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nữ</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như</a:t>
            </a:r>
            <a:r>
              <a:rPr lang="en-US" sz="1900" dirty="0">
                <a:latin typeface="Calibri" pitchFamily="34" charset="0"/>
                <a:cs typeface="Calibri" pitchFamily="34" charset="0"/>
              </a:rPr>
              <a:t> </a:t>
            </a:r>
            <a:r>
              <a:rPr lang="en-US" sz="1900" dirty="0" err="1">
                <a:latin typeface="Calibri" pitchFamily="34" charset="0"/>
                <a:cs typeface="Calibri" pitchFamily="34" charset="0"/>
              </a:rPr>
              <a:t>sau</a:t>
            </a:r>
            <a:r>
              <a:rPr lang="en-US" sz="1900" dirty="0">
                <a:latin typeface="Calibri" pitchFamily="34" charset="0"/>
                <a:cs typeface="Calibri" pitchFamily="34" charset="0"/>
              </a:rPr>
              <a:t>:</a:t>
            </a:r>
          </a:p>
          <a:p>
            <a:pPr marL="109728" indent="0" algn="just">
              <a:buNone/>
            </a:pPr>
            <a:endParaRPr lang="en-US" sz="1900" dirty="0">
              <a:latin typeface="Calibri" pitchFamily="34" charset="0"/>
              <a:cs typeface="Calibri" pitchFamily="34" charset="0"/>
            </a:endParaRPr>
          </a:p>
          <a:p>
            <a:pPr marL="109728" indent="0" algn="just">
              <a:buNone/>
            </a:pPr>
            <a:endParaRPr lang="en-US" dirty="0"/>
          </a:p>
        </p:txBody>
      </p:sp>
      <p:sp>
        <p:nvSpPr>
          <p:cNvPr id="3" name="Title 2"/>
          <p:cNvSpPr>
            <a:spLocks noGrp="1"/>
          </p:cNvSpPr>
          <p:nvPr>
            <p:ph type="title"/>
          </p:nvPr>
        </p:nvSpPr>
        <p:spPr>
          <a:xfrm>
            <a:off x="457200" y="274638"/>
            <a:ext cx="8229600" cy="922114"/>
          </a:xfrm>
        </p:spPr>
        <p:txBody>
          <a:bodyPr>
            <a:normAutofit/>
          </a:bodyPr>
          <a:lstStyle/>
          <a:p>
            <a:r>
              <a:rPr lang="en-US" sz="3700" dirty="0" smtClean="0">
                <a:solidFill>
                  <a:srgbClr val="FF0000"/>
                </a:solidFill>
                <a:effectLst/>
                <a:latin typeface="Calibri" pitchFamily="34" charset="0"/>
                <a:cs typeface="Calibri" pitchFamily="34" charset="0"/>
              </a:rPr>
              <a:t>*</a:t>
            </a:r>
            <a:r>
              <a:rPr lang="en-US" sz="3700" dirty="0" err="1" smtClean="0">
                <a:solidFill>
                  <a:srgbClr val="FF0000"/>
                </a:solidFill>
                <a:effectLst/>
                <a:latin typeface="Calibri" pitchFamily="34" charset="0"/>
                <a:cs typeface="Calibri" pitchFamily="34" charset="0"/>
              </a:rPr>
              <a:t>Mức</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chênh</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lệch</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về</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độ</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dốc</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cho</a:t>
            </a:r>
            <a:r>
              <a:rPr lang="en-US" sz="3700" dirty="0" smtClean="0">
                <a:solidFill>
                  <a:srgbClr val="FF0000"/>
                </a:solidFill>
                <a:effectLst/>
                <a:latin typeface="Calibri" pitchFamily="34" charset="0"/>
                <a:cs typeface="Calibri" pitchFamily="34" charset="0"/>
              </a:rPr>
              <a:t> </a:t>
            </a:r>
            <a:r>
              <a:rPr lang="en-US" sz="3700" dirty="0" err="1" smtClean="0">
                <a:solidFill>
                  <a:srgbClr val="FF0000"/>
                </a:solidFill>
                <a:effectLst/>
                <a:latin typeface="Calibri" pitchFamily="34" charset="0"/>
                <a:cs typeface="Calibri" pitchFamily="34" charset="0"/>
              </a:rPr>
              <a:t>phép</a:t>
            </a:r>
            <a:r>
              <a:rPr lang="en-US" sz="3700" dirty="0" smtClean="0">
                <a:solidFill>
                  <a:srgbClr val="FF0000"/>
                </a:solidFill>
                <a:effectLst/>
                <a:latin typeface="Calibri" pitchFamily="34" charset="0"/>
                <a:cs typeface="Calibri" pitchFamily="34" charset="0"/>
              </a:rPr>
              <a:t>:</a:t>
            </a:r>
            <a:endParaRPr lang="en-US" sz="3700" dirty="0">
              <a:solidFill>
                <a:srgbClr val="FF0000"/>
              </a:solidFill>
              <a:effectLst/>
              <a:latin typeface="Calibri" pitchFamily="34" charset="0"/>
              <a:cs typeface="Calibri"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658" y="3238028"/>
            <a:ext cx="478155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image6.jpeg"/>
          <p:cNvPicPr/>
          <p:nvPr/>
        </p:nvPicPr>
        <p:blipFill>
          <a:blip r:embed="rId3" cstate="print"/>
          <a:stretch>
            <a:fillRect/>
          </a:stretch>
        </p:blipFill>
        <p:spPr>
          <a:xfrm>
            <a:off x="5279554" y="3755379"/>
            <a:ext cx="3744416" cy="2380873"/>
          </a:xfrm>
          <a:prstGeom prst="rect">
            <a:avLst/>
          </a:prstGeom>
        </p:spPr>
      </p:pic>
      <p:sp>
        <p:nvSpPr>
          <p:cNvPr id="4" name="TextBox 3"/>
          <p:cNvSpPr txBox="1"/>
          <p:nvPr/>
        </p:nvSpPr>
        <p:spPr>
          <a:xfrm>
            <a:off x="467544" y="4339869"/>
            <a:ext cx="4824536" cy="677108"/>
          </a:xfrm>
          <a:prstGeom prst="rect">
            <a:avLst/>
          </a:prstGeom>
          <a:noFill/>
        </p:spPr>
        <p:txBody>
          <a:bodyPr wrap="square" rtlCol="0">
            <a:spAutoFit/>
          </a:bodyPr>
          <a:lstStyle/>
          <a:p>
            <a:pPr marL="365760" indent="-256032" algn="just">
              <a:spcBef>
                <a:spcPts val="400"/>
              </a:spcBef>
              <a:buClr>
                <a:schemeClr val="accent1"/>
              </a:buClr>
              <a:buSzPct val="68000"/>
              <a:buFont typeface="Wingdings 3"/>
              <a:buChar char=""/>
            </a:pPr>
            <a:r>
              <a:rPr lang="en-US" sz="1900" dirty="0">
                <a:latin typeface="Calibri" pitchFamily="34" charset="0"/>
                <a:cs typeface="Calibri" pitchFamily="34" charset="0"/>
              </a:rPr>
              <a:t>Ta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tra</a:t>
            </a:r>
            <a:r>
              <a:rPr lang="en-US" sz="1900" dirty="0">
                <a:latin typeface="Calibri" pitchFamily="34" charset="0"/>
                <a:cs typeface="Calibri" pitchFamily="34" charset="0"/>
              </a:rPr>
              <a:t> </a:t>
            </a:r>
            <a:r>
              <a:rPr lang="en-US" sz="1900" dirty="0" err="1">
                <a:latin typeface="Calibri" pitchFamily="34" charset="0"/>
                <a:cs typeface="Calibri" pitchFamily="34" charset="0"/>
              </a:rPr>
              <a:t>số</a:t>
            </a:r>
            <a:r>
              <a:rPr lang="en-US" sz="1900" dirty="0">
                <a:latin typeface="Calibri" pitchFamily="34" charset="0"/>
                <a:cs typeface="Calibri" pitchFamily="34" charset="0"/>
              </a:rPr>
              <a:t> </a:t>
            </a:r>
            <a:r>
              <a:rPr lang="en-US" sz="1900" dirty="0" err="1">
                <a:latin typeface="Calibri" pitchFamily="34" charset="0"/>
                <a:cs typeface="Calibri" pitchFamily="34" charset="0"/>
              </a:rPr>
              <a:t>liệu</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thực</a:t>
            </a:r>
            <a:r>
              <a:rPr lang="en-US" sz="1900" dirty="0">
                <a:latin typeface="Calibri" pitchFamily="34" charset="0"/>
                <a:cs typeface="Calibri" pitchFamily="34" charset="0"/>
              </a:rPr>
              <a:t> </a:t>
            </a:r>
            <a:r>
              <a:rPr lang="en-US" sz="1900" dirty="0" err="1">
                <a:latin typeface="Calibri" pitchFamily="34" charset="0"/>
                <a:cs typeface="Calibri" pitchFamily="34" charset="0"/>
              </a:rPr>
              <a:t>hiện</a:t>
            </a:r>
            <a:r>
              <a:rPr lang="en-US" sz="1900" dirty="0">
                <a:latin typeface="Calibri" pitchFamily="34" charset="0"/>
                <a:cs typeface="Calibri" pitchFamily="34" charset="0"/>
              </a:rPr>
              <a:t> </a:t>
            </a:r>
            <a:r>
              <a:rPr lang="en-US" sz="1900" dirty="0" err="1">
                <a:latin typeface="Calibri" pitchFamily="34" charset="0"/>
                <a:cs typeface="Calibri" pitchFamily="34" charset="0"/>
              </a:rPr>
              <a:t>ve</a:t>
            </a:r>
            <a:r>
              <a:rPr lang="en-US" sz="1900" dirty="0">
                <a:latin typeface="Calibri" pitchFamily="34" charset="0"/>
                <a:cs typeface="Calibri" pitchFamily="34" charset="0"/>
              </a:rPr>
              <a:t>̃ </a:t>
            </a:r>
            <a:r>
              <a:rPr lang="en-US" sz="1900" dirty="0" err="1">
                <a:latin typeface="Calibri" pitchFamily="34" charset="0"/>
                <a:cs typeface="Calibri" pitchFamily="34" charset="0"/>
              </a:rPr>
              <a:t>đô</a:t>
            </a:r>
            <a:r>
              <a:rPr lang="en-US" sz="1900" dirty="0">
                <a:latin typeface="Calibri" pitchFamily="34" charset="0"/>
                <a:cs typeface="Calibri" pitchFamily="34" charset="0"/>
              </a:rPr>
              <a:t>̀ </a:t>
            </a:r>
            <a:r>
              <a:rPr lang="en-US" sz="1900" dirty="0" err="1">
                <a:latin typeface="Calibri" pitchFamily="34" charset="0"/>
                <a:cs typeface="Calibri" pitchFamily="34" charset="0"/>
              </a:rPr>
              <a:t>thị</a:t>
            </a:r>
            <a:r>
              <a:rPr lang="en-US" sz="1900" dirty="0">
                <a:latin typeface="Calibri" pitchFamily="34" charset="0"/>
                <a:cs typeface="Calibri" pitchFamily="34" charset="0"/>
              </a:rPr>
              <a:t> </a:t>
            </a:r>
            <a:r>
              <a:rPr lang="en-US" sz="1900" dirty="0" err="1">
                <a:latin typeface="Calibri" pitchFamily="34" charset="0"/>
                <a:cs typeface="Calibri" pitchFamily="34" charset="0"/>
              </a:rPr>
              <a:t>thì</a:t>
            </a:r>
            <a:r>
              <a:rPr lang="en-US" sz="1900" dirty="0">
                <a:latin typeface="Calibri" pitchFamily="34" charset="0"/>
                <a:cs typeface="Calibri" pitchFamily="34" charset="0"/>
              </a:rPr>
              <a:t> </a:t>
            </a:r>
            <a:r>
              <a:rPr lang="en-US" sz="1900" dirty="0" err="1">
                <a:latin typeface="Calibri" pitchFamily="34" charset="0"/>
                <a:cs typeface="Calibri" pitchFamily="34" charset="0"/>
              </a:rPr>
              <a:t>thấy</a:t>
            </a:r>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p:txBody>
      </p:sp>
    </p:spTree>
    <p:extLst>
      <p:ext uri="{BB962C8B-B14F-4D97-AF65-F5344CB8AC3E}">
        <p14:creationId xmlns:p14="http://schemas.microsoft.com/office/powerpoint/2010/main" val="3767344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772816"/>
            <a:ext cx="8229600" cy="4525963"/>
          </a:xfrm>
        </p:spPr>
        <p:txBody>
          <a:bodyPr>
            <a:normAutofit/>
          </a:bodyPr>
          <a:lstStyle/>
          <a:p>
            <a:pPr algn="just"/>
            <a:r>
              <a:rPr lang="en-US" sz="2000" dirty="0" err="1" smtClean="0">
                <a:latin typeface="Calibri" pitchFamily="34" charset="0"/>
                <a:cs typeface="Calibri" pitchFamily="34" charset="0"/>
              </a:rPr>
              <a:t>Dựa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vào</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hình</a:t>
            </a:r>
            <a:r>
              <a:rPr lang="en-US" sz="2000" dirty="0" smtClean="0">
                <a:latin typeface="Calibri" pitchFamily="34" charset="0"/>
                <a:cs typeface="Calibri" pitchFamily="34" charset="0"/>
              </a:rPr>
              <a:t> (a) , ta </a:t>
            </a:r>
            <a:r>
              <a:rPr lang="en-US" sz="2000" dirty="0" err="1" smtClean="0">
                <a:latin typeface="Calibri" pitchFamily="34" charset="0"/>
                <a:cs typeface="Calibri" pitchFamily="34" charset="0"/>
              </a:rPr>
              <a:t>thấy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được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trường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hợp</a:t>
            </a:r>
            <a:r>
              <a:rPr lang="en-US" sz="2000" dirty="0" smtClean="0">
                <a:latin typeface="Calibri" pitchFamily="34" charset="0"/>
                <a:cs typeface="Calibri" pitchFamily="34" charset="0"/>
              </a:rPr>
              <a:t> mà </a:t>
            </a:r>
            <a:r>
              <a:rPr lang="en-US" sz="2000" dirty="0" err="1" smtClean="0">
                <a:latin typeface="Calibri" pitchFamily="34" charset="0"/>
                <a:cs typeface="Calibri" pitchFamily="34" charset="0"/>
              </a:rPr>
              <a:t>hê</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số</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chặn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của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thấp</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đô</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dốc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cũng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thấp</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Nên</a:t>
            </a:r>
            <a:r>
              <a:rPr lang="en-US" sz="2000" dirty="0" smtClean="0">
                <a:latin typeface="Calibri" pitchFamily="34" charset="0"/>
                <a:cs typeface="Calibri" pitchFamily="34" charset="0"/>
              </a:rPr>
              <a:t> ta </a:t>
            </a:r>
            <a:r>
              <a:rPr lang="en-US" sz="2000" dirty="0" err="1" smtClean="0">
                <a:latin typeface="Calibri" pitchFamily="34" charset="0"/>
                <a:cs typeface="Calibri" pitchFamily="34" charset="0"/>
              </a:rPr>
              <a:t>thấy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mức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đô</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của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thấp</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một</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khoảng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kha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chênh</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lệch</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với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giơ</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dạy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khoảng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cách</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tăng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khi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biến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educ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giơ</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dạy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tăng</a:t>
            </a:r>
            <a:r>
              <a:rPr lang="en-US" sz="2000" dirty="0" smtClean="0">
                <a:latin typeface="Calibri" pitchFamily="34" charset="0"/>
                <a:cs typeface="Calibri" pitchFamily="34" charset="0"/>
              </a:rPr>
              <a:t>.</a:t>
            </a:r>
          </a:p>
          <a:p>
            <a:pPr marL="109728" indent="0" algn="just">
              <a:buNone/>
            </a:pPr>
            <a:endParaRPr lang="en-US" sz="2000" dirty="0" smtClean="0">
              <a:latin typeface="Calibri" pitchFamily="34" charset="0"/>
              <a:cs typeface="Calibri" pitchFamily="34" charset="0"/>
            </a:endParaRPr>
          </a:p>
          <a:p>
            <a:pPr algn="just"/>
            <a:r>
              <a:rPr lang="en-US" sz="2000" dirty="0" err="1" smtClean="0">
                <a:latin typeface="Calibri" pitchFamily="34" charset="0"/>
                <a:cs typeface="Calibri" pitchFamily="34" charset="0"/>
              </a:rPr>
              <a:t>Hình</a:t>
            </a:r>
            <a:r>
              <a:rPr lang="en-US" sz="2000" dirty="0" smtClean="0">
                <a:latin typeface="Calibri" pitchFamily="34" charset="0"/>
                <a:cs typeface="Calibri" pitchFamily="34" charset="0"/>
              </a:rPr>
              <a:t> (b), ta </a:t>
            </a:r>
            <a:r>
              <a:rPr lang="en-US" sz="2000" dirty="0" err="1" smtClean="0">
                <a:latin typeface="Calibri" pitchFamily="34" charset="0"/>
                <a:cs typeface="Calibri" pitchFamily="34" charset="0"/>
              </a:rPr>
              <a:t>lại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thấy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tuy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hê</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số</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chặn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thấp</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Nam </a:t>
            </a:r>
            <a:r>
              <a:rPr lang="en-US" sz="2000" dirty="0" err="1" smtClean="0">
                <a:latin typeface="Calibri" pitchFamily="34" charset="0"/>
                <a:cs typeface="Calibri" pitchFamily="34" charset="0"/>
              </a:rPr>
              <a:t>tại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educ</a:t>
            </a:r>
            <a:r>
              <a:rPr lang="en-US" sz="2000" dirty="0" smtClean="0">
                <a:latin typeface="Calibri" pitchFamily="34" charset="0"/>
                <a:cs typeface="Calibri" pitchFamily="34" charset="0"/>
              </a:rPr>
              <a:t> = 0 </a:t>
            </a:r>
            <a:r>
              <a:rPr lang="en-US" sz="2000" dirty="0" err="1" smtClean="0">
                <a:latin typeface="Calibri" pitchFamily="34" charset="0"/>
                <a:cs typeface="Calibri" pitchFamily="34" charset="0"/>
              </a:rPr>
              <a:t>nhưng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đô</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dốc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của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lại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cao</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Ta </a:t>
            </a:r>
            <a:r>
              <a:rPr lang="en-US" sz="2000" dirty="0" err="1" smtClean="0">
                <a:latin typeface="Calibri" pitchFamily="34" charset="0"/>
                <a:cs typeface="Calibri" pitchFamily="34" charset="0"/>
              </a:rPr>
              <a:t>thấy</a:t>
            </a:r>
            <a:r>
              <a:rPr lang="en-US" sz="2000" dirty="0" smtClean="0">
                <a:latin typeface="Calibri" pitchFamily="34" charset="0"/>
                <a:cs typeface="Calibri" pitchFamily="34" charset="0"/>
              </a:rPr>
              <a:t> 2 </a:t>
            </a:r>
            <a:r>
              <a:rPr lang="en-US" sz="2000" dirty="0" err="1" smtClean="0">
                <a:latin typeface="Calibri" pitchFamily="34" charset="0"/>
                <a:cs typeface="Calibri" pitchFamily="34" charset="0"/>
              </a:rPr>
              <a:t>đường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giao</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nhau</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điều</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này</a:t>
            </a:r>
            <a:r>
              <a:rPr lang="en-US" sz="2000" dirty="0" smtClean="0">
                <a:latin typeface="Calibri" pitchFamily="34" charset="0"/>
                <a:cs typeface="Calibri" pitchFamily="34" charset="0"/>
              </a:rPr>
              <a:t> có </a:t>
            </a:r>
            <a:r>
              <a:rPr lang="en-US" sz="2000" dirty="0" err="1" smtClean="0">
                <a:latin typeface="Calibri" pitchFamily="34" charset="0"/>
                <a:cs typeface="Calibri" pitchFamily="34" charset="0"/>
              </a:rPr>
              <a:t>nghĩa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viên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sẽ </a:t>
            </a:r>
            <a:r>
              <a:rPr lang="en-US" sz="2000" dirty="0" err="1" smtClean="0">
                <a:latin typeface="Calibri" pitchFamily="34" charset="0"/>
                <a:cs typeface="Calibri" pitchFamily="34" charset="0"/>
              </a:rPr>
              <a:t>kiếm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tiền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ít</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tại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giơ</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dạy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thấp</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nhưng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khi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giơ</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dạy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tăng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thi</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nư</a:t>
            </a:r>
            <a:r>
              <a:rPr lang="en-US" sz="2000" dirty="0" smtClean="0">
                <a:latin typeface="Calibri" pitchFamily="34" charset="0"/>
                <a:cs typeface="Calibri" pitchFamily="34" charset="0"/>
              </a:rPr>
              <a:t>̃ sẽ </a:t>
            </a:r>
            <a:r>
              <a:rPr lang="en-US" sz="2000" dirty="0" err="1" smtClean="0">
                <a:latin typeface="Calibri" pitchFamily="34" charset="0"/>
                <a:cs typeface="Calibri" pitchFamily="34" charset="0"/>
              </a:rPr>
              <a:t>lớn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hơn</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trong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cùng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giơ</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giảng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dạy</a:t>
            </a:r>
            <a:r>
              <a:rPr lang="en-US" sz="2000" dirty="0">
                <a:latin typeface="Calibri" pitchFamily="34" charset="0"/>
                <a:cs typeface="Calibri" pitchFamily="34" charset="0"/>
              </a:rPr>
              <a:t> </a:t>
            </a:r>
            <a:r>
              <a:rPr lang="en-US" sz="2000" dirty="0" smtClean="0">
                <a:latin typeface="Calibri" pitchFamily="34" charset="0"/>
                <a:cs typeface="Calibri" pitchFamily="34" charset="0"/>
              </a:rPr>
              <a:t>(</a:t>
            </a:r>
            <a:r>
              <a:rPr lang="en-US" sz="2000" dirty="0" err="1" smtClean="0">
                <a:latin typeface="Calibri" pitchFamily="34" charset="0"/>
                <a:cs typeface="Calibri" pitchFamily="34" charset="0"/>
              </a:rPr>
              <a:t>Va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điểm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này</a:t>
            </a:r>
            <a:r>
              <a:rPr lang="en-US" sz="2000" dirty="0" smtClean="0">
                <a:latin typeface="Calibri" pitchFamily="34" charset="0"/>
                <a:cs typeface="Calibri" pitchFamily="34" charset="0"/>
              </a:rPr>
              <a:t> ta sẽ </a:t>
            </a:r>
            <a:r>
              <a:rPr lang="en-US" sz="2000" dirty="0" err="1" smtClean="0">
                <a:latin typeface="Calibri" pitchFamily="34" charset="0"/>
                <a:cs typeface="Calibri" pitchFamily="34" charset="0"/>
              </a:rPr>
              <a:t>thấy</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ro</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va</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dễ</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dàng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tìm</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được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các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phương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trình</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ước</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lượng</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phu</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hợp</a:t>
            </a:r>
            <a:r>
              <a:rPr lang="en-US" sz="2000" dirty="0" smtClean="0">
                <a:latin typeface="Calibri" pitchFamily="34" charset="0"/>
                <a:cs typeface="Calibri" pitchFamily="34" charset="0"/>
              </a:rPr>
              <a:t>).</a:t>
            </a:r>
          </a:p>
          <a:p>
            <a:pPr algn="just"/>
            <a:endParaRPr lang="en-US" sz="1900" dirty="0"/>
          </a:p>
        </p:txBody>
      </p:sp>
      <p:sp>
        <p:nvSpPr>
          <p:cNvPr id="3" name="Title 2"/>
          <p:cNvSpPr>
            <a:spLocks noGrp="1"/>
          </p:cNvSpPr>
          <p:nvPr>
            <p:ph type="title"/>
          </p:nvPr>
        </p:nvSpPr>
        <p:spPr>
          <a:xfrm>
            <a:off x="482252" y="500106"/>
            <a:ext cx="8229600" cy="922114"/>
          </a:xfrm>
        </p:spPr>
        <p:txBody>
          <a:bodyPr>
            <a:normAutofit/>
          </a:bodyPr>
          <a:lstStyle/>
          <a:p>
            <a:r>
              <a:rPr lang="en-US" sz="3700" dirty="0">
                <a:solidFill>
                  <a:srgbClr val="FF0000"/>
                </a:solidFill>
                <a:effectLst/>
                <a:latin typeface="Calibri" pitchFamily="34" charset="0"/>
                <a:cs typeface="Calibri" pitchFamily="34" charset="0"/>
              </a:rPr>
              <a:t>*</a:t>
            </a:r>
            <a:r>
              <a:rPr lang="en-US" sz="3700" dirty="0" err="1">
                <a:solidFill>
                  <a:srgbClr val="FF0000"/>
                </a:solidFill>
                <a:effectLst/>
                <a:latin typeface="Calibri" pitchFamily="34" charset="0"/>
                <a:cs typeface="Calibri" pitchFamily="34" charset="0"/>
              </a:rPr>
              <a:t>Mức</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chênh</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lệch</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về</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độ</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dốc</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cho</a:t>
            </a:r>
            <a:r>
              <a:rPr lang="en-US" sz="3700" dirty="0">
                <a:solidFill>
                  <a:srgbClr val="FF0000"/>
                </a:solidFill>
                <a:effectLst/>
                <a:latin typeface="Calibri" pitchFamily="34" charset="0"/>
                <a:cs typeface="Calibri" pitchFamily="34" charset="0"/>
              </a:rPr>
              <a:t> </a:t>
            </a:r>
            <a:r>
              <a:rPr lang="en-US" sz="3700" dirty="0" err="1">
                <a:solidFill>
                  <a:srgbClr val="FF0000"/>
                </a:solidFill>
                <a:effectLst/>
                <a:latin typeface="Calibri" pitchFamily="34" charset="0"/>
                <a:cs typeface="Calibri" pitchFamily="34" charset="0"/>
              </a:rPr>
              <a:t>phép</a:t>
            </a:r>
            <a:r>
              <a:rPr lang="en-US" sz="3700" dirty="0">
                <a:solidFill>
                  <a:srgbClr val="FF0000"/>
                </a:solidFill>
                <a:effectLst/>
                <a:latin typeface="Calibri" pitchFamily="34" charset="0"/>
                <a:cs typeface="Calibri" pitchFamily="34" charset="0"/>
              </a:rPr>
              <a:t>:</a:t>
            </a:r>
            <a:endParaRPr lang="en-US" sz="3700" dirty="0">
              <a:solidFill>
                <a:srgbClr val="FF0000"/>
              </a:solidFill>
            </a:endParaRPr>
          </a:p>
        </p:txBody>
      </p:sp>
    </p:spTree>
    <p:extLst>
      <p:ext uri="{BB962C8B-B14F-4D97-AF65-F5344CB8AC3E}">
        <p14:creationId xmlns:p14="http://schemas.microsoft.com/office/powerpoint/2010/main" val="1375495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700808"/>
            <a:ext cx="5050904" cy="4525963"/>
          </a:xfrm>
        </p:spPr>
        <p:txBody>
          <a:bodyPr>
            <a:normAutofit lnSpcReduction="10000"/>
          </a:bodyPr>
          <a:lstStyle/>
          <a:p>
            <a:pPr algn="just"/>
            <a:r>
              <a:rPr lang="en-US" sz="1900" dirty="0" err="1">
                <a:latin typeface="Calibri" pitchFamily="34" charset="0"/>
                <a:cs typeface="Calibri" pitchFamily="34" charset="0"/>
              </a:rPr>
              <a:t>Các</a:t>
            </a:r>
            <a:r>
              <a:rPr lang="en-US" sz="1900" dirty="0">
                <a:latin typeface="Calibri" pitchFamily="34" charset="0"/>
                <a:cs typeface="Calibri" pitchFamily="34" charset="0"/>
              </a:rPr>
              <a:t> ví dụ </a:t>
            </a:r>
            <a:r>
              <a:rPr lang="en-US" sz="1900" dirty="0" err="1">
                <a:latin typeface="Calibri" pitchFamily="34" charset="0"/>
                <a:cs typeface="Calibri" pitchFamily="34" charset="0"/>
              </a:rPr>
              <a:t>trước</a:t>
            </a:r>
            <a:r>
              <a:rPr lang="en-US" sz="1900" dirty="0">
                <a:latin typeface="Calibri" pitchFamily="34" charset="0"/>
                <a:cs typeface="Calibri" pitchFamily="34" charset="0"/>
              </a:rPr>
              <a:t> </a:t>
            </a:r>
            <a:r>
              <a:rPr lang="en-US" sz="1900" dirty="0" err="1">
                <a:latin typeface="Calibri" pitchFamily="34" charset="0"/>
                <a:cs typeface="Calibri" pitchFamily="34" charset="0"/>
              </a:rPr>
              <a:t>đo</a:t>
            </a:r>
            <a:r>
              <a:rPr lang="en-US" sz="1900" dirty="0">
                <a:latin typeface="Calibri" pitchFamily="34" charset="0"/>
                <a:cs typeface="Calibri" pitchFamily="34" charset="0"/>
              </a:rPr>
              <a:t>́ minh </a:t>
            </a:r>
            <a:r>
              <a:rPr lang="en-US" sz="1900" dirty="0" err="1">
                <a:latin typeface="Calibri" pitchFamily="34" charset="0"/>
                <a:cs typeface="Calibri" pitchFamily="34" charset="0"/>
              </a:rPr>
              <a:t>họa</a:t>
            </a:r>
            <a:r>
              <a:rPr lang="en-US" sz="1900" dirty="0">
                <a:latin typeface="Calibri" pitchFamily="34" charset="0"/>
                <a:cs typeface="Calibri" pitchFamily="34" charset="0"/>
              </a:rPr>
              <a:t>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tương</a:t>
            </a:r>
            <a:r>
              <a:rPr lang="en-US" sz="1900" dirty="0">
                <a:latin typeface="Calibri" pitchFamily="34" charset="0"/>
                <a:cs typeface="Calibri" pitchFamily="34" charset="0"/>
              </a:rPr>
              <a:t> </a:t>
            </a:r>
            <a:r>
              <a:rPr lang="en-US" sz="1900" dirty="0" err="1">
                <a:latin typeface="Calibri" pitchFamily="34" charset="0"/>
                <a:cs typeface="Calibri" pitchFamily="34" charset="0"/>
              </a:rPr>
              <a:t>tác</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dummy </a:t>
            </a:r>
            <a:r>
              <a:rPr lang="en-US" sz="1900" dirty="0" err="1">
                <a:latin typeface="Calibri" pitchFamily="34" charset="0"/>
                <a:cs typeface="Calibri" pitchFamily="34" charset="0"/>
              </a:rPr>
              <a:t>với</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độc</a:t>
            </a:r>
            <a:r>
              <a:rPr lang="en-US" sz="1900" dirty="0">
                <a:latin typeface="Calibri" pitchFamily="34" charset="0"/>
                <a:cs typeface="Calibri" pitchFamily="34" charset="0"/>
              </a:rPr>
              <a:t> </a:t>
            </a:r>
            <a:r>
              <a:rPr lang="en-US" sz="1900" dirty="0" err="1">
                <a:latin typeface="Calibri" pitchFamily="34" charset="0"/>
                <a:cs typeface="Calibri" pitchFamily="34" charset="0"/>
              </a:rPr>
              <a:t>lập</a:t>
            </a:r>
            <a:r>
              <a:rPr lang="en-US" sz="1900" dirty="0">
                <a:latin typeface="Calibri" pitchFamily="34" charset="0"/>
                <a:cs typeface="Calibri" pitchFamily="34" charset="0"/>
              </a:rPr>
              <a:t> </a:t>
            </a:r>
            <a:r>
              <a:rPr lang="en-US" sz="1900" dirty="0" err="1">
                <a:latin typeface="Calibri" pitchFamily="34" charset="0"/>
                <a:cs typeface="Calibri" pitchFamily="34" charset="0"/>
              </a:rPr>
              <a:t>khác</a:t>
            </a:r>
            <a:r>
              <a:rPr lang="en-US" sz="1900" dirty="0">
                <a:latin typeface="Calibri" pitchFamily="34" charset="0"/>
                <a:cs typeface="Calibri" pitchFamily="34" charset="0"/>
              </a:rPr>
              <a:t> có </a:t>
            </a:r>
            <a:r>
              <a:rPr lang="en-US" sz="1900" dirty="0" err="1" smtClean="0">
                <a:latin typeface="Calibri" pitchFamily="34" charset="0"/>
                <a:cs typeface="Calibri" pitchFamily="34" charset="0"/>
              </a:rPr>
              <a:t>thể</a:t>
            </a:r>
            <a:r>
              <a:rPr lang="en-US" sz="1900" dirty="0" smtClean="0">
                <a:latin typeface="Calibri" pitchFamily="34" charset="0"/>
                <a:cs typeface="Calibri" pitchFamily="34" charset="0"/>
              </a:rPr>
              <a:t> </a:t>
            </a:r>
            <a:r>
              <a:rPr lang="en-US" sz="1900" dirty="0">
                <a:latin typeface="Calibri" pitchFamily="34" charset="0"/>
                <a:cs typeface="Calibri" pitchFamily="34" charset="0"/>
              </a:rPr>
              <a:t>là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công</a:t>
            </a:r>
            <a:r>
              <a:rPr lang="en-US" sz="1900" dirty="0">
                <a:latin typeface="Calibri" pitchFamily="34" charset="0"/>
                <a:cs typeface="Calibri" pitchFamily="34" charset="0"/>
              </a:rPr>
              <a:t> cụ </a:t>
            </a:r>
            <a:r>
              <a:rPr lang="en-US" sz="1900" dirty="0" err="1">
                <a:latin typeface="Calibri" pitchFamily="34" charset="0"/>
                <a:cs typeface="Calibri" pitchFamily="34" charset="0"/>
              </a:rPr>
              <a:t>mạnh</a:t>
            </a:r>
            <a:r>
              <a:rPr lang="en-US" sz="1900" dirty="0">
                <a:latin typeface="Calibri" pitchFamily="34" charset="0"/>
                <a:cs typeface="Calibri" pitchFamily="34" charset="0"/>
              </a:rPr>
              <a:t> mẽ. </a:t>
            </a:r>
            <a:r>
              <a:rPr lang="en-US" sz="1900" dirty="0" err="1">
                <a:latin typeface="Calibri" pitchFamily="34" charset="0"/>
                <a:cs typeface="Calibri" pitchFamily="34" charset="0"/>
              </a:rPr>
              <a:t>Đôi</a:t>
            </a:r>
            <a:r>
              <a:rPr lang="en-US" sz="1900" dirty="0">
                <a:latin typeface="Calibri" pitchFamily="34" charset="0"/>
                <a:cs typeface="Calibri" pitchFamily="34" charset="0"/>
              </a:rPr>
              <a:t> </a:t>
            </a:r>
            <a:r>
              <a:rPr lang="en-US" sz="1900" dirty="0" err="1">
                <a:latin typeface="Calibri" pitchFamily="34" charset="0"/>
                <a:cs typeface="Calibri" pitchFamily="34" charset="0"/>
              </a:rPr>
              <a:t>khi</a:t>
            </a:r>
            <a:r>
              <a:rPr lang="en-US" sz="1900" dirty="0">
                <a:latin typeface="Calibri" pitchFamily="34" charset="0"/>
                <a:cs typeface="Calibri" pitchFamily="34" charset="0"/>
              </a:rPr>
              <a:t>, </a:t>
            </a:r>
            <a:r>
              <a:rPr lang="en-US" sz="1900" dirty="0" err="1">
                <a:latin typeface="Calibri" pitchFamily="34" charset="0"/>
                <a:cs typeface="Calibri" pitchFamily="34" charset="0"/>
              </a:rPr>
              <a:t>chúng</a:t>
            </a:r>
            <a:r>
              <a:rPr lang="en-US" sz="1900" dirty="0">
                <a:latin typeface="Calibri" pitchFamily="34" charset="0"/>
                <a:cs typeface="Calibri" pitchFamily="34" charset="0"/>
              </a:rPr>
              <a:t> ta </a:t>
            </a:r>
            <a:r>
              <a:rPr lang="en-US" sz="1900" dirty="0" err="1">
                <a:latin typeface="Calibri" pitchFamily="34" charset="0"/>
                <a:cs typeface="Calibri" pitchFamily="34" charset="0"/>
              </a:rPr>
              <a:t>muốn</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thuyết</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không</a:t>
            </a:r>
            <a:r>
              <a:rPr lang="en-US" sz="1900" dirty="0">
                <a:latin typeface="Calibri" pitchFamily="34" charset="0"/>
                <a:cs typeface="Calibri" pitchFamily="34" charset="0"/>
              </a:rPr>
              <a:t> </a:t>
            </a:r>
            <a:r>
              <a:rPr lang="en-US" sz="1900" dirty="0" err="1">
                <a:latin typeface="Calibri" pitchFamily="34" charset="0"/>
                <a:cs typeface="Calibri" pitchFamily="34" charset="0"/>
              </a:rPr>
              <a:t>rằng</a:t>
            </a:r>
            <a:r>
              <a:rPr lang="en-US" sz="1900" dirty="0">
                <a:latin typeface="Calibri" pitchFamily="34" charset="0"/>
                <a:cs typeface="Calibri" pitchFamily="34" charset="0"/>
              </a:rPr>
              <a:t> </a:t>
            </a:r>
            <a:r>
              <a:rPr lang="en-US" sz="1900" dirty="0" err="1">
                <a:latin typeface="Calibri" pitchFamily="34" charset="0"/>
                <a:cs typeface="Calibri" pitchFamily="34" charset="0"/>
              </a:rPr>
              <a:t>hai</a:t>
            </a:r>
            <a:r>
              <a:rPr lang="en-US" sz="1900" dirty="0">
                <a:latin typeface="Calibri" pitchFamily="34" charset="0"/>
                <a:cs typeface="Calibri" pitchFamily="34" charset="0"/>
              </a:rPr>
              <a:t> </a:t>
            </a:r>
            <a:r>
              <a:rPr lang="en-US" sz="1900" dirty="0" err="1">
                <a:latin typeface="Calibri" pitchFamily="34" charset="0"/>
                <a:cs typeface="Calibri" pitchFamily="34" charset="0"/>
              </a:rPr>
              <a:t>quần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thể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hoặc</a:t>
            </a:r>
            <a:r>
              <a:rPr lang="en-US" sz="1900" dirty="0">
                <a:latin typeface="Calibri" pitchFamily="34" charset="0"/>
                <a:cs typeface="Calibri" pitchFamily="34" charset="0"/>
              </a:rPr>
              <a:t> </a:t>
            </a:r>
            <a:r>
              <a:rPr lang="en-US" sz="1900" dirty="0" err="1">
                <a:latin typeface="Calibri" pitchFamily="34" charset="0"/>
                <a:cs typeface="Calibri" pitchFamily="34" charset="0"/>
              </a:rPr>
              <a:t>nhóm</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có</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hàm</a:t>
            </a:r>
            <a:r>
              <a:rPr lang="en-US" sz="1900" dirty="0">
                <a:latin typeface="Calibri" pitchFamily="34" charset="0"/>
                <a:cs typeface="Calibri" pitchFamily="34" charset="0"/>
              </a:rPr>
              <a:t> </a:t>
            </a:r>
            <a:r>
              <a:rPr lang="en-US" sz="1900" dirty="0" err="1">
                <a:latin typeface="Calibri" pitchFamily="34" charset="0"/>
                <a:cs typeface="Calibri" pitchFamily="34" charset="0"/>
              </a:rPr>
              <a:t>hồi</a:t>
            </a:r>
            <a:r>
              <a:rPr lang="en-US" sz="1900" dirty="0">
                <a:latin typeface="Calibri" pitchFamily="34" charset="0"/>
                <a:cs typeface="Calibri" pitchFamily="34" charset="0"/>
              </a:rPr>
              <a:t> </a:t>
            </a:r>
            <a:r>
              <a:rPr lang="en-US" sz="1900" dirty="0" smtClean="0">
                <a:latin typeface="Calibri" pitchFamily="34" charset="0"/>
                <a:cs typeface="Calibri" pitchFamily="34" charset="0"/>
              </a:rPr>
              <a:t>qui </a:t>
            </a:r>
            <a:r>
              <a:rPr lang="en-US" sz="1900" dirty="0" err="1">
                <a:latin typeface="Calibri" pitchFamily="34" charset="0"/>
                <a:cs typeface="Calibri" pitchFamily="34" charset="0"/>
              </a:rPr>
              <a:t>như</a:t>
            </a:r>
            <a:r>
              <a:rPr lang="en-US" sz="1900" dirty="0">
                <a:latin typeface="Calibri" pitchFamily="34" charset="0"/>
                <a:cs typeface="Calibri" pitchFamily="34" charset="0"/>
              </a:rPr>
              <a:t> </a:t>
            </a:r>
            <a:r>
              <a:rPr lang="en-US" sz="1900" dirty="0" err="1">
                <a:latin typeface="Calibri" pitchFamily="34" charset="0"/>
                <a:cs typeface="Calibri" pitchFamily="34" charset="0"/>
              </a:rPr>
              <a:t>nhau</a:t>
            </a:r>
            <a:r>
              <a:rPr lang="en-US" sz="1900" dirty="0">
                <a:latin typeface="Calibri" pitchFamily="34" charset="0"/>
                <a:cs typeface="Calibri" pitchFamily="34" charset="0"/>
              </a:rPr>
              <a:t>, </a:t>
            </a:r>
            <a:r>
              <a:rPr lang="en-US" sz="1900" dirty="0" err="1">
                <a:latin typeface="Calibri" pitchFamily="34" charset="0"/>
                <a:cs typeface="Calibri" pitchFamily="34" charset="0"/>
              </a:rPr>
              <a:t>ngược</a:t>
            </a:r>
            <a:r>
              <a:rPr lang="en-US" sz="1900" dirty="0">
                <a:latin typeface="Calibri" pitchFamily="34" charset="0"/>
                <a:cs typeface="Calibri" pitchFamily="34" charset="0"/>
              </a:rPr>
              <a:t> </a:t>
            </a:r>
            <a:r>
              <a:rPr lang="en-US" sz="1900" dirty="0" err="1">
                <a:latin typeface="Calibri" pitchFamily="34" charset="0"/>
                <a:cs typeface="Calibri" pitchFamily="34" charset="0"/>
              </a:rPr>
              <a:t>lại</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có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hoặc</a:t>
            </a:r>
            <a:r>
              <a:rPr lang="en-US" sz="1900" dirty="0">
                <a:latin typeface="Calibri" pitchFamily="34" charset="0"/>
                <a:cs typeface="Calibri" pitchFamily="34" charset="0"/>
              </a:rPr>
              <a:t> </a:t>
            </a:r>
            <a:r>
              <a:rPr lang="en-US" sz="1900" dirty="0" err="1">
                <a:latin typeface="Calibri" pitchFamily="34" charset="0"/>
                <a:cs typeface="Calibri" pitchFamily="34" charset="0"/>
              </a:rPr>
              <a:t>nhiều</a:t>
            </a:r>
            <a:r>
              <a:rPr lang="en-US" sz="1900" dirty="0">
                <a:latin typeface="Calibri" pitchFamily="34" charset="0"/>
                <a:cs typeface="Calibri" pitchFamily="34" charset="0"/>
              </a:rPr>
              <a:t> </a:t>
            </a:r>
            <a:r>
              <a:rPr lang="en-US" sz="1900" dirty="0" err="1">
                <a:latin typeface="Calibri" pitchFamily="34" charset="0"/>
                <a:cs typeface="Calibri" pitchFamily="34" charset="0"/>
              </a:rPr>
              <a:t>các</a:t>
            </a:r>
            <a:r>
              <a:rPr lang="en-US" sz="1900" dirty="0">
                <a:latin typeface="Calibri" pitchFamily="34" charset="0"/>
                <a:cs typeface="Calibri" pitchFamily="34" charset="0"/>
              </a:rPr>
              <a:t> </a:t>
            </a:r>
            <a:r>
              <a:rPr lang="en-US" sz="1900" dirty="0" err="1">
                <a:latin typeface="Calibri" pitchFamily="34" charset="0"/>
                <a:cs typeface="Calibri" pitchFamily="34" charset="0"/>
              </a:rPr>
              <a:t>đô</a:t>
            </a:r>
            <a:r>
              <a:rPr lang="en-US" sz="1900" dirty="0">
                <a:latin typeface="Calibri" pitchFamily="34" charset="0"/>
                <a:cs typeface="Calibri" pitchFamily="34" charset="0"/>
              </a:rPr>
              <a:t>̣ </a:t>
            </a:r>
            <a:r>
              <a:rPr lang="en-US" sz="1900" dirty="0" err="1">
                <a:latin typeface="Calibri" pitchFamily="34" charset="0"/>
                <a:cs typeface="Calibri" pitchFamily="34" charset="0"/>
              </a:rPr>
              <a:t>dốc</a:t>
            </a:r>
            <a:r>
              <a:rPr lang="en-US" sz="1900" dirty="0">
                <a:latin typeface="Calibri" pitchFamily="34" charset="0"/>
                <a:cs typeface="Calibri" pitchFamily="34" charset="0"/>
              </a:rPr>
              <a:t> </a:t>
            </a:r>
            <a:r>
              <a:rPr lang="en-US" sz="1900" dirty="0" err="1">
                <a:latin typeface="Calibri" pitchFamily="34" charset="0"/>
                <a:cs typeface="Calibri" pitchFamily="34" charset="0"/>
              </a:rPr>
              <a:t>khác</a:t>
            </a:r>
            <a:r>
              <a:rPr lang="en-US" sz="1900" dirty="0">
                <a:latin typeface="Calibri" pitchFamily="34" charset="0"/>
                <a:cs typeface="Calibri" pitchFamily="34" charset="0"/>
              </a:rPr>
              <a:t> </a:t>
            </a:r>
            <a:r>
              <a:rPr lang="en-US" sz="1900" dirty="0" err="1">
                <a:latin typeface="Calibri" pitchFamily="34" charset="0"/>
                <a:cs typeface="Calibri" pitchFamily="34" charset="0"/>
              </a:rPr>
              <a:t>nhau</a:t>
            </a:r>
            <a:r>
              <a:rPr lang="en-US" sz="1900" dirty="0">
                <a:latin typeface="Calibri" pitchFamily="34" charset="0"/>
                <a:cs typeface="Calibri" pitchFamily="34" charset="0"/>
              </a:rPr>
              <a:t> qua </a:t>
            </a:r>
            <a:r>
              <a:rPr lang="en-US" sz="1900" dirty="0" err="1">
                <a:latin typeface="Calibri" pitchFamily="34" charset="0"/>
                <a:cs typeface="Calibri" pitchFamily="34" charset="0"/>
              </a:rPr>
              <a:t>các</a:t>
            </a:r>
            <a:r>
              <a:rPr lang="en-US" sz="1900" dirty="0">
                <a:latin typeface="Calibri" pitchFamily="34" charset="0"/>
                <a:cs typeface="Calibri" pitchFamily="34" charset="0"/>
              </a:rPr>
              <a:t> </a:t>
            </a:r>
            <a:r>
              <a:rPr lang="en-US" sz="1900" dirty="0" err="1">
                <a:latin typeface="Calibri" pitchFamily="34" charset="0"/>
                <a:cs typeface="Calibri" pitchFamily="34" charset="0"/>
              </a:rPr>
              <a:t>nhóm</a:t>
            </a:r>
            <a:r>
              <a:rPr lang="en-US" sz="1900" dirty="0">
                <a:latin typeface="Calibri" pitchFamily="34" charset="0"/>
                <a:cs typeface="Calibri" pitchFamily="34" charset="0"/>
              </a:rPr>
              <a:t>. </a:t>
            </a:r>
          </a:p>
          <a:p>
            <a:pPr algn="just"/>
            <a:r>
              <a:rPr lang="en-US" sz="1900" dirty="0" err="1" smtClean="0">
                <a:latin typeface="Calibri" pitchFamily="34" charset="0"/>
                <a:cs typeface="Calibri" pitchFamily="34" charset="0"/>
              </a:rPr>
              <a:t>Chúng</a:t>
            </a:r>
            <a:r>
              <a:rPr lang="en-US" sz="1900" dirty="0" smtClean="0">
                <a:latin typeface="Calibri" pitchFamily="34" charset="0"/>
                <a:cs typeface="Calibri" pitchFamily="34" charset="0"/>
              </a:rPr>
              <a:t> </a:t>
            </a:r>
            <a:r>
              <a:rPr lang="en-US" sz="1900" dirty="0">
                <a:latin typeface="Calibri" pitchFamily="34" charset="0"/>
                <a:cs typeface="Calibri" pitchFamily="34" charset="0"/>
              </a:rPr>
              <a:t>ta sẽ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tra</a:t>
            </a:r>
            <a:r>
              <a:rPr lang="en-US" sz="1900" dirty="0">
                <a:latin typeface="Calibri" pitchFamily="34" charset="0"/>
                <a:cs typeface="Calibri" pitchFamily="34" charset="0"/>
              </a:rPr>
              <a:t> </a:t>
            </a:r>
            <a:r>
              <a:rPr lang="en-US" sz="1900" dirty="0" err="1">
                <a:latin typeface="Calibri" pitchFamily="34" charset="0"/>
                <a:cs typeface="Calibri" pitchFamily="34" charset="0"/>
              </a:rPr>
              <a:t>xem</a:t>
            </a:r>
            <a:r>
              <a:rPr lang="en-US" sz="1900" dirty="0">
                <a:latin typeface="Calibri" pitchFamily="34" charset="0"/>
                <a:cs typeface="Calibri" pitchFamily="34" charset="0"/>
              </a:rPr>
              <a:t> </a:t>
            </a:r>
            <a:r>
              <a:rPr lang="en-US" sz="1900" dirty="0" err="1">
                <a:latin typeface="Calibri" pitchFamily="34" charset="0"/>
                <a:cs typeface="Calibri" pitchFamily="34" charset="0"/>
              </a:rPr>
              <a:t>các</a:t>
            </a:r>
            <a:r>
              <a:rPr lang="en-US" sz="1900" dirty="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tả </a:t>
            </a:r>
            <a:r>
              <a:rPr lang="en-US" sz="1900" dirty="0" err="1">
                <a:latin typeface="Calibri" pitchFamily="34" charset="0"/>
                <a:cs typeface="Calibri" pitchFamily="34" charset="0"/>
              </a:rPr>
              <a:t>tiết</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tiêu</a:t>
            </a:r>
            <a:r>
              <a:rPr lang="en-US" sz="1900" dirty="0">
                <a:latin typeface="Calibri" pitchFamily="34" charset="0"/>
                <a:cs typeface="Calibri" pitchFamily="34" charset="0"/>
              </a:rPr>
              <a:t> </a:t>
            </a:r>
            <a:r>
              <a:rPr lang="en-US" sz="1900" dirty="0" err="1">
                <a:latin typeface="Calibri" pitchFamily="34" charset="0"/>
                <a:cs typeface="Calibri" pitchFamily="34" charset="0"/>
              </a:rPr>
              <a:t>dùng</a:t>
            </a:r>
            <a:r>
              <a:rPr lang="en-US" sz="1900" dirty="0">
                <a:latin typeface="Calibri" pitchFamily="34" charset="0"/>
                <a:cs typeface="Calibri" pitchFamily="34" charset="0"/>
              </a:rPr>
              <a:t> </a:t>
            </a:r>
            <a:r>
              <a:rPr lang="en-US" sz="1900" dirty="0" err="1">
                <a:latin typeface="Calibri" pitchFamily="34" charset="0"/>
                <a:cs typeface="Calibri" pitchFamily="34" charset="0"/>
              </a:rPr>
              <a:t>của</a:t>
            </a:r>
            <a:r>
              <a:rPr lang="en-US" sz="1900" dirty="0">
                <a:latin typeface="Calibri" pitchFamily="34" charset="0"/>
                <a:cs typeface="Calibri" pitchFamily="34" charset="0"/>
              </a:rPr>
              <a:t> 1 </a:t>
            </a:r>
            <a:r>
              <a:rPr lang="en-US" sz="1900" dirty="0" err="1">
                <a:latin typeface="Calibri" pitchFamily="34" charset="0"/>
                <a:cs typeface="Calibri" pitchFamily="34" charset="0"/>
              </a:rPr>
              <a:t>quốc</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gia</a:t>
            </a:r>
            <a:r>
              <a:rPr lang="en-US" sz="1900" dirty="0">
                <a:latin typeface="Calibri" pitchFamily="34" charset="0"/>
                <a:cs typeface="Calibri" pitchFamily="34" charset="0"/>
              </a:rPr>
              <a:t>.</a:t>
            </a:r>
          </a:p>
          <a:p>
            <a:pPr algn="just"/>
            <a:r>
              <a:rPr lang="en-US" sz="1900" dirty="0">
                <a:latin typeface="Calibri" pitchFamily="34" charset="0"/>
                <a:cs typeface="Calibri" pitchFamily="34" charset="0"/>
              </a:rPr>
              <a:t>Giả </a:t>
            </a:r>
            <a:r>
              <a:rPr lang="en-US" sz="1900" dirty="0" err="1">
                <a:latin typeface="Calibri" pitchFamily="34" charset="0"/>
                <a:cs typeface="Calibri" pitchFamily="34" charset="0"/>
              </a:rPr>
              <a:t>thiết</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rằng</a:t>
            </a:r>
            <a:r>
              <a:rPr lang="en-US" sz="1900" dirty="0">
                <a:latin typeface="Calibri" pitchFamily="34" charset="0"/>
                <a:cs typeface="Calibri" pitchFamily="34" charset="0"/>
              </a:rPr>
              <a:t> </a:t>
            </a:r>
            <a:r>
              <a:rPr lang="en-US" sz="1900" dirty="0" err="1">
                <a:latin typeface="Calibri" pitchFamily="34" charset="0"/>
                <a:cs typeface="Calibri" pitchFamily="34" charset="0"/>
              </a:rPr>
              <a:t>thời</a:t>
            </a:r>
            <a:r>
              <a:rPr lang="en-US" sz="1900" dirty="0">
                <a:latin typeface="Calibri" pitchFamily="34" charset="0"/>
                <a:cs typeface="Calibri" pitchFamily="34" charset="0"/>
              </a:rPr>
              <a:t> </a:t>
            </a:r>
            <a:r>
              <a:rPr lang="en-US" sz="1900" dirty="0" err="1">
                <a:latin typeface="Calibri" pitchFamily="34" charset="0"/>
                <a:cs typeface="Calibri" pitchFamily="34" charset="0"/>
              </a:rPr>
              <a:t>ky</a:t>
            </a:r>
            <a:r>
              <a:rPr lang="en-US" sz="1900" dirty="0">
                <a:latin typeface="Calibri" pitchFamily="34" charset="0"/>
                <a:cs typeface="Calibri" pitchFamily="34" charset="0"/>
              </a:rPr>
              <a:t>̀ 1970 -1981 </a:t>
            </a:r>
            <a:r>
              <a:rPr lang="en-US" sz="1900" dirty="0" err="1">
                <a:latin typeface="Calibri" pitchFamily="34" charset="0"/>
                <a:cs typeface="Calibri" pitchFamily="34" charset="0"/>
              </a:rPr>
              <a:t>chính</a:t>
            </a:r>
            <a:r>
              <a:rPr lang="en-US" sz="1900" dirty="0">
                <a:latin typeface="Calibri" pitchFamily="34" charset="0"/>
                <a:cs typeface="Calibri" pitchFamily="34" charset="0"/>
              </a:rPr>
              <a:t> </a:t>
            </a:r>
            <a:r>
              <a:rPr lang="en-US" sz="1900" dirty="0" err="1">
                <a:latin typeface="Calibri" pitchFamily="34" charset="0"/>
                <a:cs typeface="Calibri" pitchFamily="34" charset="0"/>
              </a:rPr>
              <a:t>sách</a:t>
            </a:r>
            <a:r>
              <a:rPr lang="en-US" sz="1900" dirty="0">
                <a:latin typeface="Calibri" pitchFamily="34" charset="0"/>
                <a:cs typeface="Calibri" pitchFamily="34" charset="0"/>
              </a:rPr>
              <a:t> </a:t>
            </a:r>
            <a:r>
              <a:rPr lang="en-US" sz="1900" dirty="0" err="1">
                <a:latin typeface="Calibri" pitchFamily="34" charset="0"/>
                <a:cs typeface="Calibri" pitchFamily="34" charset="0"/>
              </a:rPr>
              <a:t>tiền</a:t>
            </a:r>
            <a:r>
              <a:rPr lang="en-US" sz="1900" dirty="0">
                <a:latin typeface="Calibri" pitchFamily="34" charset="0"/>
                <a:cs typeface="Calibri" pitchFamily="34" charset="0"/>
              </a:rPr>
              <a:t> </a:t>
            </a:r>
            <a:r>
              <a:rPr lang="en-US" sz="1900" dirty="0" err="1">
                <a:latin typeface="Calibri" pitchFamily="34" charset="0"/>
                <a:cs typeface="Calibri" pitchFamily="34" charset="0"/>
              </a:rPr>
              <a:t>tê</a:t>
            </a:r>
            <a:r>
              <a:rPr lang="en-US" sz="1900" dirty="0">
                <a:latin typeface="Calibri" pitchFamily="34" charset="0"/>
                <a:cs typeface="Calibri" pitchFamily="34" charset="0"/>
              </a:rPr>
              <a:t>̣ </a:t>
            </a:r>
            <a:r>
              <a:rPr lang="en-US" sz="1900" dirty="0" err="1">
                <a:latin typeface="Calibri" pitchFamily="34" charset="0"/>
                <a:cs typeface="Calibri" pitchFamily="34" charset="0"/>
              </a:rPr>
              <a:t>thắt</a:t>
            </a:r>
            <a:r>
              <a:rPr lang="en-US" sz="1900" dirty="0">
                <a:latin typeface="Calibri" pitchFamily="34" charset="0"/>
                <a:cs typeface="Calibri" pitchFamily="34" charset="0"/>
              </a:rPr>
              <a:t> </a:t>
            </a:r>
            <a:r>
              <a:rPr lang="en-US" sz="1900" dirty="0" err="1">
                <a:latin typeface="Calibri" pitchFamily="34" charset="0"/>
                <a:cs typeface="Calibri" pitchFamily="34" charset="0"/>
              </a:rPr>
              <a:t>chặt</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mức</a:t>
            </a:r>
            <a:r>
              <a:rPr lang="en-US" sz="1900" dirty="0">
                <a:latin typeface="Calibri" pitchFamily="34" charset="0"/>
                <a:cs typeface="Calibri" pitchFamily="34" charset="0"/>
              </a:rPr>
              <a:t> </a:t>
            </a:r>
            <a:r>
              <a:rPr lang="en-US" sz="1900" dirty="0" err="1">
                <a:latin typeface="Calibri" pitchFamily="34" charset="0"/>
                <a:cs typeface="Calibri" pitchFamily="34" charset="0"/>
              </a:rPr>
              <a:t>lãi</a:t>
            </a:r>
            <a:r>
              <a:rPr lang="en-US" sz="1900" dirty="0">
                <a:latin typeface="Calibri" pitchFamily="34" charset="0"/>
                <a:cs typeface="Calibri" pitchFamily="34" charset="0"/>
              </a:rPr>
              <a:t> </a:t>
            </a:r>
            <a:r>
              <a:rPr lang="en-US" sz="1900" dirty="0" err="1">
                <a:latin typeface="Calibri" pitchFamily="34" charset="0"/>
                <a:cs typeface="Calibri" pitchFamily="34" charset="0"/>
              </a:rPr>
              <a:t>suất</a:t>
            </a:r>
            <a:r>
              <a:rPr lang="en-US" sz="1900" dirty="0">
                <a:latin typeface="Calibri" pitchFamily="34" charset="0"/>
                <a:cs typeface="Calibri" pitchFamily="34" charset="0"/>
              </a:rPr>
              <a:t> </a:t>
            </a:r>
            <a:r>
              <a:rPr lang="en-US" sz="1900" dirty="0" err="1">
                <a:latin typeface="Calibri" pitchFamily="34" charset="0"/>
                <a:cs typeface="Calibri" pitchFamily="34" charset="0"/>
              </a:rPr>
              <a:t>rất</a:t>
            </a:r>
            <a:r>
              <a:rPr lang="en-US" sz="1900" dirty="0">
                <a:latin typeface="Calibri" pitchFamily="34" charset="0"/>
                <a:cs typeface="Calibri" pitchFamily="34" charset="0"/>
              </a:rPr>
              <a:t> </a:t>
            </a:r>
            <a:r>
              <a:rPr lang="en-US" sz="1900" dirty="0" err="1">
                <a:latin typeface="Calibri" pitchFamily="34" charset="0"/>
                <a:cs typeface="Calibri" pitchFamily="34" charset="0"/>
              </a:rPr>
              <a:t>cao</a:t>
            </a:r>
            <a:r>
              <a:rPr lang="en-US" sz="1900" dirty="0">
                <a:latin typeface="Calibri" pitchFamily="34" charset="0"/>
                <a:cs typeface="Calibri" pitchFamily="34" charset="0"/>
              </a:rPr>
              <a:t>, ta </a:t>
            </a:r>
            <a:r>
              <a:rPr lang="en-US" sz="1900" dirty="0" err="1">
                <a:latin typeface="Calibri" pitchFamily="34" charset="0"/>
                <a:cs typeface="Calibri" pitchFamily="34" charset="0"/>
              </a:rPr>
              <a:t>đặt</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a:latin typeface="Calibri" pitchFamily="34" charset="0"/>
                <a:cs typeface="Calibri" pitchFamily="34" charset="0"/>
              </a:rPr>
              <a:t>này</a:t>
            </a:r>
            <a:r>
              <a:rPr lang="en-US" sz="1900" dirty="0">
                <a:latin typeface="Calibri" pitchFamily="34" charset="0"/>
                <a:cs typeface="Calibri" pitchFamily="34" charset="0"/>
              </a:rPr>
              <a:t> là Dum,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xác</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a:t>
            </a:r>
            <a:r>
              <a:rPr lang="en-US" sz="1900" dirty="0" err="1">
                <a:latin typeface="Calibri" pitchFamily="34" charset="0"/>
                <a:cs typeface="Calibri" pitchFamily="34" charset="0"/>
              </a:rPr>
              <a:t>thời</a:t>
            </a:r>
            <a:r>
              <a:rPr lang="en-US" sz="1900" dirty="0">
                <a:latin typeface="Calibri" pitchFamily="34" charset="0"/>
                <a:cs typeface="Calibri" pitchFamily="34" charset="0"/>
              </a:rPr>
              <a:t> </a:t>
            </a:r>
            <a:r>
              <a:rPr lang="en-US" sz="1900" dirty="0" err="1">
                <a:latin typeface="Calibri" pitchFamily="34" charset="0"/>
                <a:cs typeface="Calibri" pitchFamily="34" charset="0"/>
              </a:rPr>
              <a:t>ky</a:t>
            </a:r>
            <a:r>
              <a:rPr lang="en-US" sz="1900" dirty="0">
                <a:latin typeface="Calibri" pitchFamily="34" charset="0"/>
                <a:cs typeface="Calibri" pitchFamily="34" charset="0"/>
              </a:rPr>
              <a:t>̀ </a:t>
            </a:r>
            <a:r>
              <a:rPr lang="en-US" sz="1900" dirty="0" err="1">
                <a:latin typeface="Calibri" pitchFamily="34" charset="0"/>
                <a:cs typeface="Calibri" pitchFamily="34" charset="0"/>
              </a:rPr>
              <a:t>này</a:t>
            </a:r>
            <a:r>
              <a:rPr lang="en-US" sz="1900" dirty="0">
                <a:latin typeface="Calibri" pitchFamily="34" charset="0"/>
                <a:cs typeface="Calibri" pitchFamily="34" charset="0"/>
              </a:rPr>
              <a:t> là Dum </a:t>
            </a:r>
            <a:r>
              <a:rPr lang="en-US" sz="1900" dirty="0" smtClean="0">
                <a:latin typeface="Calibri" pitchFamily="34" charset="0"/>
                <a:cs typeface="Calibri" pitchFamily="34" charset="0"/>
              </a:rPr>
              <a:t>= 0.</a:t>
            </a:r>
            <a:endParaRPr lang="en-US" sz="1900" dirty="0">
              <a:latin typeface="Calibri" pitchFamily="34" charset="0"/>
              <a:cs typeface="Calibri" pitchFamily="34" charset="0"/>
            </a:endParaRPr>
          </a:p>
          <a:p>
            <a:pPr algn="just"/>
            <a:r>
              <a:rPr lang="en-US" sz="1900" dirty="0">
                <a:latin typeface="Calibri" pitchFamily="34" charset="0"/>
                <a:cs typeface="Calibri" pitchFamily="34" charset="0"/>
              </a:rPr>
              <a:t>1982-1995 </a:t>
            </a:r>
            <a:r>
              <a:rPr lang="en-US" sz="1900" dirty="0" err="1">
                <a:latin typeface="Calibri" pitchFamily="34" charset="0"/>
                <a:cs typeface="Calibri" pitchFamily="34" charset="0"/>
              </a:rPr>
              <a:t>giai</a:t>
            </a:r>
            <a:r>
              <a:rPr lang="en-US" sz="1900" dirty="0">
                <a:latin typeface="Calibri" pitchFamily="34" charset="0"/>
                <a:cs typeface="Calibri" pitchFamily="34" charset="0"/>
              </a:rPr>
              <a:t> </a:t>
            </a:r>
            <a:r>
              <a:rPr lang="en-US" sz="1900" dirty="0" err="1">
                <a:latin typeface="Calibri" pitchFamily="34" charset="0"/>
                <a:cs typeface="Calibri" pitchFamily="34" charset="0"/>
              </a:rPr>
              <a:t>đoạn</a:t>
            </a:r>
            <a:r>
              <a:rPr lang="en-US" sz="1900" dirty="0">
                <a:latin typeface="Calibri" pitchFamily="34" charset="0"/>
                <a:cs typeface="Calibri" pitchFamily="34" charset="0"/>
              </a:rPr>
              <a:t> </a:t>
            </a:r>
            <a:r>
              <a:rPr lang="en-US" sz="1900" dirty="0" err="1">
                <a:latin typeface="Calibri" pitchFamily="34" charset="0"/>
                <a:cs typeface="Calibri" pitchFamily="34" charset="0"/>
              </a:rPr>
              <a:t>chính</a:t>
            </a:r>
            <a:r>
              <a:rPr lang="en-US" sz="1900" dirty="0">
                <a:latin typeface="Calibri" pitchFamily="34" charset="0"/>
                <a:cs typeface="Calibri" pitchFamily="34" charset="0"/>
              </a:rPr>
              <a:t> </a:t>
            </a:r>
            <a:r>
              <a:rPr lang="en-US" sz="1900" dirty="0" err="1">
                <a:latin typeface="Calibri" pitchFamily="34" charset="0"/>
                <a:cs typeface="Calibri" pitchFamily="34" charset="0"/>
              </a:rPr>
              <a:t>sách</a:t>
            </a:r>
            <a:r>
              <a:rPr lang="en-US" sz="1900" dirty="0">
                <a:latin typeface="Calibri" pitchFamily="34" charset="0"/>
                <a:cs typeface="Calibri" pitchFamily="34" charset="0"/>
              </a:rPr>
              <a:t> </a:t>
            </a:r>
            <a:r>
              <a:rPr lang="en-US" sz="1900" dirty="0" err="1">
                <a:latin typeface="Calibri" pitchFamily="34" charset="0"/>
                <a:cs typeface="Calibri" pitchFamily="34" charset="0"/>
              </a:rPr>
              <a:t>nới</a:t>
            </a:r>
            <a:r>
              <a:rPr lang="en-US" sz="1900" dirty="0">
                <a:latin typeface="Calibri" pitchFamily="34" charset="0"/>
                <a:cs typeface="Calibri" pitchFamily="34" charset="0"/>
              </a:rPr>
              <a:t> </a:t>
            </a:r>
            <a:r>
              <a:rPr lang="en-US" sz="1900" dirty="0" err="1">
                <a:latin typeface="Calibri" pitchFamily="34" charset="0"/>
                <a:cs typeface="Calibri" pitchFamily="34" charset="0"/>
              </a:rPr>
              <a:t>lỏng</a:t>
            </a:r>
            <a:r>
              <a:rPr lang="en-US" sz="1900" dirty="0">
                <a:latin typeface="Calibri" pitchFamily="34" charset="0"/>
                <a:cs typeface="Calibri" pitchFamily="34" charset="0"/>
              </a:rPr>
              <a:t> </a:t>
            </a:r>
            <a:r>
              <a:rPr lang="en-US" sz="1900" dirty="0" err="1">
                <a:latin typeface="Calibri" pitchFamily="34" charset="0"/>
                <a:cs typeface="Calibri" pitchFamily="34" charset="0"/>
              </a:rPr>
              <a:t>va</a:t>
            </a:r>
            <a:r>
              <a:rPr lang="en-US" sz="1900" dirty="0">
                <a:latin typeface="Calibri" pitchFamily="34" charset="0"/>
                <a:cs typeface="Calibri" pitchFamily="34" charset="0"/>
              </a:rPr>
              <a:t>̀ </a:t>
            </a:r>
            <a:r>
              <a:rPr lang="en-US" sz="1900" dirty="0" err="1">
                <a:latin typeface="Calibri" pitchFamily="34" charset="0"/>
                <a:cs typeface="Calibri" pitchFamily="34" charset="0"/>
              </a:rPr>
              <a:t>lãi</a:t>
            </a:r>
            <a:r>
              <a:rPr lang="en-US" sz="1900" dirty="0">
                <a:latin typeface="Calibri" pitchFamily="34" charset="0"/>
                <a:cs typeface="Calibri" pitchFamily="34" charset="0"/>
              </a:rPr>
              <a:t> </a:t>
            </a:r>
            <a:r>
              <a:rPr lang="en-US" sz="1900" dirty="0" err="1">
                <a:latin typeface="Calibri" pitchFamily="34" charset="0"/>
                <a:cs typeface="Calibri" pitchFamily="34" charset="0"/>
              </a:rPr>
              <a:t>suất</a:t>
            </a:r>
            <a:r>
              <a:rPr lang="en-US" sz="1900" dirty="0">
                <a:latin typeface="Calibri" pitchFamily="34" charset="0"/>
                <a:cs typeface="Calibri" pitchFamily="34" charset="0"/>
              </a:rPr>
              <a:t> </a:t>
            </a:r>
            <a:r>
              <a:rPr lang="en-US" sz="1900" dirty="0" err="1">
                <a:latin typeface="Calibri" pitchFamily="34" charset="0"/>
                <a:cs typeface="Calibri" pitchFamily="34" charset="0"/>
              </a:rPr>
              <a:t>thấp</a:t>
            </a:r>
            <a:r>
              <a:rPr lang="en-US" sz="1900" dirty="0" smtClean="0">
                <a:latin typeface="Calibri" pitchFamily="34" charset="0"/>
                <a:cs typeface="Calibri" pitchFamily="34" charset="0"/>
              </a:rPr>
              <a:t>. Ta </a:t>
            </a:r>
            <a:r>
              <a:rPr lang="en-US" sz="1900" dirty="0" err="1" smtClean="0">
                <a:latin typeface="Calibri" pitchFamily="34" charset="0"/>
                <a:cs typeface="Calibri" pitchFamily="34" charset="0"/>
              </a:rPr>
              <a:t>gán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gia</a:t>
            </a:r>
            <a:r>
              <a:rPr lang="en-US" sz="1900" dirty="0" smtClean="0">
                <a:latin typeface="Calibri" pitchFamily="34" charset="0"/>
                <a:cs typeface="Calibri" pitchFamily="34" charset="0"/>
              </a:rPr>
              <a:t>́ trị </a:t>
            </a:r>
            <a:r>
              <a:rPr lang="en-US" sz="1900" dirty="0" err="1" smtClean="0">
                <a:latin typeface="Calibri" pitchFamily="34" charset="0"/>
                <a:cs typeface="Calibri" pitchFamily="34" charset="0"/>
              </a:rPr>
              <a:t>biến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gia</a:t>
            </a:r>
            <a:r>
              <a:rPr lang="en-US" sz="1900" dirty="0" smtClean="0">
                <a:latin typeface="Calibri" pitchFamily="34" charset="0"/>
                <a:cs typeface="Calibri" pitchFamily="34" charset="0"/>
              </a:rPr>
              <a:t>̉ Dum =1.</a:t>
            </a:r>
            <a:endParaRPr lang="en-US" sz="1900" dirty="0">
              <a:latin typeface="Calibri" pitchFamily="34" charset="0"/>
              <a:cs typeface="Calibri" pitchFamily="34" charset="0"/>
            </a:endParaRPr>
          </a:p>
          <a:p>
            <a:pPr algn="just"/>
            <a:endParaRPr lang="en-US" dirty="0"/>
          </a:p>
        </p:txBody>
      </p:sp>
      <p:sp>
        <p:nvSpPr>
          <p:cNvPr id="3" name="Title 2"/>
          <p:cNvSpPr>
            <a:spLocks noGrp="1"/>
          </p:cNvSpPr>
          <p:nvPr>
            <p:ph type="title"/>
          </p:nvPr>
        </p:nvSpPr>
        <p:spPr>
          <a:xfrm>
            <a:off x="467544" y="226218"/>
            <a:ext cx="8229600" cy="889214"/>
          </a:xfrm>
        </p:spPr>
        <p:txBody>
          <a:bodyPr>
            <a:normAutofit fontScale="90000"/>
          </a:bodyPr>
          <a:lstStyle/>
          <a:p>
            <a:r>
              <a:rPr lang="en-US" dirty="0">
                <a:effectLst/>
              </a:rPr>
              <a:t/>
            </a:r>
            <a:br>
              <a:rPr lang="en-US" dirty="0">
                <a:effectLst/>
              </a:rPr>
            </a:br>
            <a:r>
              <a:rPr lang="en-US" dirty="0">
                <a:solidFill>
                  <a:srgbClr val="FF0000"/>
                </a:solidFill>
                <a:effectLst/>
                <a:latin typeface="Calibri" pitchFamily="34" charset="0"/>
                <a:cs typeface="Calibri" pitchFamily="34" charset="0"/>
              </a:rPr>
              <a:t>*</a:t>
            </a:r>
            <a:r>
              <a:rPr lang="en-US" dirty="0" err="1">
                <a:solidFill>
                  <a:srgbClr val="FF0000"/>
                </a:solidFill>
                <a:effectLst/>
                <a:latin typeface="Calibri" pitchFamily="34" charset="0"/>
                <a:cs typeface="Calibri" pitchFamily="34" charset="0"/>
              </a:rPr>
              <a:t>Kiểm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tra</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khác</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trong</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hàm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a:solidFill>
                  <a:srgbClr val="FF0000"/>
                </a:solidFill>
                <a:effectLst/>
                <a:latin typeface="Calibri" pitchFamily="34" charset="0"/>
                <a:cs typeface="Calibri" pitchFamily="34" charset="0"/>
              </a:rPr>
              <a:t>qua </a:t>
            </a:r>
            <a:r>
              <a:rPr lang="en-US" dirty="0" err="1">
                <a:solidFill>
                  <a:srgbClr val="FF0000"/>
                </a:solidFill>
                <a:effectLst/>
                <a:latin typeface="Calibri" pitchFamily="34" charset="0"/>
                <a:cs typeface="Calibri" pitchFamily="34" charset="0"/>
              </a:rPr>
              <a:t>nhóm</a:t>
            </a:r>
            <a:r>
              <a:rPr lang="en-US" dirty="0">
                <a:solidFill>
                  <a:srgbClr val="FF0000"/>
                </a:solidFill>
                <a:effectLst/>
                <a:latin typeface="Calibri" pitchFamily="34" charset="0"/>
                <a:cs typeface="Calibri" pitchFamily="34" charset="0"/>
              </a:rPr>
              <a:t>:</a:t>
            </a:r>
            <a:endParaRPr lang="en-US"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183726698"/>
              </p:ext>
            </p:extLst>
          </p:nvPr>
        </p:nvGraphicFramePr>
        <p:xfrm>
          <a:off x="5595786" y="1347065"/>
          <a:ext cx="2880320" cy="5468112"/>
        </p:xfrm>
        <a:graphic>
          <a:graphicData uri="http://schemas.openxmlformats.org/drawingml/2006/table">
            <a:tbl>
              <a:tblPr firstRow="1" firstCol="1" bandRow="1">
                <a:tableStyleId>{5C22544A-7EE6-4342-B048-85BDC9FD1C3A}</a:tableStyleId>
              </a:tblPr>
              <a:tblGrid>
                <a:gridCol w="529039"/>
                <a:gridCol w="1249982"/>
                <a:gridCol w="1101299"/>
              </a:tblGrid>
              <a:tr h="183579">
                <a:tc>
                  <a:txBody>
                    <a:bodyPr/>
                    <a:lstStyle/>
                    <a:p>
                      <a:pPr marL="0" marR="0">
                        <a:lnSpc>
                          <a:spcPct val="115000"/>
                        </a:lnSpc>
                        <a:spcBef>
                          <a:spcPts val="0"/>
                        </a:spcBef>
                        <a:spcAft>
                          <a:spcPts val="0"/>
                        </a:spcAft>
                      </a:pPr>
                      <a:r>
                        <a:rPr lang="en-US" sz="1200" dirty="0">
                          <a:effectLst/>
                        </a:rPr>
                        <a:t>Year</a:t>
                      </a:r>
                      <a:endParaRPr lang="en-US" sz="1100" dirty="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Savings</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Income</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1970</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61</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727.1</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1971</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68.6</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790.2</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1972</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63.6</a:t>
                      </a:r>
                      <a:endParaRPr lang="en-US" sz="1100" dirty="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855.3</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1973</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89.6</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965</a:t>
                      </a:r>
                      <a:endParaRPr lang="en-US" sz="1100" dirty="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97.6</a:t>
                      </a:r>
                      <a:endParaRPr lang="en-US" sz="1100" dirty="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1054.2</a:t>
                      </a:r>
                      <a:endParaRPr lang="en-US" sz="1100" dirty="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1975</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104.4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1159.2</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1976</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96.4</a:t>
                      </a:r>
                      <a:endParaRPr lang="en-US" sz="1100" dirty="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1273</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1977</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92.5</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1401.4</a:t>
                      </a:r>
                      <a:endParaRPr lang="en-US" sz="1100">
                        <a:effectLst/>
                        <a:latin typeface="Calibri"/>
                        <a:ea typeface="Calibri"/>
                        <a:cs typeface="Times New Roman"/>
                      </a:endParaRPr>
                    </a:p>
                  </a:txBody>
                  <a:tcPr marL="56764" marR="56764" marT="0" marB="0"/>
                </a:tc>
              </a:tr>
              <a:tr h="177593">
                <a:tc>
                  <a:txBody>
                    <a:bodyPr/>
                    <a:lstStyle/>
                    <a:p>
                      <a:pPr marL="0" marR="0">
                        <a:lnSpc>
                          <a:spcPct val="115000"/>
                        </a:lnSpc>
                        <a:spcBef>
                          <a:spcPts val="0"/>
                        </a:spcBef>
                        <a:spcAft>
                          <a:spcPts val="0"/>
                        </a:spcAft>
                      </a:pPr>
                      <a:r>
                        <a:rPr lang="en-US" sz="1200">
                          <a:effectLst/>
                        </a:rPr>
                        <a:t>1978</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112.6</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1580.1</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1980</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161.8</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1973.3</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1981</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199.1</a:t>
                      </a:r>
                      <a:endParaRPr lang="en-US" sz="1100" dirty="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2200.2</a:t>
                      </a:r>
                      <a:endParaRPr lang="en-US" sz="1100" dirty="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1982</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205.5</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2347.3</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1983</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167</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2522.4</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235.7</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2810</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1985</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206.2</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3002</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1986</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196.5</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3187.6</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1987</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168.4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3363.1</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1988</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189.1</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3640.8</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1989</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187.8</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3894.5</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1990</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208.7</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4166.8</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1991</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246.4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4343.7</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1992</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272.6</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4163.7</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1993</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214.4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4790.2</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1994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189.4</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5021.7</a:t>
                      </a:r>
                      <a:endParaRPr lang="en-US" sz="1100">
                        <a:effectLst/>
                        <a:latin typeface="Calibri"/>
                        <a:ea typeface="Calibri"/>
                        <a:cs typeface="Times New Roman"/>
                      </a:endParaRPr>
                    </a:p>
                  </a:txBody>
                  <a:tcPr marL="56764" marR="56764" marT="0" marB="0"/>
                </a:tc>
              </a:tr>
              <a:tr h="183579">
                <a:tc>
                  <a:txBody>
                    <a:bodyPr/>
                    <a:lstStyle/>
                    <a:p>
                      <a:pPr marL="0" marR="0">
                        <a:lnSpc>
                          <a:spcPct val="115000"/>
                        </a:lnSpc>
                        <a:spcBef>
                          <a:spcPts val="0"/>
                        </a:spcBef>
                        <a:spcAft>
                          <a:spcPts val="0"/>
                        </a:spcAft>
                      </a:pPr>
                      <a:r>
                        <a:rPr lang="en-US" sz="1200">
                          <a:effectLst/>
                        </a:rPr>
                        <a:t>1995</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a:effectLst/>
                        </a:rPr>
                        <a:t>249.3</a:t>
                      </a:r>
                      <a:endParaRPr lang="en-US" sz="1100">
                        <a:effectLst/>
                        <a:latin typeface="Calibri"/>
                        <a:ea typeface="Calibri"/>
                        <a:cs typeface="Times New Roman"/>
                      </a:endParaRPr>
                    </a:p>
                  </a:txBody>
                  <a:tcPr marL="56764" marR="56764" marT="0" marB="0"/>
                </a:tc>
                <a:tc>
                  <a:txBody>
                    <a:bodyPr/>
                    <a:lstStyle/>
                    <a:p>
                      <a:pPr marL="0" marR="0">
                        <a:lnSpc>
                          <a:spcPct val="115000"/>
                        </a:lnSpc>
                        <a:spcBef>
                          <a:spcPts val="0"/>
                        </a:spcBef>
                        <a:spcAft>
                          <a:spcPts val="0"/>
                        </a:spcAft>
                      </a:pPr>
                      <a:r>
                        <a:rPr lang="en-US" sz="1200" dirty="0">
                          <a:effectLst/>
                        </a:rPr>
                        <a:t>5320.8</a:t>
                      </a:r>
                      <a:endParaRPr lang="en-US" sz="1100" dirty="0">
                        <a:effectLst/>
                        <a:latin typeface="Calibri"/>
                        <a:ea typeface="Calibri"/>
                        <a:cs typeface="Times New Roman"/>
                      </a:endParaRPr>
                    </a:p>
                  </a:txBody>
                  <a:tcPr marL="56764" marR="56764" marT="0" marB="0"/>
                </a:tc>
              </a:tr>
            </a:tbl>
          </a:graphicData>
        </a:graphic>
      </p:graphicFrame>
    </p:spTree>
    <p:extLst>
      <p:ext uri="{BB962C8B-B14F-4D97-AF65-F5344CB8AC3E}">
        <p14:creationId xmlns:p14="http://schemas.microsoft.com/office/powerpoint/2010/main" val="3891611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lstStyle/>
              <a:p>
                <a:pPr algn="just"/>
                <a:r>
                  <a:rPr lang="en-US" sz="1900" dirty="0" smtClean="0">
                    <a:latin typeface="Calibri" pitchFamily="34" charset="0"/>
                    <a:cs typeface="Calibri" pitchFamily="34" charset="0"/>
                  </a:rPr>
                  <a:t>Ta có 2 </a:t>
                </a:r>
                <a:r>
                  <a:rPr lang="en-US" sz="1900" dirty="0" err="1" smtClean="0">
                    <a:latin typeface="Calibri" pitchFamily="34" charset="0"/>
                    <a:cs typeface="Calibri" pitchFamily="34" charset="0"/>
                  </a:rPr>
                  <a:t>mô</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hình</a:t>
                </a:r>
                <a:r>
                  <a:rPr lang="en-US" sz="1900" dirty="0" smtClean="0">
                    <a:latin typeface="Calibri" pitchFamily="34" charset="0"/>
                    <a:cs typeface="Calibri" pitchFamily="34" charset="0"/>
                  </a:rPr>
                  <a:t>:</a:t>
                </a:r>
              </a:p>
              <a:p>
                <a:pPr algn="just"/>
                <a:r>
                  <a:rPr lang="en-US" sz="1900" dirty="0" err="1" smtClean="0">
                    <a:latin typeface="Calibri" pitchFamily="34" charset="0"/>
                    <a:cs typeface="Calibri" pitchFamily="34" charset="0"/>
                  </a:rPr>
                  <a:t>Giai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đoạn</a:t>
                </a:r>
                <a:r>
                  <a:rPr lang="en-US" sz="1900" dirty="0" smtClean="0">
                    <a:latin typeface="Calibri" pitchFamily="34" charset="0"/>
                    <a:cs typeface="Calibri" pitchFamily="34" charset="0"/>
                  </a:rPr>
                  <a:t> 1: </a:t>
                </a:r>
              </a:p>
              <a:p>
                <a:pPr algn="just"/>
                <a:r>
                  <a:rPr lang="en-US" sz="1900" dirty="0" err="1" smtClean="0">
                    <a:latin typeface="Calibri" pitchFamily="34" charset="0"/>
                    <a:cs typeface="Calibri" pitchFamily="34" charset="0"/>
                  </a:rPr>
                  <a:t>Giai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đoạn</a:t>
                </a:r>
                <a:r>
                  <a:rPr lang="en-US" sz="1900" dirty="0" smtClean="0">
                    <a:latin typeface="Calibri" pitchFamily="34" charset="0"/>
                    <a:cs typeface="Calibri" pitchFamily="34" charset="0"/>
                  </a:rPr>
                  <a:t> 2: </a:t>
                </a:r>
              </a:p>
              <a:p>
                <a:pPr algn="just"/>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có </a:t>
                </a:r>
                <a:r>
                  <a:rPr lang="en-US" sz="1900" dirty="0" err="1">
                    <a:latin typeface="Calibri" pitchFamily="34" charset="0"/>
                    <a:cs typeface="Calibri" pitchFamily="34" charset="0"/>
                  </a:rPr>
                  <a:t>tác</a:t>
                </a:r>
                <a:r>
                  <a:rPr lang="en-US" sz="1900" dirty="0">
                    <a:latin typeface="Calibri" pitchFamily="34" charset="0"/>
                    <a:cs typeface="Calibri" pitchFamily="34" charset="0"/>
                  </a:rPr>
                  <a:t> </a:t>
                </a:r>
                <a:r>
                  <a:rPr lang="en-US" sz="1900" dirty="0" err="1">
                    <a:latin typeface="Calibri" pitchFamily="34" charset="0"/>
                    <a:cs typeface="Calibri" pitchFamily="34" charset="0"/>
                  </a:rPr>
                  <a:t>động</a:t>
                </a:r>
                <a:r>
                  <a:rPr lang="en-US" sz="1900" dirty="0">
                    <a:latin typeface="Calibri" pitchFamily="34" charset="0"/>
                    <a:cs typeface="Calibri" pitchFamily="34" charset="0"/>
                  </a:rPr>
                  <a:t> </a:t>
                </a:r>
                <a:r>
                  <a:rPr lang="en-US" sz="1900" dirty="0" err="1">
                    <a:latin typeface="Calibri" pitchFamily="34" charset="0"/>
                    <a:cs typeface="Calibri" pitchFamily="34" charset="0"/>
                  </a:rPr>
                  <a:t>tới</a:t>
                </a:r>
                <a:r>
                  <a:rPr lang="en-US" sz="1900" dirty="0">
                    <a:latin typeface="Calibri" pitchFamily="34" charset="0"/>
                    <a:cs typeface="Calibri" pitchFamily="34" charset="0"/>
                  </a:rPr>
                  <a:t> </a:t>
                </a:r>
                <a:r>
                  <a:rPr lang="en-US" sz="1900" dirty="0" err="1">
                    <a:latin typeface="Calibri" pitchFamily="34" charset="0"/>
                    <a:cs typeface="Calibri" pitchFamily="34" charset="0"/>
                  </a:rPr>
                  <a:t>biến</a:t>
                </a:r>
                <a:r>
                  <a:rPr lang="en-US" sz="1900" dirty="0">
                    <a:latin typeface="Calibri" pitchFamily="34" charset="0"/>
                    <a:cs typeface="Calibri" pitchFamily="34" charset="0"/>
                  </a:rPr>
                  <a:t> </a:t>
                </a:r>
                <a:r>
                  <a:rPr lang="en-US" sz="1900" dirty="0" err="1">
                    <a:latin typeface="Calibri" pitchFamily="34" charset="0"/>
                    <a:cs typeface="Calibri" pitchFamily="34" charset="0"/>
                  </a:rPr>
                  <a:t>gia</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ca</a:t>
                </a:r>
                <a:r>
                  <a:rPr lang="en-US" sz="1900" dirty="0">
                    <a:latin typeface="Calibri" pitchFamily="34" charset="0"/>
                    <a:cs typeface="Calibri" pitchFamily="34" charset="0"/>
                  </a:rPr>
                  <a:t>̉ 2 </a:t>
                </a:r>
                <a:r>
                  <a:rPr lang="en-US" sz="1900" dirty="0" err="1">
                    <a:latin typeface="Calibri" pitchFamily="34" charset="0"/>
                    <a:cs typeface="Calibri" pitchFamily="34" charset="0"/>
                  </a:rPr>
                  <a:t>giai</a:t>
                </a:r>
                <a:r>
                  <a:rPr lang="en-US" sz="1900" dirty="0">
                    <a:latin typeface="Calibri" pitchFamily="34" charset="0"/>
                    <a:cs typeface="Calibri" pitchFamily="34" charset="0"/>
                  </a:rPr>
                  <a:t> </a:t>
                </a:r>
                <a:r>
                  <a:rPr lang="en-US" sz="1900" dirty="0" err="1">
                    <a:latin typeface="Calibri" pitchFamily="34" charset="0"/>
                    <a:cs typeface="Calibri" pitchFamily="34" charset="0"/>
                  </a:rPr>
                  <a:t>đoạn</a:t>
                </a:r>
                <a:r>
                  <a:rPr lang="en-US" sz="1900" dirty="0">
                    <a:latin typeface="Calibri" pitchFamily="34" charset="0"/>
                    <a:cs typeface="Calibri" pitchFamily="34" charset="0"/>
                  </a:rPr>
                  <a:t>:</a:t>
                </a:r>
              </a:p>
              <a:p>
                <a:pPr algn="just"/>
                <a:endParaRPr lang="en-US" dirty="0" smtClean="0"/>
              </a:p>
              <a:p>
                <a:pPr algn="just"/>
                <a:r>
                  <a:rPr lang="en-US" sz="1900" dirty="0">
                    <a:latin typeface="Calibri" pitchFamily="34" charset="0"/>
                    <a:cs typeface="Calibri" pitchFamily="34" charset="0"/>
                  </a:rPr>
                  <a:t>Ta </a:t>
                </a:r>
                <a:r>
                  <a:rPr lang="en-US" sz="1900" dirty="0" err="1">
                    <a:latin typeface="Calibri" pitchFamily="34" charset="0"/>
                    <a:cs typeface="Calibri" pitchFamily="34" charset="0"/>
                  </a:rPr>
                  <a:t>quan</a:t>
                </a:r>
                <a:r>
                  <a:rPr lang="en-US" sz="1900" dirty="0">
                    <a:latin typeface="Calibri" pitchFamily="34" charset="0"/>
                    <a:cs typeface="Calibri" pitchFamily="34" charset="0"/>
                  </a:rPr>
                  <a:t> </a:t>
                </a:r>
                <a:r>
                  <a:rPr lang="en-US" sz="1900" dirty="0" err="1">
                    <a:latin typeface="Calibri" pitchFamily="34" charset="0"/>
                    <a:cs typeface="Calibri" pitchFamily="34" charset="0"/>
                  </a:rPr>
                  <a:t>tâm</a:t>
                </a:r>
                <a:r>
                  <a:rPr lang="en-US" sz="1900" dirty="0">
                    <a:latin typeface="Calibri" pitchFamily="34" charset="0"/>
                    <a:cs typeface="Calibri" pitchFamily="34" charset="0"/>
                  </a:rPr>
                  <a:t> </a:t>
                </a:r>
                <a:r>
                  <a:rPr lang="en-US" sz="1900" dirty="0" err="1">
                    <a:latin typeface="Calibri" pitchFamily="34" charset="0"/>
                    <a:cs typeface="Calibri" pitchFamily="34" charset="0"/>
                  </a:rPr>
                  <a:t>đến</a:t>
                </a:r>
                <a:r>
                  <a:rPr lang="en-US" sz="1900" dirty="0">
                    <a:latin typeface="Calibri" pitchFamily="34" charset="0"/>
                    <a:cs typeface="Calibri" pitchFamily="34" charset="0"/>
                  </a:rPr>
                  <a:t> </a:t>
                </a:r>
                <a:r>
                  <a:rPr lang="en-US" sz="1900" dirty="0" err="1">
                    <a:latin typeface="Calibri" pitchFamily="34" charset="0"/>
                    <a:cs typeface="Calibri" pitchFamily="34" charset="0"/>
                  </a:rPr>
                  <a:t>việc</a:t>
                </a:r>
                <a:r>
                  <a:rPr lang="en-US" sz="1900" dirty="0">
                    <a:latin typeface="Calibri" pitchFamily="34" charset="0"/>
                    <a:cs typeface="Calibri" pitchFamily="34" charset="0"/>
                  </a:rPr>
                  <a:t>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tra</a:t>
                </a:r>
                <a:r>
                  <a:rPr lang="en-US" sz="1900" dirty="0">
                    <a:latin typeface="Calibri" pitchFamily="34" charset="0"/>
                    <a:cs typeface="Calibri" pitchFamily="34" charset="0"/>
                  </a:rPr>
                  <a:t> </a:t>
                </a:r>
                <a:r>
                  <a:rPr lang="en-US" sz="1900" dirty="0" err="1">
                    <a:latin typeface="Calibri" pitchFamily="34" charset="0"/>
                    <a:cs typeface="Calibri" pitchFamily="34" charset="0"/>
                  </a:rPr>
                  <a:t>xem</a:t>
                </a:r>
                <a:r>
                  <a:rPr lang="en-US" sz="1900" dirty="0">
                    <a:latin typeface="Calibri" pitchFamily="34" charset="0"/>
                    <a:cs typeface="Calibri" pitchFamily="34" charset="0"/>
                  </a:rPr>
                  <a:t> có </a:t>
                </a:r>
                <a:r>
                  <a:rPr lang="en-US" sz="1900" dirty="0" err="1">
                    <a:latin typeface="Calibri" pitchFamily="34" charset="0"/>
                    <a:cs typeface="Calibri" pitchFamily="34" charset="0"/>
                  </a:rPr>
                  <a:t>sư</a:t>
                </a:r>
                <a:r>
                  <a:rPr lang="en-US" sz="1900" dirty="0">
                    <a:latin typeface="Calibri" pitchFamily="34" charset="0"/>
                    <a:cs typeface="Calibri" pitchFamily="34" charset="0"/>
                  </a:rPr>
                  <a:t>̣ </a:t>
                </a:r>
                <a:r>
                  <a:rPr lang="en-US" sz="1900" dirty="0" err="1">
                    <a:latin typeface="Calibri" pitchFamily="34" charset="0"/>
                    <a:cs typeface="Calibri" pitchFamily="34" charset="0"/>
                  </a:rPr>
                  <a:t>khác</a:t>
                </a:r>
                <a:r>
                  <a:rPr lang="en-US" sz="1900" dirty="0">
                    <a:latin typeface="Calibri" pitchFamily="34" charset="0"/>
                    <a:cs typeface="Calibri" pitchFamily="34" charset="0"/>
                  </a:rPr>
                  <a:t> </a:t>
                </a:r>
                <a:r>
                  <a:rPr lang="en-US" sz="1900" dirty="0" err="1">
                    <a:latin typeface="Calibri" pitchFamily="34" charset="0"/>
                    <a:cs typeface="Calibri" pitchFamily="34" charset="0"/>
                  </a:rPr>
                  <a:t>biệt</a:t>
                </a:r>
                <a:r>
                  <a:rPr lang="en-US" sz="1900" dirty="0">
                    <a:latin typeface="Calibri" pitchFamily="34" charset="0"/>
                    <a:cs typeface="Calibri" pitchFamily="34" charset="0"/>
                  </a:rPr>
                  <a:t> </a:t>
                </a:r>
                <a:r>
                  <a:rPr lang="en-US" sz="1900" dirty="0" err="1">
                    <a:latin typeface="Calibri" pitchFamily="34" charset="0"/>
                    <a:cs typeface="Calibri" pitchFamily="34" charset="0"/>
                  </a:rPr>
                  <a:t>giữa</a:t>
                </a:r>
                <a:r>
                  <a:rPr lang="en-US" sz="1900" dirty="0">
                    <a:latin typeface="Calibri" pitchFamily="34" charset="0"/>
                    <a:cs typeface="Calibri" pitchFamily="34" charset="0"/>
                  </a:rPr>
                  <a:t> 2 </a:t>
                </a:r>
                <a:r>
                  <a:rPr lang="en-US" sz="1900" dirty="0" err="1">
                    <a:latin typeface="Calibri" pitchFamily="34" charset="0"/>
                    <a:cs typeface="Calibri" pitchFamily="34" charset="0"/>
                  </a:rPr>
                  <a:t>thời</a:t>
                </a:r>
                <a:r>
                  <a:rPr lang="en-US" sz="1900" dirty="0">
                    <a:latin typeface="Calibri" pitchFamily="34" charset="0"/>
                    <a:cs typeface="Calibri" pitchFamily="34" charset="0"/>
                  </a:rPr>
                  <a:t> </a:t>
                </a:r>
                <a:r>
                  <a:rPr lang="en-US" sz="1900" dirty="0" err="1">
                    <a:latin typeface="Calibri" pitchFamily="34" charset="0"/>
                    <a:cs typeface="Calibri" pitchFamily="34" charset="0"/>
                  </a:rPr>
                  <a:t>ky</a:t>
                </a:r>
                <a:r>
                  <a:rPr lang="en-US" sz="1900" dirty="0">
                    <a:latin typeface="Calibri" pitchFamily="34" charset="0"/>
                    <a:cs typeface="Calibri" pitchFamily="34" charset="0"/>
                  </a:rPr>
                  <a:t>̀, ta </a:t>
                </a:r>
                <a:r>
                  <a:rPr lang="en-US" sz="1900" dirty="0" err="1">
                    <a:latin typeface="Calibri" pitchFamily="34" charset="0"/>
                    <a:cs typeface="Calibri" pitchFamily="34" charset="0"/>
                  </a:rPr>
                  <a:t>phải</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phép</a:t>
                </a:r>
                <a:r>
                  <a:rPr lang="en-US" sz="1900" dirty="0">
                    <a:latin typeface="Calibri" pitchFamily="34" charset="0"/>
                    <a:cs typeface="Calibri" pitchFamily="34" charset="0"/>
                  </a:rPr>
                  <a:t>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mô</a:t>
                </a:r>
                <a:r>
                  <a:rPr lang="en-US" sz="1900" dirty="0">
                    <a:latin typeface="Calibri" pitchFamily="34" charset="0"/>
                    <a:cs typeface="Calibri" pitchFamily="34" charset="0"/>
                  </a:rPr>
                  <a:t> </a:t>
                </a:r>
                <a:r>
                  <a:rPr lang="en-US" sz="1900" dirty="0" err="1">
                    <a:latin typeface="Calibri" pitchFamily="34" charset="0"/>
                    <a:cs typeface="Calibri" pitchFamily="34" charset="0"/>
                  </a:rPr>
                  <a:t>hình</a:t>
                </a:r>
                <a:r>
                  <a:rPr lang="en-US" sz="1900" dirty="0">
                    <a:latin typeface="Calibri" pitchFamily="34" charset="0"/>
                    <a:cs typeface="Calibri" pitchFamily="34" charset="0"/>
                  </a:rPr>
                  <a:t> mà </a:t>
                </a:r>
                <a:r>
                  <a:rPr lang="en-US" sz="1900" dirty="0" err="1">
                    <a:latin typeface="Calibri" pitchFamily="34" charset="0"/>
                    <a:cs typeface="Calibri" pitchFamily="34" charset="0"/>
                  </a:rPr>
                  <a:t>hê</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số</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chặn</a:t>
                </a:r>
                <a:r>
                  <a:rPr lang="en-US" sz="1900" dirty="0">
                    <a:latin typeface="Calibri" pitchFamily="34" charset="0"/>
                    <a:cs typeface="Calibri" pitchFamily="34" charset="0"/>
                  </a:rPr>
                  <a:t> có </a:t>
                </a:r>
                <a:r>
                  <a:rPr lang="en-US" sz="1900" dirty="0" err="1" smtClean="0">
                    <a:latin typeface="Calibri" pitchFamily="34" charset="0"/>
                    <a:cs typeface="Calibri" pitchFamily="34" charset="0"/>
                  </a:rPr>
                  <a:t>thể</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khác</a:t>
                </a:r>
                <a:r>
                  <a:rPr lang="en-US" sz="1900" dirty="0">
                    <a:latin typeface="Calibri" pitchFamily="34" charset="0"/>
                    <a:cs typeface="Calibri" pitchFamily="34" charset="0"/>
                  </a:rPr>
                  <a:t> </a:t>
                </a:r>
                <a:r>
                  <a:rPr lang="en-US" sz="1900" dirty="0" err="1">
                    <a:latin typeface="Calibri" pitchFamily="34" charset="0"/>
                    <a:cs typeface="Calibri" pitchFamily="34" charset="0"/>
                  </a:rPr>
                  <a:t>nhau</a:t>
                </a:r>
                <a:r>
                  <a:rPr lang="en-US" sz="1900" dirty="0">
                    <a:latin typeface="Calibri" pitchFamily="34" charset="0"/>
                    <a:cs typeface="Calibri" pitchFamily="34" charset="0"/>
                  </a:rPr>
                  <a:t> qua 2 </a:t>
                </a:r>
                <a:r>
                  <a:rPr lang="en-US" sz="1900" dirty="0" err="1">
                    <a:latin typeface="Calibri" pitchFamily="34" charset="0"/>
                    <a:cs typeface="Calibri" pitchFamily="34" charset="0"/>
                  </a:rPr>
                  <a:t>nhóm</a:t>
                </a:r>
                <a:r>
                  <a:rPr lang="en-US" sz="1900" dirty="0">
                    <a:latin typeface="Calibri" pitchFamily="34" charset="0"/>
                    <a:cs typeface="Calibri" pitchFamily="34" charset="0"/>
                  </a:rPr>
                  <a:t>:</a:t>
                </a:r>
              </a:p>
              <a:p>
                <a:pPr algn="just"/>
                <a:endParaRPr lang="en-US" dirty="0" smtClean="0"/>
              </a:p>
              <a:p>
                <a:pPr algn="just"/>
                <a:r>
                  <a:rPr lang="en-US" sz="1900" dirty="0" err="1">
                    <a:latin typeface="Calibri" pitchFamily="34" charset="0"/>
                    <a:cs typeface="Calibri" pitchFamily="34" charset="0"/>
                  </a:rPr>
                  <a:t>Tham</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số</a:t>
                </a:r>
                <a:r>
                  <a:rPr lang="en-US" sz="1900" dirty="0">
                    <a:latin typeface="Calibri" pitchFamily="34" charset="0"/>
                    <a:cs typeface="Calibri" pitchFamily="34" charset="0"/>
                  </a:rPr>
                  <a:t> </a:t>
                </a:r>
                <a14:m>
                  <m:oMath xmlns:m="http://schemas.openxmlformats.org/officeDocument/2006/math">
                    <m:sSub>
                      <m:sSubPr>
                        <m:ctrlPr>
                          <a:rPr lang="en-US" sz="1900" b="0" i="1" smtClean="0">
                            <a:latin typeface="Cambria Math"/>
                            <a:ea typeface="Cambria Math"/>
                            <a:cs typeface="Calibri" pitchFamily="34" charset="0"/>
                          </a:rPr>
                        </m:ctrlPr>
                      </m:sSubPr>
                      <m:e>
                        <m:r>
                          <a:rPr lang="en-US" sz="1900" i="1" smtClean="0">
                            <a:latin typeface="Cambria Math"/>
                            <a:ea typeface="Cambria Math"/>
                            <a:cs typeface="Calibri" pitchFamily="34" charset="0"/>
                          </a:rPr>
                          <m:t>𝛿</m:t>
                        </m:r>
                      </m:e>
                      <m:sub>
                        <m:r>
                          <a:rPr lang="en-US" sz="1900" b="0" i="1" smtClean="0">
                            <a:latin typeface="Cambria Math"/>
                            <a:ea typeface="Cambria Math"/>
                            <a:cs typeface="Calibri" pitchFamily="34" charset="0"/>
                          </a:rPr>
                          <m:t>0</m:t>
                        </m:r>
                      </m:sub>
                    </m:sSub>
                  </m:oMath>
                </a14:m>
                <a:r>
                  <a:rPr lang="en-US" sz="1900" dirty="0" smtClean="0">
                    <a:latin typeface="Calibri" pitchFamily="34" charset="0"/>
                    <a:cs typeface="Calibri" pitchFamily="34" charset="0"/>
                  </a:rPr>
                  <a:t> là </a:t>
                </a:r>
                <a:r>
                  <a:rPr lang="en-US" sz="1900" dirty="0" err="1">
                    <a:latin typeface="Calibri" pitchFamily="34" charset="0"/>
                    <a:cs typeface="Calibri" pitchFamily="34" charset="0"/>
                  </a:rPr>
                  <a:t>đô</a:t>
                </a:r>
                <a:r>
                  <a:rPr lang="en-US" sz="1900" dirty="0">
                    <a:latin typeface="Calibri" pitchFamily="34" charset="0"/>
                    <a:cs typeface="Calibri" pitchFamily="34" charset="0"/>
                  </a:rPr>
                  <a:t>̣ </a:t>
                </a:r>
                <a:r>
                  <a:rPr lang="en-US" sz="1900" dirty="0" err="1">
                    <a:latin typeface="Calibri" pitchFamily="34" charset="0"/>
                    <a:cs typeface="Calibri" pitchFamily="34" charset="0"/>
                  </a:rPr>
                  <a:t>chênh</a:t>
                </a:r>
                <a:r>
                  <a:rPr lang="en-US" sz="1900" dirty="0">
                    <a:latin typeface="Calibri" pitchFamily="34" charset="0"/>
                    <a:cs typeface="Calibri" pitchFamily="34" charset="0"/>
                  </a:rPr>
                  <a:t> </a:t>
                </a:r>
                <a:r>
                  <a:rPr lang="en-US" sz="1900" dirty="0" err="1">
                    <a:latin typeface="Calibri" pitchFamily="34" charset="0"/>
                    <a:cs typeface="Calibri" pitchFamily="34" charset="0"/>
                  </a:rPr>
                  <a:t>lệch</a:t>
                </a:r>
                <a:r>
                  <a:rPr lang="en-US" sz="1900" dirty="0">
                    <a:latin typeface="Calibri" pitchFamily="34" charset="0"/>
                    <a:cs typeface="Calibri" pitchFamily="34" charset="0"/>
                  </a:rPr>
                  <a:t> </a:t>
                </a:r>
                <a:r>
                  <a:rPr lang="en-US" sz="1900" dirty="0" err="1">
                    <a:latin typeface="Calibri" pitchFamily="34" charset="0"/>
                    <a:cs typeface="Calibri" pitchFamily="34" charset="0"/>
                  </a:rPr>
                  <a:t>giữa</a:t>
                </a:r>
                <a:r>
                  <a:rPr lang="en-US" sz="1900" dirty="0">
                    <a:latin typeface="Calibri" pitchFamily="34" charset="0"/>
                    <a:cs typeface="Calibri" pitchFamily="34" charset="0"/>
                  </a:rPr>
                  <a:t> 2 </a:t>
                </a:r>
                <a:r>
                  <a:rPr lang="en-US" sz="1900" dirty="0" err="1">
                    <a:latin typeface="Calibri" pitchFamily="34" charset="0"/>
                    <a:cs typeface="Calibri" pitchFamily="34" charset="0"/>
                  </a:rPr>
                  <a:t>thời</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ky</a:t>
                </a:r>
                <a:r>
                  <a:rPr lang="en-US" sz="1900" dirty="0" smtClean="0">
                    <a:latin typeface="Calibri" pitchFamily="34" charset="0"/>
                    <a:cs typeface="Calibri" pitchFamily="34" charset="0"/>
                  </a:rPr>
                  <a:t>̀,</a:t>
                </a:r>
                <a:r>
                  <a:rPr lang="en-US" sz="1900" dirty="0">
                    <a:latin typeface="Calibri" pitchFamily="34" charset="0"/>
                    <a:cs typeface="Calibri" pitchFamily="34" charset="0"/>
                  </a:rPr>
                  <a:t> </a:t>
                </a:r>
                <a14:m>
                  <m:oMath xmlns:m="http://schemas.openxmlformats.org/officeDocument/2006/math">
                    <m:sSub>
                      <m:sSubPr>
                        <m:ctrlPr>
                          <a:rPr lang="en-US" sz="1900" b="0" i="1" smtClean="0">
                            <a:latin typeface="Cambria Math"/>
                            <a:ea typeface="Cambria Math"/>
                            <a:cs typeface="Calibri" pitchFamily="34" charset="0"/>
                          </a:rPr>
                        </m:ctrlPr>
                      </m:sSubPr>
                      <m:e>
                        <m:r>
                          <a:rPr lang="en-US" sz="1900" i="1" smtClean="0">
                            <a:latin typeface="Cambria Math"/>
                            <a:ea typeface="Cambria Math"/>
                            <a:cs typeface="Calibri" pitchFamily="34" charset="0"/>
                          </a:rPr>
                          <m:t>𝛿</m:t>
                        </m:r>
                      </m:e>
                      <m:sub>
                        <m:r>
                          <a:rPr lang="en-US" sz="1900" b="0" i="1" smtClean="0">
                            <a:latin typeface="Cambria Math"/>
                            <a:ea typeface="Cambria Math"/>
                            <a:cs typeface="Calibri" pitchFamily="34" charset="0"/>
                          </a:rPr>
                          <m:t>1</m:t>
                        </m:r>
                      </m:sub>
                    </m:sSub>
                  </m:oMath>
                </a14:m>
                <a:r>
                  <a:rPr lang="en-US" sz="1900" dirty="0" smtClean="0">
                    <a:latin typeface="Calibri" pitchFamily="34" charset="0"/>
                    <a:cs typeface="Calibri" pitchFamily="34" charset="0"/>
                  </a:rPr>
                  <a:t> là </a:t>
                </a:r>
                <a:r>
                  <a:rPr lang="en-US" sz="1900" dirty="0" err="1">
                    <a:latin typeface="Calibri" pitchFamily="34" charset="0"/>
                    <a:cs typeface="Calibri" pitchFamily="34" charset="0"/>
                  </a:rPr>
                  <a:t>đô</a:t>
                </a:r>
                <a:r>
                  <a:rPr lang="en-US" sz="1900" dirty="0">
                    <a:latin typeface="Calibri" pitchFamily="34" charset="0"/>
                    <a:cs typeface="Calibri" pitchFamily="34" charset="0"/>
                  </a:rPr>
                  <a:t>̣ </a:t>
                </a:r>
                <a:r>
                  <a:rPr lang="en-US" sz="1900" dirty="0" err="1">
                    <a:latin typeface="Calibri" pitchFamily="34" charset="0"/>
                    <a:cs typeface="Calibri" pitchFamily="34" charset="0"/>
                  </a:rPr>
                  <a:t>chênh</a:t>
                </a:r>
                <a:r>
                  <a:rPr lang="en-US" sz="1900" dirty="0">
                    <a:latin typeface="Calibri" pitchFamily="34" charset="0"/>
                    <a:cs typeface="Calibri" pitchFamily="34" charset="0"/>
                  </a:rPr>
                  <a:t> </a:t>
                </a:r>
                <a:r>
                  <a:rPr lang="en-US" sz="1900" dirty="0" err="1">
                    <a:latin typeface="Calibri" pitchFamily="34" charset="0"/>
                    <a:cs typeface="Calibri" pitchFamily="34" charset="0"/>
                  </a:rPr>
                  <a:t>lệch</a:t>
                </a:r>
                <a:r>
                  <a:rPr lang="en-US" sz="1900" dirty="0">
                    <a:latin typeface="Calibri" pitchFamily="34" charset="0"/>
                    <a:cs typeface="Calibri" pitchFamily="34" charset="0"/>
                  </a:rPr>
                  <a:t> </a:t>
                </a:r>
                <a:r>
                  <a:rPr lang="en-US" sz="1900" dirty="0" err="1">
                    <a:latin typeface="Calibri" pitchFamily="34" charset="0"/>
                    <a:cs typeface="Calibri" pitchFamily="34" charset="0"/>
                  </a:rPr>
                  <a:t>của</a:t>
                </a:r>
                <a:r>
                  <a:rPr lang="en-US" sz="1900" dirty="0">
                    <a:latin typeface="Calibri" pitchFamily="34" charset="0"/>
                    <a:cs typeface="Calibri" pitchFamily="34" charset="0"/>
                  </a:rPr>
                  <a:t> </a:t>
                </a:r>
                <a:r>
                  <a:rPr lang="en-US" sz="1900" dirty="0" err="1">
                    <a:latin typeface="Calibri" pitchFamily="34" charset="0"/>
                    <a:cs typeface="Calibri" pitchFamily="34" charset="0"/>
                  </a:rPr>
                  <a:t>đô</a:t>
                </a:r>
                <a:r>
                  <a:rPr lang="en-US" sz="1900" dirty="0">
                    <a:latin typeface="Calibri" pitchFamily="34" charset="0"/>
                    <a:cs typeface="Calibri" pitchFamily="34" charset="0"/>
                  </a:rPr>
                  <a:t>̣ </a:t>
                </a:r>
                <a:r>
                  <a:rPr lang="en-US" sz="1900" dirty="0" err="1">
                    <a:latin typeface="Calibri" pitchFamily="34" charset="0"/>
                    <a:cs typeface="Calibri" pitchFamily="34" charset="0"/>
                  </a:rPr>
                  <a:t>dốc</a:t>
                </a:r>
                <a:r>
                  <a:rPr lang="en-US" sz="1900" dirty="0">
                    <a:latin typeface="Calibri" pitchFamily="34" charset="0"/>
                    <a:cs typeface="Calibri" pitchFamily="34" charset="0"/>
                  </a:rPr>
                  <a:t> </a:t>
                </a:r>
                <a:r>
                  <a:rPr lang="en-US" sz="1900" dirty="0" err="1">
                    <a:latin typeface="Calibri" pitchFamily="34" charset="0"/>
                    <a:cs typeface="Calibri" pitchFamily="34" charset="0"/>
                  </a:rPr>
                  <a:t>đối</a:t>
                </a:r>
                <a:r>
                  <a:rPr lang="en-US" sz="1900" dirty="0">
                    <a:latin typeface="Calibri" pitchFamily="34" charset="0"/>
                    <a:cs typeface="Calibri" pitchFamily="34" charset="0"/>
                  </a:rPr>
                  <a:t> </a:t>
                </a:r>
                <a:r>
                  <a:rPr lang="en-US" sz="1900" dirty="0" err="1">
                    <a:latin typeface="Calibri" pitchFamily="34" charset="0"/>
                    <a:cs typeface="Calibri" pitchFamily="34" charset="0"/>
                  </a:rPr>
                  <a:t>với</a:t>
                </a:r>
                <a:r>
                  <a:rPr lang="en-US" sz="1900" dirty="0">
                    <a:latin typeface="Calibri" pitchFamily="34" charset="0"/>
                    <a:cs typeface="Calibri" pitchFamily="34" charset="0"/>
                  </a:rPr>
                  <a:t> </a:t>
                </a:r>
                <a:r>
                  <a:rPr lang="en-US" sz="1900" dirty="0" err="1">
                    <a:latin typeface="Calibri" pitchFamily="34" charset="0"/>
                    <a:cs typeface="Calibri" pitchFamily="34" charset="0"/>
                  </a:rPr>
                  <a:t>thu</a:t>
                </a:r>
                <a:r>
                  <a:rPr lang="en-US" sz="1900" dirty="0">
                    <a:latin typeface="Calibri" pitchFamily="34" charset="0"/>
                    <a:cs typeface="Calibri" pitchFamily="34" charset="0"/>
                  </a:rPr>
                  <a:t> </a:t>
                </a:r>
                <a:r>
                  <a:rPr lang="en-US" sz="1900" dirty="0" err="1">
                    <a:latin typeface="Calibri" pitchFamily="34" charset="0"/>
                    <a:cs typeface="Calibri" pitchFamily="34" charset="0"/>
                  </a:rPr>
                  <a:t>nhập</a:t>
                </a:r>
                <a:r>
                  <a:rPr lang="en-US" sz="1900" dirty="0">
                    <a:latin typeface="Calibri" pitchFamily="34" charset="0"/>
                    <a:cs typeface="Calibri" pitchFamily="34" charset="0"/>
                  </a:rPr>
                  <a:t> </a:t>
                </a:r>
                <a:r>
                  <a:rPr lang="en-US" sz="1900" dirty="0" err="1">
                    <a:latin typeface="Calibri" pitchFamily="34" charset="0"/>
                    <a:cs typeface="Calibri" pitchFamily="34" charset="0"/>
                  </a:rPr>
                  <a:t>giữa</a:t>
                </a:r>
                <a:r>
                  <a:rPr lang="en-US" sz="1900" dirty="0">
                    <a:latin typeface="Calibri" pitchFamily="34" charset="0"/>
                    <a:cs typeface="Calibri" pitchFamily="34" charset="0"/>
                  </a:rPr>
                  <a:t> 2 </a:t>
                </a:r>
                <a:r>
                  <a:rPr lang="en-US" sz="1900" dirty="0" err="1">
                    <a:latin typeface="Calibri" pitchFamily="34" charset="0"/>
                    <a:cs typeface="Calibri" pitchFamily="34" charset="0"/>
                  </a:rPr>
                  <a:t>thời</a:t>
                </a:r>
                <a:r>
                  <a:rPr lang="en-US" sz="1900" dirty="0">
                    <a:latin typeface="Calibri" pitchFamily="34" charset="0"/>
                    <a:cs typeface="Calibri" pitchFamily="34" charset="0"/>
                  </a:rPr>
                  <a:t> </a:t>
                </a:r>
                <a:r>
                  <a:rPr lang="en-US" sz="1900" dirty="0" err="1">
                    <a:latin typeface="Calibri" pitchFamily="34" charset="0"/>
                    <a:cs typeface="Calibri" pitchFamily="34" charset="0"/>
                  </a:rPr>
                  <a:t>ky</a:t>
                </a:r>
                <a:r>
                  <a:rPr lang="en-US" sz="1900" dirty="0">
                    <a:latin typeface="Calibri" pitchFamily="34" charset="0"/>
                    <a:cs typeface="Calibri" pitchFamily="34" charset="0"/>
                  </a:rPr>
                  <a:t>̀. Ta </a:t>
                </a:r>
                <a:r>
                  <a:rPr lang="en-US" sz="1900" dirty="0" err="1">
                    <a:latin typeface="Calibri" pitchFamily="34" charset="0"/>
                    <a:cs typeface="Calibri" pitchFamily="34" charset="0"/>
                  </a:rPr>
                  <a:t>đặt</a:t>
                </a:r>
                <a:r>
                  <a:rPr lang="en-US" sz="1900" dirty="0" smtClean="0">
                    <a:latin typeface="Calibri" pitchFamily="34" charset="0"/>
                    <a:cs typeface="Calibri" pitchFamily="34" charset="0"/>
                  </a:rPr>
                  <a:t>: </a:t>
                </a:r>
                <a14:m>
                  <m:oMath xmlns:m="http://schemas.openxmlformats.org/officeDocument/2006/math">
                    <m:d>
                      <m:dPr>
                        <m:begChr m:val="{"/>
                        <m:endChr m:val=""/>
                        <m:ctrlPr>
                          <a:rPr lang="en-US" sz="1900" i="1" smtClean="0">
                            <a:latin typeface="Cambria Math"/>
                            <a:cs typeface="Calibri" pitchFamily="34" charset="0"/>
                          </a:rPr>
                        </m:ctrlPr>
                      </m:dPr>
                      <m:e>
                        <m:eqArr>
                          <m:eqArrPr>
                            <m:ctrlPr>
                              <a:rPr lang="en-US" sz="1900" i="1" smtClean="0">
                                <a:latin typeface="Cambria Math"/>
                                <a:cs typeface="Calibri" pitchFamily="34" charset="0"/>
                              </a:rPr>
                            </m:ctrlPr>
                          </m:eqArrPr>
                          <m:e>
                            <m:sSub>
                              <m:sSubPr>
                                <m:ctrlPr>
                                  <a:rPr lang="en-US" sz="1900" i="1">
                                    <a:latin typeface="Cambria Math"/>
                                    <a:cs typeface="Calibri" pitchFamily="34" charset="0"/>
                                  </a:rPr>
                                </m:ctrlPr>
                              </m:sSubPr>
                              <m:e>
                                <m:r>
                                  <a:rPr lang="en-US" sz="1900" i="1">
                                    <a:latin typeface="Cambria Math"/>
                                    <a:cs typeface="Calibri" pitchFamily="34" charset="0"/>
                                  </a:rPr>
                                  <m:t>𝐻</m:t>
                                </m:r>
                              </m:e>
                              <m:sub>
                                <m:r>
                                  <a:rPr lang="en-US" sz="1900" i="1">
                                    <a:latin typeface="Cambria Math"/>
                                    <a:cs typeface="Calibri" pitchFamily="34" charset="0"/>
                                  </a:rPr>
                                  <m:t>0</m:t>
                                </m:r>
                              </m:sub>
                            </m:sSub>
                            <m:r>
                              <a:rPr lang="en-US" sz="1900" i="1">
                                <a:latin typeface="Cambria Math"/>
                                <a:cs typeface="Calibri" pitchFamily="34" charset="0"/>
                              </a:rPr>
                              <m:t>: </m:t>
                            </m:r>
                            <m:sSub>
                              <m:sSubPr>
                                <m:ctrlPr>
                                  <a:rPr lang="en-US" sz="1900" i="1">
                                    <a:latin typeface="Cambria Math"/>
                                    <a:ea typeface="Cambria Math"/>
                                    <a:cs typeface="Calibri" pitchFamily="34" charset="0"/>
                                  </a:rPr>
                                </m:ctrlPr>
                              </m:sSubPr>
                              <m:e>
                                <m:r>
                                  <a:rPr lang="en-US" sz="1900" i="1">
                                    <a:latin typeface="Cambria Math"/>
                                    <a:ea typeface="Cambria Math"/>
                                    <a:cs typeface="Calibri" pitchFamily="34" charset="0"/>
                                  </a:rPr>
                                  <m:t>𝛿</m:t>
                                </m:r>
                              </m:e>
                              <m:sub>
                                <m:r>
                                  <a:rPr lang="en-US" sz="1900" i="1">
                                    <a:latin typeface="Cambria Math"/>
                                    <a:ea typeface="Cambria Math"/>
                                    <a:cs typeface="Calibri" pitchFamily="34" charset="0"/>
                                  </a:rPr>
                                  <m:t>0</m:t>
                                </m:r>
                              </m:sub>
                            </m:sSub>
                            <m:r>
                              <a:rPr lang="en-US" sz="1900" i="1">
                                <a:latin typeface="Cambria Math"/>
                                <a:ea typeface="Cambria Math"/>
                                <a:cs typeface="Calibri" pitchFamily="34" charset="0"/>
                              </a:rPr>
                              <m:t>=</m:t>
                            </m:r>
                            <m:r>
                              <a:rPr lang="en-US" sz="1900" i="1">
                                <a:latin typeface="Cambria Math"/>
                                <a:ea typeface="Cambria Math"/>
                                <a:cs typeface="Calibri" pitchFamily="34" charset="0"/>
                              </a:rPr>
                              <m:t>0</m:t>
                            </m:r>
                            <m:r>
                              <a:rPr lang="en-US" sz="1900" i="1">
                                <a:latin typeface="Cambria Math"/>
                                <a:ea typeface="Cambria Math"/>
                                <a:cs typeface="Calibri" pitchFamily="34" charset="0"/>
                              </a:rPr>
                              <m:t>, </m:t>
                            </m:r>
                            <m:sSub>
                              <m:sSubPr>
                                <m:ctrlPr>
                                  <a:rPr lang="en-US" sz="1900" i="1">
                                    <a:latin typeface="Cambria Math"/>
                                    <a:ea typeface="Cambria Math"/>
                                    <a:cs typeface="Calibri" pitchFamily="34" charset="0"/>
                                  </a:rPr>
                                </m:ctrlPr>
                              </m:sSubPr>
                              <m:e>
                                <m:r>
                                  <a:rPr lang="en-US" sz="1900" i="1">
                                    <a:latin typeface="Cambria Math"/>
                                    <a:ea typeface="Cambria Math"/>
                                    <a:cs typeface="Calibri" pitchFamily="34" charset="0"/>
                                  </a:rPr>
                                  <m:t>𝛿</m:t>
                                </m:r>
                              </m:e>
                              <m:sub>
                                <m:r>
                                  <a:rPr lang="en-US" sz="1900" i="1">
                                    <a:latin typeface="Cambria Math"/>
                                    <a:ea typeface="Cambria Math"/>
                                    <a:cs typeface="Calibri" pitchFamily="34" charset="0"/>
                                  </a:rPr>
                                  <m:t>1</m:t>
                                </m:r>
                              </m:sub>
                            </m:sSub>
                            <m:r>
                              <a:rPr lang="en-US" sz="1900" i="1">
                                <a:latin typeface="Cambria Math"/>
                                <a:ea typeface="Cambria Math"/>
                                <a:cs typeface="Calibri" pitchFamily="34" charset="0"/>
                              </a:rPr>
                              <m:t>=</m:t>
                            </m:r>
                            <m:r>
                              <a:rPr lang="en-US" sz="1900" i="1">
                                <a:latin typeface="Cambria Math"/>
                                <a:ea typeface="Cambria Math"/>
                                <a:cs typeface="Calibri" pitchFamily="34" charset="0"/>
                              </a:rPr>
                              <m:t>0</m:t>
                            </m:r>
                            <m:r>
                              <m:rPr>
                                <m:nor/>
                              </m:rPr>
                              <a:rPr lang="en-US" sz="1900" dirty="0">
                                <a:latin typeface="Calibri" pitchFamily="34" charset="0"/>
                                <a:cs typeface="Calibri" pitchFamily="34" charset="0"/>
                              </a:rPr>
                              <m:t> </m:t>
                            </m:r>
                          </m:e>
                          <m:e>
                            <m:sSub>
                              <m:sSubPr>
                                <m:ctrlPr>
                                  <a:rPr lang="en-US" sz="1900" b="0" i="1" smtClean="0">
                                    <a:latin typeface="Cambria Math"/>
                                    <a:cs typeface="Calibri" pitchFamily="34" charset="0"/>
                                  </a:rPr>
                                </m:ctrlPr>
                              </m:sSubPr>
                              <m:e>
                                <m:r>
                                  <a:rPr lang="en-US" sz="1900" b="0" i="1" smtClean="0">
                                    <a:latin typeface="Cambria Math"/>
                                    <a:cs typeface="Calibri" pitchFamily="34" charset="0"/>
                                  </a:rPr>
                                  <m:t>𝐻</m:t>
                                </m:r>
                              </m:e>
                              <m:sub>
                                <m:r>
                                  <a:rPr lang="en-US" sz="1900" b="0" i="1" smtClean="0">
                                    <a:latin typeface="Cambria Math"/>
                                    <a:cs typeface="Calibri" pitchFamily="34" charset="0"/>
                                  </a:rPr>
                                  <m:t>1</m:t>
                                </m:r>
                              </m:sub>
                            </m:sSub>
                            <m:r>
                              <a:rPr lang="en-US" sz="1900" b="0" i="1" smtClean="0">
                                <a:latin typeface="Cambria Math"/>
                                <a:cs typeface="Calibri" pitchFamily="34" charset="0"/>
                              </a:rPr>
                              <m:t>: </m:t>
                            </m:r>
                            <m:r>
                              <a:rPr lang="en-US" sz="1900" b="0" i="1" smtClean="0">
                                <a:latin typeface="Cambria Math"/>
                                <a:ea typeface="Cambria Math"/>
                                <a:cs typeface="Calibri" pitchFamily="34" charset="0"/>
                              </a:rPr>
                              <m:t>𝛿</m:t>
                            </m:r>
                            <m:r>
                              <a:rPr lang="en-US" sz="1900" b="0" i="1" smtClean="0">
                                <a:latin typeface="Cambria Math"/>
                                <a:ea typeface="Cambria Math"/>
                                <a:cs typeface="Calibri" pitchFamily="34" charset="0"/>
                              </a:rPr>
                              <m:t>≠</m:t>
                            </m:r>
                            <m:r>
                              <a:rPr lang="en-US" sz="1900" b="0" i="1" smtClean="0">
                                <a:latin typeface="Cambria Math"/>
                                <a:ea typeface="Cambria Math"/>
                                <a:cs typeface="Calibri" pitchFamily="34" charset="0"/>
                              </a:rPr>
                              <m:t>0</m:t>
                            </m:r>
                            <m:r>
                              <a:rPr lang="en-US" sz="1900" b="0" i="1" smtClean="0">
                                <a:latin typeface="Cambria Math"/>
                                <a:ea typeface="Cambria Math"/>
                                <a:cs typeface="Calibri" pitchFamily="34" charset="0"/>
                              </a:rPr>
                              <m:t> </m:t>
                            </m:r>
                            <m:r>
                              <a:rPr lang="en-US" sz="1900" b="0" i="1" smtClean="0">
                                <a:latin typeface="Cambria Math"/>
                                <a:ea typeface="Cambria Math"/>
                                <a:cs typeface="Calibri" pitchFamily="34" charset="0"/>
                              </a:rPr>
                              <m:t>h</m:t>
                            </m:r>
                            <m:r>
                              <a:rPr lang="en-US" sz="1900" b="0" i="1" smtClean="0">
                                <a:latin typeface="Cambria Math"/>
                                <a:ea typeface="Cambria Math"/>
                                <a:cs typeface="Calibri" pitchFamily="34" charset="0"/>
                              </a:rPr>
                              <m:t>𝑎𝑦</m:t>
                            </m:r>
                            <m:r>
                              <a:rPr lang="en-US" sz="1900" b="0" i="1" smtClean="0">
                                <a:latin typeface="Cambria Math"/>
                                <a:ea typeface="Cambria Math"/>
                                <a:cs typeface="Calibri" pitchFamily="34" charset="0"/>
                              </a:rPr>
                              <m:t> </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𝛿</m:t>
                                </m:r>
                              </m:e>
                              <m:sub>
                                <m:r>
                                  <a:rPr lang="en-US" sz="1900" b="0" i="1" smtClean="0">
                                    <a:latin typeface="Cambria Math"/>
                                    <a:ea typeface="Cambria Math"/>
                                    <a:cs typeface="Calibri" pitchFamily="34" charset="0"/>
                                  </a:rPr>
                                  <m:t>1</m:t>
                                </m:r>
                              </m:sub>
                            </m:sSub>
                            <m:r>
                              <a:rPr lang="en-US" sz="1900" b="0" i="1" smtClean="0">
                                <a:latin typeface="Cambria Math"/>
                                <a:ea typeface="Cambria Math"/>
                                <a:cs typeface="Calibri" pitchFamily="34" charset="0"/>
                              </a:rPr>
                              <m:t>≠</m:t>
                            </m:r>
                            <m:r>
                              <a:rPr lang="en-US" sz="1900" b="0" i="1" smtClean="0">
                                <a:latin typeface="Cambria Math"/>
                                <a:ea typeface="Cambria Math"/>
                                <a:cs typeface="Calibri" pitchFamily="34" charset="0"/>
                              </a:rPr>
                              <m:t>0</m:t>
                            </m:r>
                          </m:e>
                        </m:eqArr>
                      </m:e>
                    </m:d>
                  </m:oMath>
                </a14:m>
                <a:r>
                  <a:rPr lang="en-US" sz="1900" dirty="0" smtClean="0">
                    <a:latin typeface="Calibri" pitchFamily="34" charset="0"/>
                    <a:cs typeface="Calibri" pitchFamily="34" charset="0"/>
                  </a:rPr>
                  <a:t>. Hay </a:t>
                </a:r>
                <a:r>
                  <a:rPr lang="en-US" sz="1900" dirty="0" err="1" smtClean="0">
                    <a:latin typeface="Calibri" pitchFamily="34" charset="0"/>
                    <a:cs typeface="Calibri" pitchFamily="34" charset="0"/>
                  </a:rPr>
                  <a:t>nói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cách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khác</a:t>
                </a:r>
                <a:r>
                  <a:rPr lang="en-US" sz="1900" dirty="0" smtClean="0">
                    <a:latin typeface="Calibri" pitchFamily="34" charset="0"/>
                    <a:cs typeface="Calibri" pitchFamily="34" charset="0"/>
                  </a:rPr>
                  <a:t>, ta </a:t>
                </a:r>
                <a:r>
                  <a:rPr lang="en-US" sz="1900" dirty="0" err="1" smtClean="0">
                    <a:latin typeface="Calibri" pitchFamily="34" charset="0"/>
                    <a:cs typeface="Calibri" pitchFamily="34" charset="0"/>
                  </a:rPr>
                  <a:t>sẽ</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tiến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hành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kiểm</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định</a:t>
                </a:r>
                <a:r>
                  <a:rPr lang="en-US" sz="1900" dirty="0" smtClean="0">
                    <a:latin typeface="Calibri" pitchFamily="34" charset="0"/>
                    <a:cs typeface="Calibri" pitchFamily="34" charset="0"/>
                  </a:rPr>
                  <a:t> Chow </a:t>
                </a:r>
                <a:r>
                  <a:rPr lang="en-US" sz="1900" dirty="0" err="1" smtClean="0">
                    <a:latin typeface="Calibri" pitchFamily="34" charset="0"/>
                    <a:cs typeface="Calibri" pitchFamily="34" charset="0"/>
                  </a:rPr>
                  <a:t>về</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tính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ổn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định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cấu</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trúc</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của</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mô</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hình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hồi</a:t>
                </a:r>
                <a:r>
                  <a:rPr lang="en-US" sz="1900" dirty="0" smtClean="0">
                    <a:latin typeface="Calibri" pitchFamily="34" charset="0"/>
                    <a:cs typeface="Calibri" pitchFamily="34" charset="0"/>
                  </a:rPr>
                  <a:t> qui qua </a:t>
                </a:r>
                <a:r>
                  <a:rPr lang="en-US" sz="1900" dirty="0" err="1" smtClean="0">
                    <a:latin typeface="Calibri" pitchFamily="34" charset="0"/>
                    <a:cs typeface="Calibri" pitchFamily="34" charset="0"/>
                  </a:rPr>
                  <a:t>hai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thời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kỳ</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trên</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với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mức</a:t>
                </a:r>
                <a:r>
                  <a:rPr lang="en-US" sz="1900" dirty="0" smtClean="0">
                    <a:latin typeface="Calibri" pitchFamily="34" charset="0"/>
                    <a:cs typeface="Calibri" pitchFamily="34" charset="0"/>
                  </a:rPr>
                  <a:t> ý </a:t>
                </a:r>
                <a:r>
                  <a:rPr lang="en-US" sz="1900" dirty="0" err="1" smtClean="0">
                    <a:latin typeface="Calibri" pitchFamily="34" charset="0"/>
                    <a:cs typeface="Calibri" pitchFamily="34" charset="0"/>
                  </a:rPr>
                  <a:t>nghĩa</a:t>
                </a:r>
                <a:r>
                  <a:rPr lang="en-US" sz="1900" dirty="0" smtClean="0">
                    <a:latin typeface="Calibri" pitchFamily="34" charset="0"/>
                    <a:cs typeface="Calibri" pitchFamily="34" charset="0"/>
                  </a:rPr>
                  <a:t> </a:t>
                </a:r>
                <a14:m>
                  <m:oMath xmlns:m="http://schemas.openxmlformats.org/officeDocument/2006/math">
                    <m:r>
                      <a:rPr lang="en-US" sz="1900" i="1" smtClean="0">
                        <a:latin typeface="Cambria Math"/>
                        <a:ea typeface="Cambria Math"/>
                        <a:cs typeface="Calibri" pitchFamily="34" charset="0"/>
                      </a:rPr>
                      <m:t>𝛼</m:t>
                    </m:r>
                    <m:r>
                      <a:rPr lang="en-US" sz="1900" b="0" i="1" smtClean="0">
                        <a:latin typeface="Cambria Math"/>
                        <a:ea typeface="Cambria Math"/>
                        <a:cs typeface="Calibri" pitchFamily="34" charset="0"/>
                      </a:rPr>
                      <m:t>=</m:t>
                    </m:r>
                    <m:r>
                      <a:rPr lang="en-US" sz="1900" b="0" i="1" smtClean="0">
                        <a:latin typeface="Cambria Math"/>
                        <a:ea typeface="Cambria Math"/>
                        <a:cs typeface="Calibri" pitchFamily="34" charset="0"/>
                      </a:rPr>
                      <m:t>0</m:t>
                    </m:r>
                    <m:r>
                      <a:rPr lang="en-US" sz="1900" b="0" i="1" smtClean="0">
                        <a:latin typeface="Cambria Math"/>
                        <a:ea typeface="Cambria Math"/>
                        <a:cs typeface="Calibri" pitchFamily="34" charset="0"/>
                      </a:rPr>
                      <m:t>.</m:t>
                    </m:r>
                    <m:r>
                      <a:rPr lang="en-US" sz="1900" b="0" i="1" smtClean="0">
                        <a:latin typeface="Cambria Math"/>
                        <a:ea typeface="Cambria Math"/>
                        <a:cs typeface="Calibri" pitchFamily="34" charset="0"/>
                      </a:rPr>
                      <m:t>05</m:t>
                    </m:r>
                  </m:oMath>
                </a14:m>
                <a:r>
                  <a:rPr lang="en-US" sz="1900" dirty="0" smtClean="0">
                    <a:latin typeface="Calibri" pitchFamily="34" charset="0"/>
                    <a:cs typeface="Calibri" pitchFamily="34" charset="0"/>
                  </a:rPr>
                  <a:t>.</a:t>
                </a:r>
                <a:endParaRPr lang="en-US" sz="1900"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3"/>
                <a:stretch>
                  <a:fillRect t="-674" r="-667" b="-270"/>
                </a:stretch>
              </a:blipFill>
            </p:spPr>
            <p:txBody>
              <a:bodyPr/>
              <a:lstStyle/>
              <a:p>
                <a:r>
                  <a:rPr lang="en-US">
                    <a:noFill/>
                  </a:rPr>
                  <a:t> </a:t>
                </a:r>
              </a:p>
            </p:txBody>
          </p:sp>
        </mc:Fallback>
      </mc:AlternateContent>
      <p:sp>
        <p:nvSpPr>
          <p:cNvPr id="3" name="Title 2"/>
          <p:cNvSpPr>
            <a:spLocks noGrp="1"/>
          </p:cNvSpPr>
          <p:nvPr>
            <p:ph type="title"/>
          </p:nvPr>
        </p:nvSpPr>
        <p:spPr/>
        <p:txBody>
          <a:bodyPr>
            <a:normAutofit fontScale="90000"/>
          </a:bodyPr>
          <a:lstStyle/>
          <a:p>
            <a:r>
              <a:rPr lang="en-US" dirty="0">
                <a:solidFill>
                  <a:srgbClr val="FF0000"/>
                </a:solidFill>
                <a:effectLst/>
                <a:latin typeface="Calibri" pitchFamily="34" charset="0"/>
                <a:cs typeface="Calibri" pitchFamily="34" charset="0"/>
              </a:rPr>
              <a:t>*</a:t>
            </a:r>
            <a:r>
              <a:rPr lang="en-US" dirty="0" err="1">
                <a:solidFill>
                  <a:srgbClr val="FF0000"/>
                </a:solidFill>
                <a:effectLst/>
                <a:latin typeface="Calibri" pitchFamily="34" charset="0"/>
                <a:cs typeface="Calibri" pitchFamily="34" charset="0"/>
              </a:rPr>
              <a:t>Kiểm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tra</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khác</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trong</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hàm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a:solidFill>
                  <a:srgbClr val="FF0000"/>
                </a:solidFill>
                <a:effectLst/>
                <a:latin typeface="Calibri" pitchFamily="34" charset="0"/>
                <a:cs typeface="Calibri" pitchFamily="34" charset="0"/>
              </a:rPr>
              <a:t>qua </a:t>
            </a:r>
            <a:r>
              <a:rPr lang="en-US" dirty="0" err="1">
                <a:solidFill>
                  <a:srgbClr val="FF0000"/>
                </a:solidFill>
                <a:effectLst/>
                <a:latin typeface="Calibri" pitchFamily="34" charset="0"/>
                <a:cs typeface="Calibri" pitchFamily="34" charset="0"/>
              </a:rPr>
              <a:t>nhóm</a:t>
            </a:r>
            <a:r>
              <a:rPr lang="en-US" dirty="0">
                <a:solidFill>
                  <a:srgbClr val="FF0000"/>
                </a:solidFill>
                <a:effectLst/>
                <a:latin typeface="Calibri" pitchFamily="34" charset="0"/>
                <a:cs typeface="Calibri" pitchFamily="34" charset="0"/>
              </a:rPr>
              <a:t>:</a:t>
            </a:r>
            <a:endParaRPr lang="en-US" dirty="0">
              <a:solidFill>
                <a:srgbClr val="FF0000"/>
              </a:solidFill>
            </a:endParaRP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1861817"/>
            <a:ext cx="2628900" cy="35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0684" y="2189190"/>
            <a:ext cx="25622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661" y="2986741"/>
            <a:ext cx="490537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6423" y="4015112"/>
            <a:ext cx="48958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1098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481328"/>
                <a:ext cx="8229600" cy="4683976"/>
              </a:xfrm>
            </p:spPr>
            <p:txBody>
              <a:bodyPr/>
              <a:lstStyle/>
              <a:p>
                <a:pPr algn="just"/>
                <a:r>
                  <a:rPr lang="en-US" sz="1900" dirty="0" smtClean="0">
                    <a:latin typeface="Calibri" pitchFamily="34" charset="0"/>
                    <a:cs typeface="Calibri" pitchFamily="34" charset="0"/>
                  </a:rPr>
                  <a:t>Giai</a:t>
                </a:r>
                <a:r>
                  <a:rPr lang="en-US" sz="1900" dirty="0">
                    <a:latin typeface="Calibri" pitchFamily="34" charset="0"/>
                    <a:cs typeface="Calibri" pitchFamily="34" charset="0"/>
                  </a:rPr>
                  <a:t> </a:t>
                </a:r>
                <a:r>
                  <a:rPr lang="en-US" sz="1900" dirty="0" err="1">
                    <a:latin typeface="Calibri" pitchFamily="34" charset="0"/>
                    <a:cs typeface="Calibri" pitchFamily="34" charset="0"/>
                  </a:rPr>
                  <a:t>đoạn</a:t>
                </a:r>
                <a:r>
                  <a:rPr lang="en-US" sz="1900" dirty="0">
                    <a:latin typeface="Calibri" pitchFamily="34" charset="0"/>
                    <a:cs typeface="Calibri" pitchFamily="34" charset="0"/>
                  </a:rPr>
                  <a:t> </a:t>
                </a:r>
                <a:r>
                  <a:rPr lang="en-US" sz="1900" dirty="0" smtClean="0">
                    <a:latin typeface="Calibri" pitchFamily="34" charset="0"/>
                    <a:cs typeface="Calibri" pitchFamily="34" charset="0"/>
                  </a:rPr>
                  <a:t>1: </a:t>
                </a:r>
                <a:r>
                  <a:rPr lang="en-US" sz="1900" dirty="0" err="1" smtClean="0">
                    <a:latin typeface="Calibri" pitchFamily="34" charset="0"/>
                    <a:cs typeface="Calibri" pitchFamily="34" charset="0"/>
                  </a:rPr>
                  <a:t>Thời</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kì</a:t>
                </a:r>
                <a:r>
                  <a:rPr lang="en-US" sz="1900" dirty="0" smtClean="0">
                    <a:latin typeface="Calibri" pitchFamily="34" charset="0"/>
                    <a:cs typeface="Calibri" pitchFamily="34" charset="0"/>
                  </a:rPr>
                  <a:t> 1970 </a:t>
                </a:r>
                <a:r>
                  <a:rPr lang="en-US" sz="1900" dirty="0">
                    <a:latin typeface="Calibri" pitchFamily="34" charset="0"/>
                    <a:cs typeface="Calibri" pitchFamily="34" charset="0"/>
                  </a:rPr>
                  <a:t>– </a:t>
                </a:r>
                <a:r>
                  <a:rPr lang="en-US" sz="1900" dirty="0" smtClean="0">
                    <a:latin typeface="Calibri" pitchFamily="34" charset="0"/>
                    <a:cs typeface="Calibri" pitchFamily="34" charset="0"/>
                  </a:rPr>
                  <a:t>1981</a:t>
                </a:r>
              </a:p>
              <a:p>
                <a:pPr marL="109728" indent="0" algn="just">
                  <a:buNone/>
                </a:pPr>
                <a14:m>
                  <m:oMathPara xmlns:m="http://schemas.openxmlformats.org/officeDocument/2006/math">
                    <m:oMathParaPr>
                      <m:jc m:val="centerGroup"/>
                    </m:oMathParaPr>
                    <m:oMath xmlns:m="http://schemas.openxmlformats.org/officeDocument/2006/math">
                      <m:r>
                        <a:rPr lang="en-US" sz="1900" b="0" i="1" smtClean="0">
                          <a:latin typeface="Cambria Math"/>
                          <a:cs typeface="Calibri" pitchFamily="34" charset="0"/>
                        </a:rPr>
                        <m:t>𝑆𝑎𝑣𝑖𝑛𝑔</m:t>
                      </m:r>
                      <m:r>
                        <a:rPr lang="en-US" sz="1900" b="0" i="1" smtClean="0">
                          <a:latin typeface="Cambria Math"/>
                          <a:cs typeface="Calibri" pitchFamily="34" charset="0"/>
                        </a:rPr>
                        <m:t>=</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𝛼</m:t>
                          </m:r>
                        </m:e>
                        <m:sub>
                          <m:r>
                            <a:rPr lang="en-US" sz="1900" b="0" i="1" smtClean="0">
                              <a:latin typeface="Cambria Math"/>
                              <a:ea typeface="Cambria Math"/>
                              <a:cs typeface="Calibri" pitchFamily="34" charset="0"/>
                            </a:rPr>
                            <m:t>1</m:t>
                          </m:r>
                        </m:sub>
                      </m:sSub>
                      <m:r>
                        <a:rPr lang="en-US" sz="1900" b="0" i="1" smtClean="0">
                          <a:latin typeface="Cambria Math"/>
                          <a:ea typeface="Cambria Math"/>
                          <a:cs typeface="Calibri" pitchFamily="34" charset="0"/>
                        </a:rPr>
                        <m:t>+</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𝛼</m:t>
                          </m:r>
                        </m:e>
                        <m:sub>
                          <m:r>
                            <a:rPr lang="en-US" sz="1900" b="0" i="1" smtClean="0">
                              <a:latin typeface="Cambria Math"/>
                              <a:ea typeface="Cambria Math"/>
                              <a:cs typeface="Calibri" pitchFamily="34" charset="0"/>
                            </a:rPr>
                            <m:t>2</m:t>
                          </m:r>
                        </m:sub>
                      </m:sSub>
                      <m:r>
                        <a:rPr lang="en-US" sz="1900" b="0" i="1" smtClean="0">
                          <a:latin typeface="Cambria Math"/>
                          <a:ea typeface="Cambria Math"/>
                          <a:cs typeface="Calibri" pitchFamily="34" charset="0"/>
                        </a:rPr>
                        <m:t>𝐼𝑛𝑐𝑜𝑚𝑒</m:t>
                      </m:r>
                      <m:r>
                        <a:rPr lang="en-US" sz="1900" b="0" i="1" smtClean="0">
                          <a:latin typeface="Cambria Math"/>
                          <a:ea typeface="Cambria Math"/>
                          <a:cs typeface="Calibri" pitchFamily="34" charset="0"/>
                        </a:rPr>
                        <m:t>+</m:t>
                      </m:r>
                      <m:r>
                        <a:rPr lang="en-US" sz="1900" b="0" i="1" smtClean="0">
                          <a:latin typeface="Cambria Math"/>
                          <a:ea typeface="Cambria Math"/>
                          <a:cs typeface="Calibri" pitchFamily="34" charset="0"/>
                        </a:rPr>
                        <m:t>𝑢</m:t>
                      </m:r>
                    </m:oMath>
                  </m:oMathPara>
                </a14:m>
                <a:endParaRPr lang="en-US" sz="1900" dirty="0" smtClean="0">
                  <a:latin typeface="Calibri" pitchFamily="34" charset="0"/>
                  <a:cs typeface="Calibri" pitchFamily="34" charset="0"/>
                </a:endParaRPr>
              </a:p>
              <a:p>
                <a:pPr marL="109728" indent="0" algn="just">
                  <a:buNone/>
                </a:pPr>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marL="109728" indent="0" algn="just">
                  <a:buNone/>
                </a:pPr>
                <a:endParaRPr lang="en-US" sz="1900" dirty="0">
                  <a:latin typeface="Calibri" pitchFamily="34" charset="0"/>
                  <a:cs typeface="Calibri" pitchFamily="34" charset="0"/>
                </a:endParaRPr>
              </a:p>
              <a:p>
                <a:pPr marL="109728" indent="0" algn="just">
                  <a:buNone/>
                </a:pPr>
                <a14:m>
                  <m:oMathPara xmlns:m="http://schemas.openxmlformats.org/officeDocument/2006/math">
                    <m:oMathParaPr>
                      <m:jc m:val="center"/>
                    </m:oMathParaPr>
                    <m:oMath xmlns:m="http://schemas.openxmlformats.org/officeDocument/2006/math">
                      <m:r>
                        <a:rPr lang="en-US" sz="1900" b="0" i="1" smtClean="0">
                          <a:latin typeface="Cambria Math"/>
                          <a:cs typeface="Calibri" pitchFamily="34" charset="0"/>
                        </a:rPr>
                        <m:t>𝑆𝑎𝑣𝑖𝑛𝑔</m:t>
                      </m:r>
                      <m:r>
                        <a:rPr lang="en-US" sz="1900" b="0" i="1" smtClean="0">
                          <a:latin typeface="Cambria Math"/>
                          <a:cs typeface="Calibri" pitchFamily="34" charset="0"/>
                        </a:rPr>
                        <m:t>=</m:t>
                      </m:r>
                      <m:r>
                        <a:rPr lang="en-US" sz="1900" b="0" i="1" smtClean="0">
                          <a:latin typeface="Cambria Math"/>
                          <a:cs typeface="Calibri" pitchFamily="34" charset="0"/>
                        </a:rPr>
                        <m:t>1</m:t>
                      </m:r>
                      <m:r>
                        <a:rPr lang="en-US" sz="1900" b="0" i="1" smtClean="0">
                          <a:latin typeface="Cambria Math"/>
                          <a:cs typeface="Calibri" pitchFamily="34" charset="0"/>
                        </a:rPr>
                        <m:t>.</m:t>
                      </m:r>
                      <m:r>
                        <a:rPr lang="en-US" sz="1900" b="0" i="1" smtClean="0">
                          <a:latin typeface="Cambria Math"/>
                          <a:cs typeface="Calibri" pitchFamily="34" charset="0"/>
                        </a:rPr>
                        <m:t>016117</m:t>
                      </m:r>
                      <m:r>
                        <a:rPr lang="en-US" sz="1900" b="0" i="1" smtClean="0">
                          <a:latin typeface="Cambria Math"/>
                          <a:cs typeface="Calibri" pitchFamily="34" charset="0"/>
                        </a:rPr>
                        <m:t>+</m:t>
                      </m:r>
                      <m:r>
                        <a:rPr lang="en-US" sz="1900" b="0" i="1" smtClean="0">
                          <a:latin typeface="Cambria Math"/>
                          <a:cs typeface="Calibri" pitchFamily="34" charset="0"/>
                        </a:rPr>
                        <m:t>0</m:t>
                      </m:r>
                      <m:r>
                        <a:rPr lang="en-US" sz="1900" b="0" i="1" smtClean="0">
                          <a:latin typeface="Cambria Math"/>
                          <a:cs typeface="Calibri" pitchFamily="34" charset="0"/>
                        </a:rPr>
                        <m:t>.</m:t>
                      </m:r>
                      <m:r>
                        <a:rPr lang="en-US" sz="1900" b="0" i="1" smtClean="0">
                          <a:latin typeface="Cambria Math"/>
                          <a:cs typeface="Calibri" pitchFamily="34" charset="0"/>
                        </a:rPr>
                        <m:t>080332</m:t>
                      </m:r>
                      <m:r>
                        <a:rPr lang="en-US" sz="1900" b="0" i="1" smtClean="0">
                          <a:latin typeface="Cambria Math"/>
                          <a:cs typeface="Calibri" pitchFamily="34" charset="0"/>
                        </a:rPr>
                        <m:t>𝐼𝑛𝑐𝑜𝑚𝑒</m:t>
                      </m:r>
                      <m:r>
                        <a:rPr lang="en-US" sz="1900" b="0" i="1" smtClean="0">
                          <a:latin typeface="Cambria Math"/>
                          <a:cs typeface="Calibri" pitchFamily="34" charset="0"/>
                        </a:rPr>
                        <m:t>+</m:t>
                      </m:r>
                      <m:r>
                        <a:rPr lang="en-US" sz="1900" b="0" i="1" smtClean="0">
                          <a:latin typeface="Cambria Math"/>
                          <a:cs typeface="Calibri" pitchFamily="34" charset="0"/>
                        </a:rPr>
                        <m:t>𝑢</m:t>
                      </m:r>
                    </m:oMath>
                  </m:oMathPara>
                </a14:m>
                <a:endParaRPr lang="en-US" sz="1900" b="0" dirty="0" smtClean="0">
                  <a:latin typeface="Calibri" pitchFamily="34" charset="0"/>
                  <a:cs typeface="Calibri" pitchFamily="34" charset="0"/>
                </a:endParaRPr>
              </a:p>
              <a:p>
                <a:pPr marL="109728" indent="0" algn="just">
                  <a:buNone/>
                </a:pPr>
                <a14:m>
                  <m:oMathPara xmlns:m="http://schemas.openxmlformats.org/officeDocument/2006/math">
                    <m:oMathParaPr>
                      <m:jc m:val="center"/>
                    </m:oMathParaPr>
                    <m:oMath xmlns:m="http://schemas.openxmlformats.org/officeDocument/2006/math">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1</m:t>
                          </m:r>
                        </m:sub>
                      </m:sSub>
                      <m:r>
                        <a:rPr lang="en-US" sz="1900" b="0" i="1" smtClean="0">
                          <a:latin typeface="Cambria Math"/>
                          <a:cs typeface="Calibri" pitchFamily="34" charset="0"/>
                        </a:rPr>
                        <m:t>=</m:t>
                      </m:r>
                      <m:r>
                        <a:rPr lang="en-US" sz="1900" b="0" i="1" smtClean="0">
                          <a:latin typeface="Cambria Math"/>
                          <a:cs typeface="Calibri" pitchFamily="34" charset="0"/>
                        </a:rPr>
                        <m:t>1785</m:t>
                      </m:r>
                      <m:r>
                        <a:rPr lang="en-US" sz="1900" b="0" i="1" smtClean="0">
                          <a:latin typeface="Cambria Math"/>
                          <a:cs typeface="Calibri" pitchFamily="34" charset="0"/>
                        </a:rPr>
                        <m:t>.</m:t>
                      </m:r>
                      <m:r>
                        <a:rPr lang="en-US" sz="1900" b="0" i="1" smtClean="0">
                          <a:latin typeface="Cambria Math"/>
                          <a:cs typeface="Calibri" pitchFamily="34" charset="0"/>
                        </a:rPr>
                        <m:t>032</m:t>
                      </m:r>
                    </m:oMath>
                  </m:oMathPara>
                </a14:m>
                <a:endParaRPr lang="en-US" sz="1900" dirty="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481328"/>
                <a:ext cx="8229600" cy="4683976"/>
              </a:xfrm>
              <a:blipFill rotWithShape="1">
                <a:blip r:embed="rId4"/>
                <a:stretch>
                  <a:fillRect t="-651"/>
                </a:stretch>
              </a:blipFill>
            </p:spPr>
            <p:txBody>
              <a:bodyPr/>
              <a:lstStyle/>
              <a:p>
                <a:r>
                  <a:rPr lang="en-US">
                    <a:noFill/>
                  </a:rPr>
                  <a:t> </a:t>
                </a:r>
              </a:p>
            </p:txBody>
          </p:sp>
        </mc:Fallback>
      </mc:AlternateContent>
      <p:sp>
        <p:nvSpPr>
          <p:cNvPr id="3" name="Title 2"/>
          <p:cNvSpPr>
            <a:spLocks noGrp="1"/>
          </p:cNvSpPr>
          <p:nvPr>
            <p:ph type="title"/>
          </p:nvPr>
        </p:nvSpPr>
        <p:spPr/>
        <p:txBody>
          <a:bodyPr>
            <a:normAutofit fontScale="90000"/>
          </a:bodyPr>
          <a:lstStyle/>
          <a:p>
            <a:r>
              <a:rPr lang="en-US" dirty="0">
                <a:solidFill>
                  <a:srgbClr val="FF0000"/>
                </a:solidFill>
                <a:effectLst/>
                <a:latin typeface="Calibri" pitchFamily="34" charset="0"/>
                <a:cs typeface="Calibri" pitchFamily="34" charset="0"/>
              </a:rPr>
              <a:t>*</a:t>
            </a:r>
            <a:r>
              <a:rPr lang="en-US" dirty="0" err="1">
                <a:solidFill>
                  <a:srgbClr val="FF0000"/>
                </a:solidFill>
                <a:effectLst/>
                <a:latin typeface="Calibri" pitchFamily="34" charset="0"/>
                <a:cs typeface="Calibri" pitchFamily="34" charset="0"/>
              </a:rPr>
              <a:t>Kiểm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tra</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khác</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trong</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hàm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a:solidFill>
                  <a:srgbClr val="FF0000"/>
                </a:solidFill>
                <a:effectLst/>
                <a:latin typeface="Calibri" pitchFamily="34" charset="0"/>
                <a:cs typeface="Calibri" pitchFamily="34" charset="0"/>
              </a:rPr>
              <a:t>qua </a:t>
            </a:r>
            <a:r>
              <a:rPr lang="en-US" dirty="0" err="1">
                <a:solidFill>
                  <a:srgbClr val="FF0000"/>
                </a:solidFill>
                <a:effectLst/>
                <a:latin typeface="Calibri" pitchFamily="34" charset="0"/>
                <a:cs typeface="Calibri" pitchFamily="34" charset="0"/>
              </a:rPr>
              <a:t>nhóm</a:t>
            </a:r>
            <a:r>
              <a:rPr lang="en-US" dirty="0">
                <a:solidFill>
                  <a:srgbClr val="FF0000"/>
                </a:solidFill>
                <a:effectLst/>
                <a:latin typeface="Calibri" pitchFamily="34" charset="0"/>
                <a:cs typeface="Calibri" pitchFamily="34" charset="0"/>
              </a:rPr>
              <a:t>:</a:t>
            </a:r>
            <a:endParaRPr lang="en-US" dirty="0">
              <a:solidFill>
                <a:srgbClr val="FF0000"/>
              </a:solidFill>
            </a:endParaRPr>
          </a:p>
        </p:txBody>
      </p:sp>
      <p:graphicFrame>
        <p:nvGraphicFramePr>
          <p:cNvPr id="6" name="Object 5"/>
          <p:cNvGraphicFramePr>
            <a:graphicFrameLocks noChangeAspect="1"/>
          </p:cNvGraphicFramePr>
          <p:nvPr/>
        </p:nvGraphicFramePr>
        <p:xfrm>
          <a:off x="2498725" y="3806825"/>
          <a:ext cx="114300" cy="180975"/>
        </p:xfrm>
        <a:graphic>
          <a:graphicData uri="http://schemas.openxmlformats.org/presentationml/2006/ole">
            <mc:AlternateContent xmlns:mc="http://schemas.openxmlformats.org/markup-compatibility/2006">
              <mc:Choice xmlns:v="urn:schemas-microsoft-com:vml" Requires="v">
                <p:oleObj spid="_x0000_s6200" r:id="rId5" imgW="114102" imgH="177492" progId="Equation.DSMT4">
                  <p:embed/>
                </p:oleObj>
              </mc:Choice>
              <mc:Fallback>
                <p:oleObj r:id="rId5" imgW="114102" imgH="177492"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8725" y="3806825"/>
                        <a:ext cx="114300" cy="18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5"/>
          <p:cNvSpPr>
            <a:spLocks noChangeArrowheads="1"/>
          </p:cNvSpPr>
          <p:nvPr/>
        </p:nvSpPr>
        <p:spPr bwMode="auto">
          <a:xfrm>
            <a:off x="2498725" y="398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smtClean="0">
                <a:ln>
                  <a:noFill/>
                </a:ln>
                <a:solidFill>
                  <a:schemeClr val="tx1"/>
                </a:solidFill>
                <a:effectLst/>
                <a:latin typeface="Arial" pitchFamily="34" charset="0"/>
                <a:ea typeface="Calibri"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023576920"/>
              </p:ext>
            </p:extLst>
          </p:nvPr>
        </p:nvGraphicFramePr>
        <p:xfrm>
          <a:off x="827583" y="2132849"/>
          <a:ext cx="7758293" cy="3251835"/>
        </p:xfrm>
        <a:graphic>
          <a:graphicData uri="http://schemas.openxmlformats.org/drawingml/2006/table">
            <a:tbl>
              <a:tblPr>
                <a:tableStyleId>{5C22544A-7EE6-4342-B048-85BDC9FD1C3A}</a:tableStyleId>
              </a:tblPr>
              <a:tblGrid>
                <a:gridCol w="2395664"/>
                <a:gridCol w="1310073"/>
                <a:gridCol w="1433598"/>
                <a:gridCol w="1434785"/>
                <a:gridCol w="1184173"/>
              </a:tblGrid>
              <a:tr h="216789">
                <a:tc gridSpan="3">
                  <a:txBody>
                    <a:bodyPr/>
                    <a:lstStyle/>
                    <a:p>
                      <a:pPr marL="0" marR="0">
                        <a:lnSpc>
                          <a:spcPct val="115000"/>
                        </a:lnSpc>
                        <a:spcBef>
                          <a:spcPts val="0"/>
                        </a:spcBef>
                        <a:spcAft>
                          <a:spcPts val="0"/>
                        </a:spcAft>
                      </a:pPr>
                      <a:r>
                        <a:rPr lang="en-US" sz="1100" dirty="0">
                          <a:effectLst/>
                        </a:rPr>
                        <a:t>Dependent Variable: SAV</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16789">
                <a:tc gridSpan="3">
                  <a:txBody>
                    <a:bodyPr/>
                    <a:lstStyle/>
                    <a:p>
                      <a:pPr marL="0" marR="0">
                        <a:lnSpc>
                          <a:spcPct val="115000"/>
                        </a:lnSpc>
                        <a:spcBef>
                          <a:spcPts val="0"/>
                        </a:spcBef>
                        <a:spcAft>
                          <a:spcPts val="0"/>
                        </a:spcAft>
                      </a:pPr>
                      <a:r>
                        <a:rPr lang="en-US" sz="1100" dirty="0">
                          <a:effectLst/>
                        </a:rPr>
                        <a:t>Method: Least Squares</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16789">
                <a:tc gridSpan="3">
                  <a:txBody>
                    <a:bodyPr/>
                    <a:lstStyle/>
                    <a:p>
                      <a:pPr marL="0" marR="0">
                        <a:lnSpc>
                          <a:spcPct val="115000"/>
                        </a:lnSpc>
                        <a:spcBef>
                          <a:spcPts val="0"/>
                        </a:spcBef>
                        <a:spcAft>
                          <a:spcPts val="0"/>
                        </a:spcAft>
                      </a:pPr>
                      <a:r>
                        <a:rPr lang="en-US" sz="1100" dirty="0">
                          <a:effectLst/>
                        </a:rPr>
                        <a:t>Date: 12/12/18   Time: 17:54</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16789">
                <a:tc gridSpan="3">
                  <a:txBody>
                    <a:bodyPr/>
                    <a:lstStyle/>
                    <a:p>
                      <a:pPr marL="0" marR="0">
                        <a:lnSpc>
                          <a:spcPct val="115000"/>
                        </a:lnSpc>
                        <a:spcBef>
                          <a:spcPts val="0"/>
                        </a:spcBef>
                        <a:spcAft>
                          <a:spcPts val="0"/>
                        </a:spcAft>
                      </a:pPr>
                      <a:r>
                        <a:rPr lang="en-US" sz="1100" dirty="0">
                          <a:effectLst/>
                        </a:rPr>
                        <a:t>Sample: 1970 1981</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16789">
                <a:tc gridSpan="3">
                  <a:txBody>
                    <a:bodyPr/>
                    <a:lstStyle/>
                    <a:p>
                      <a:pPr marL="0" marR="0">
                        <a:lnSpc>
                          <a:spcPct val="115000"/>
                        </a:lnSpc>
                        <a:spcBef>
                          <a:spcPts val="0"/>
                        </a:spcBef>
                        <a:spcAft>
                          <a:spcPts val="0"/>
                        </a:spcAft>
                      </a:pPr>
                      <a:r>
                        <a:rPr lang="en-US" sz="1100" dirty="0">
                          <a:effectLst/>
                        </a:rPr>
                        <a:t>Included observations: 12</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16789">
                <a:tc>
                  <a:txBody>
                    <a:bodyPr/>
                    <a:lstStyle/>
                    <a:p>
                      <a:pPr marL="0" marR="0" algn="ctr">
                        <a:lnSpc>
                          <a:spcPct val="115000"/>
                        </a:lnSpc>
                        <a:spcBef>
                          <a:spcPts val="0"/>
                        </a:spcBef>
                        <a:spcAft>
                          <a:spcPts val="0"/>
                        </a:spcAft>
                      </a:pPr>
                      <a:r>
                        <a:rPr lang="en-US" sz="1100" dirty="0">
                          <a:effectLst/>
                        </a:rPr>
                        <a:t>Variable</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Coefficient</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Std. Error</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t-Statistic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Prob.  </a:t>
                      </a:r>
                      <a:endParaRPr lang="en-US" sz="1600">
                        <a:effectLst/>
                        <a:latin typeface="Calibri"/>
                        <a:ea typeface="Calibri"/>
                        <a:cs typeface="Times New Roman"/>
                      </a:endParaRPr>
                    </a:p>
                  </a:txBody>
                  <a:tcPr marL="0" marR="0" marT="0" marB="0" anchor="b"/>
                </a:tc>
              </a:tr>
              <a:tr h="216789">
                <a:tc>
                  <a:txBody>
                    <a:bodyPr/>
                    <a:lstStyle/>
                    <a:p>
                      <a:pPr marL="0" marR="0" algn="ctr">
                        <a:lnSpc>
                          <a:spcPct val="115000"/>
                        </a:lnSpc>
                        <a:spcBef>
                          <a:spcPts val="0"/>
                        </a:spcBef>
                        <a:spcAft>
                          <a:spcPts val="0"/>
                        </a:spcAft>
                      </a:pPr>
                      <a:r>
                        <a:rPr lang="en-US" sz="1100" dirty="0">
                          <a:effectLst/>
                        </a:rPr>
                        <a:t>C</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1.016117</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11.63771</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0.087313</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0.9321</a:t>
                      </a:r>
                      <a:endParaRPr lang="en-US" sz="1600">
                        <a:effectLst/>
                        <a:latin typeface="Calibri"/>
                        <a:ea typeface="Calibri"/>
                        <a:cs typeface="Times New Roman"/>
                      </a:endParaRPr>
                    </a:p>
                  </a:txBody>
                  <a:tcPr marL="0" marR="0" marT="0" marB="0" anchor="b"/>
                </a:tc>
              </a:tr>
              <a:tr h="216789">
                <a:tc>
                  <a:txBody>
                    <a:bodyPr/>
                    <a:lstStyle/>
                    <a:p>
                      <a:pPr marL="0" marR="0" algn="ctr">
                        <a:lnSpc>
                          <a:spcPct val="115000"/>
                        </a:lnSpc>
                        <a:spcBef>
                          <a:spcPts val="0"/>
                        </a:spcBef>
                        <a:spcAft>
                          <a:spcPts val="0"/>
                        </a:spcAft>
                      </a:pPr>
                      <a:r>
                        <a:rPr lang="en-US" sz="1100">
                          <a:effectLst/>
                        </a:rPr>
                        <a:t>INC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0.080332</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0.008367</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9.601576</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0.0000</a:t>
                      </a:r>
                      <a:endParaRPr lang="en-US" sz="160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dirty="0">
                          <a:effectLst/>
                        </a:rPr>
                        <a:t>R-squared</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0.902143</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dirty="0">
                          <a:effectLst/>
                        </a:rPr>
                        <a:t>    Mean dependent </a:t>
                      </a:r>
                      <a:r>
                        <a:rPr lang="en-US" sz="1100" dirty="0" err="1">
                          <a:effectLst/>
                        </a:rPr>
                        <a:t>var</a:t>
                      </a:r>
                      <a:endParaRPr lang="en-US" sz="1600" dirty="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106.4417</a:t>
                      </a:r>
                      <a:endParaRPr lang="en-US" sz="1600" dirty="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a:effectLst/>
                        </a:rPr>
                        <a:t>Adjusted R-squared</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0.892358</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S.D. dependent var</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40.72222</a:t>
                      </a:r>
                      <a:endParaRPr lang="en-US" sz="1600" dirty="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a:effectLst/>
                        </a:rPr>
                        <a:t>S.E. of regression</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13.36051</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Akaike info criterion</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a:effectLst/>
                        </a:rPr>
                        <a:t>8.173495</a:t>
                      </a:r>
                      <a:endParaRPr lang="en-US" sz="160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a:effectLst/>
                        </a:rPr>
                        <a:t>Sum squared resid</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1785.032</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Schwarz criterion</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8.254313</a:t>
                      </a:r>
                      <a:endParaRPr lang="en-US" sz="1600" dirty="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a:effectLst/>
                        </a:rPr>
                        <a:t>Log likelihood</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-47.04097</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Hannan-Quinn criter.</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8.143574</a:t>
                      </a:r>
                      <a:endParaRPr lang="en-US" sz="1600" dirty="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a:effectLst/>
                        </a:rPr>
                        <a:t>F-statistic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92.19026</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Durbin-Watson stat</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0.864230</a:t>
                      </a:r>
                      <a:endParaRPr lang="en-US" sz="1600" dirty="0">
                        <a:effectLst/>
                        <a:latin typeface="Calibri"/>
                        <a:ea typeface="Calibri"/>
                        <a:cs typeface="Times New Roman"/>
                      </a:endParaRPr>
                    </a:p>
                  </a:txBody>
                  <a:tcPr marL="0" marR="0" marT="0" marB="0" anchor="b"/>
                </a:tc>
              </a:tr>
              <a:tr h="216789">
                <a:tc>
                  <a:txBody>
                    <a:bodyPr/>
                    <a:lstStyle/>
                    <a:p>
                      <a:pPr marL="0" marR="0">
                        <a:lnSpc>
                          <a:spcPct val="115000"/>
                        </a:lnSpc>
                        <a:spcBef>
                          <a:spcPts val="0"/>
                        </a:spcBef>
                        <a:spcAft>
                          <a:spcPts val="0"/>
                        </a:spcAft>
                      </a:pPr>
                      <a:r>
                        <a:rPr lang="en-US" sz="1100">
                          <a:effectLst/>
                        </a:rPr>
                        <a:t>Prob(F-statistic)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0.000002</a:t>
                      </a:r>
                      <a:endParaRPr lang="en-US" sz="1600" dirty="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r>
            </a:tbl>
          </a:graphicData>
        </a:graphic>
      </p:graphicFrame>
    </p:spTree>
    <p:extLst>
      <p:ext uri="{BB962C8B-B14F-4D97-AF65-F5344CB8AC3E}">
        <p14:creationId xmlns:p14="http://schemas.microsoft.com/office/powerpoint/2010/main" val="802031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368594"/>
                <a:ext cx="8229600" cy="4724702"/>
              </a:xfrm>
            </p:spPr>
            <p:txBody>
              <a:bodyPr>
                <a:normAutofit/>
              </a:bodyPr>
              <a:lstStyle/>
              <a:p>
                <a:pPr algn="just"/>
                <a:r>
                  <a:rPr lang="en-US" sz="1900" dirty="0" smtClean="0">
                    <a:latin typeface="Calibri" pitchFamily="34" charset="0"/>
                    <a:cs typeface="Calibri" pitchFamily="34" charset="0"/>
                  </a:rPr>
                  <a:t>Giai</a:t>
                </a:r>
                <a:r>
                  <a:rPr lang="en-US" sz="1900" dirty="0">
                    <a:latin typeface="Calibri" pitchFamily="34" charset="0"/>
                    <a:cs typeface="Calibri" pitchFamily="34" charset="0"/>
                  </a:rPr>
                  <a:t> </a:t>
                </a:r>
                <a:r>
                  <a:rPr lang="en-US" sz="1900" dirty="0" err="1">
                    <a:latin typeface="Calibri" pitchFamily="34" charset="0"/>
                    <a:cs typeface="Calibri" pitchFamily="34" charset="0"/>
                  </a:rPr>
                  <a:t>đoạn</a:t>
                </a:r>
                <a:r>
                  <a:rPr lang="en-US" sz="1900" dirty="0">
                    <a:latin typeface="Calibri" pitchFamily="34" charset="0"/>
                    <a:cs typeface="Calibri" pitchFamily="34" charset="0"/>
                  </a:rPr>
                  <a:t> 2</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Thời</a:t>
                </a:r>
                <a:r>
                  <a:rPr lang="en-US" sz="1900" dirty="0">
                    <a:latin typeface="Calibri" pitchFamily="34" charset="0"/>
                    <a:cs typeface="Calibri" pitchFamily="34" charset="0"/>
                  </a:rPr>
                  <a:t> </a:t>
                </a:r>
                <a:r>
                  <a:rPr lang="en-US" sz="1900" dirty="0" err="1" smtClean="0">
                    <a:latin typeface="Calibri" pitchFamily="34" charset="0"/>
                    <a:cs typeface="Calibri" pitchFamily="34" charset="0"/>
                  </a:rPr>
                  <a:t>kì</a:t>
                </a:r>
                <a:r>
                  <a:rPr lang="en-US" sz="1900" dirty="0" smtClean="0">
                    <a:latin typeface="Calibri" pitchFamily="34" charset="0"/>
                    <a:cs typeface="Calibri" pitchFamily="34" charset="0"/>
                  </a:rPr>
                  <a:t> 1982-1995</a:t>
                </a: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marL="109728" indent="0" algn="just">
                  <a:buNone/>
                </a:pPr>
                <a:endParaRPr lang="en-US" sz="1900" b="0" i="1" dirty="0" smtClean="0">
                  <a:latin typeface="Cambria Math"/>
                  <a:cs typeface="Calibri" pitchFamily="34" charset="0"/>
                </a:endParaRPr>
              </a:p>
              <a:p>
                <a:pPr marL="109728" indent="0" algn="just">
                  <a:buNone/>
                </a:pPr>
                <a14:m>
                  <m:oMathPara xmlns:m="http://schemas.openxmlformats.org/officeDocument/2006/math">
                    <m:oMathParaPr>
                      <m:jc m:val="center"/>
                    </m:oMathParaPr>
                    <m:oMath xmlns:m="http://schemas.openxmlformats.org/officeDocument/2006/math">
                      <m:r>
                        <a:rPr lang="en-US" sz="1900" b="0" i="1" smtClean="0">
                          <a:latin typeface="Cambria Math"/>
                          <a:cs typeface="Calibri" pitchFamily="34" charset="0"/>
                        </a:rPr>
                        <m:t>𝑆𝑎𝑣𝑖𝑛𝑔</m:t>
                      </m:r>
                      <m:r>
                        <a:rPr lang="en-US" sz="1900" b="0" i="1" smtClean="0">
                          <a:latin typeface="Cambria Math"/>
                          <a:cs typeface="Calibri" pitchFamily="34" charset="0"/>
                        </a:rPr>
                        <m:t>=</m:t>
                      </m:r>
                      <m:r>
                        <a:rPr lang="en-US" sz="1900" b="0" i="1" smtClean="0">
                          <a:latin typeface="Cambria Math"/>
                          <a:cs typeface="Calibri" pitchFamily="34" charset="0"/>
                        </a:rPr>
                        <m:t>153</m:t>
                      </m:r>
                      <m:r>
                        <a:rPr lang="en-US" sz="1900" b="0" i="1" smtClean="0">
                          <a:latin typeface="Cambria Math"/>
                          <a:cs typeface="Calibri" pitchFamily="34" charset="0"/>
                        </a:rPr>
                        <m:t>.</m:t>
                      </m:r>
                      <m:r>
                        <a:rPr lang="en-US" sz="1900" b="0" i="1" smtClean="0">
                          <a:latin typeface="Cambria Math"/>
                          <a:cs typeface="Calibri" pitchFamily="34" charset="0"/>
                        </a:rPr>
                        <m:t>4947</m:t>
                      </m:r>
                      <m:r>
                        <a:rPr lang="en-US" sz="1900" b="0" i="1" smtClean="0">
                          <a:latin typeface="Cambria Math"/>
                          <a:cs typeface="Calibri" pitchFamily="34" charset="0"/>
                        </a:rPr>
                        <m:t>+</m:t>
                      </m:r>
                      <m:r>
                        <a:rPr lang="en-US" sz="1900" b="0" i="1" smtClean="0">
                          <a:latin typeface="Cambria Math"/>
                          <a:cs typeface="Calibri" pitchFamily="34" charset="0"/>
                        </a:rPr>
                        <m:t>0</m:t>
                      </m:r>
                      <m:r>
                        <a:rPr lang="en-US" sz="1900" b="0" i="1" smtClean="0">
                          <a:latin typeface="Cambria Math"/>
                          <a:cs typeface="Calibri" pitchFamily="34" charset="0"/>
                        </a:rPr>
                        <m:t>.</m:t>
                      </m:r>
                      <m:r>
                        <a:rPr lang="en-US" sz="1900" b="0" i="1" smtClean="0">
                          <a:latin typeface="Cambria Math"/>
                          <a:cs typeface="Calibri" pitchFamily="34" charset="0"/>
                        </a:rPr>
                        <m:t>014862</m:t>
                      </m:r>
                      <m:r>
                        <a:rPr lang="en-US" sz="1900" b="0" i="1" smtClean="0">
                          <a:latin typeface="Cambria Math"/>
                          <a:cs typeface="Calibri" pitchFamily="34" charset="0"/>
                        </a:rPr>
                        <m:t>𝐼𝑛𝑐𝑜𝑚𝑒</m:t>
                      </m:r>
                      <m:r>
                        <a:rPr lang="en-US" sz="1900" b="0" i="1" smtClean="0">
                          <a:latin typeface="Cambria Math"/>
                          <a:cs typeface="Calibri" pitchFamily="34" charset="0"/>
                        </a:rPr>
                        <m:t>+</m:t>
                      </m:r>
                      <m:r>
                        <a:rPr lang="en-US" sz="1900" b="0" i="1" smtClean="0">
                          <a:latin typeface="Cambria Math"/>
                          <a:cs typeface="Calibri" pitchFamily="34" charset="0"/>
                        </a:rPr>
                        <m:t>𝑢</m:t>
                      </m:r>
                    </m:oMath>
                  </m:oMathPara>
                </a14:m>
                <a:endParaRPr lang="en-US" sz="1900" b="0" dirty="0" smtClean="0">
                  <a:latin typeface="Calibri" pitchFamily="34" charset="0"/>
                  <a:cs typeface="Calibri" pitchFamily="34" charset="0"/>
                </a:endParaRPr>
              </a:p>
              <a:p>
                <a:pPr marL="109728" indent="0" algn="just">
                  <a:buNone/>
                </a:pPr>
                <a14:m>
                  <m:oMathPara xmlns:m="http://schemas.openxmlformats.org/officeDocument/2006/math">
                    <m:oMathParaPr>
                      <m:jc m:val="center"/>
                    </m:oMathParaPr>
                    <m:oMath xmlns:m="http://schemas.openxmlformats.org/officeDocument/2006/math">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2</m:t>
                          </m:r>
                        </m:sub>
                      </m:sSub>
                      <m:r>
                        <a:rPr lang="en-US" sz="1900" b="0" i="1" smtClean="0">
                          <a:latin typeface="Cambria Math"/>
                          <a:cs typeface="Calibri" pitchFamily="34" charset="0"/>
                        </a:rPr>
                        <m:t>=</m:t>
                      </m:r>
                      <m:r>
                        <a:rPr lang="en-US" sz="1900" b="0" i="1" smtClean="0">
                          <a:latin typeface="Cambria Math"/>
                          <a:cs typeface="Calibri" pitchFamily="34" charset="0"/>
                        </a:rPr>
                        <m:t>10005</m:t>
                      </m:r>
                      <m:r>
                        <a:rPr lang="en-US" sz="1900" b="0" i="1" smtClean="0">
                          <a:latin typeface="Cambria Math"/>
                          <a:cs typeface="Calibri" pitchFamily="34" charset="0"/>
                        </a:rPr>
                        <m:t>.</m:t>
                      </m:r>
                      <m:r>
                        <a:rPr lang="en-US" sz="1900" b="0" i="1" smtClean="0">
                          <a:latin typeface="Cambria Math"/>
                          <a:cs typeface="Calibri" pitchFamily="34" charset="0"/>
                        </a:rPr>
                        <m:t>22</m:t>
                      </m:r>
                    </m:oMath>
                  </m:oMathPara>
                </a14:m>
                <a:endParaRPr lang="en-US" sz="1900" dirty="0">
                  <a:latin typeface="Calibri" pitchFamily="34" charset="0"/>
                  <a:cs typeface="Calibri" pitchFamily="34" charset="0"/>
                </a:endParaRPr>
              </a:p>
              <a:p>
                <a:endParaRPr lang="en-US" dirty="0"/>
              </a:p>
              <a:p>
                <a:endParaRPr lang="en-US" dirty="0" smtClean="0"/>
              </a:p>
              <a:p>
                <a:endParaRPr lang="en-US" dirty="0"/>
              </a:p>
              <a:p>
                <a:endParaRPr lang="en-US" dirty="0" smtClean="0"/>
              </a:p>
              <a:p>
                <a:endParaRPr lang="en-US" dirty="0"/>
              </a:p>
              <a:p>
                <a:pPr marL="109728" indent="0">
                  <a:buNone/>
                </a:pPr>
                <a:endParaRPr lang="en-US" dirty="0" smtClean="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368594"/>
                <a:ext cx="8229600" cy="4724702"/>
              </a:xfrm>
              <a:blipFill rotWithShape="1">
                <a:blip r:embed="rId2"/>
                <a:stretch>
                  <a:fillRect t="-645"/>
                </a:stretch>
              </a:blipFill>
            </p:spPr>
            <p:txBody>
              <a:bodyPr/>
              <a:lstStyle/>
              <a:p>
                <a:r>
                  <a:rPr lang="en-US">
                    <a:noFill/>
                  </a:rPr>
                  <a:t> </a:t>
                </a:r>
              </a:p>
            </p:txBody>
          </p:sp>
        </mc:Fallback>
      </mc:AlternateContent>
      <p:sp>
        <p:nvSpPr>
          <p:cNvPr id="3" name="Title 2"/>
          <p:cNvSpPr>
            <a:spLocks noGrp="1"/>
          </p:cNvSpPr>
          <p:nvPr>
            <p:ph type="title"/>
          </p:nvPr>
        </p:nvSpPr>
        <p:spPr>
          <a:xfrm>
            <a:off x="457200" y="224534"/>
            <a:ext cx="8229600" cy="1143000"/>
          </a:xfrm>
        </p:spPr>
        <p:txBody>
          <a:bodyPr>
            <a:normAutofit fontScale="90000"/>
          </a:bodyPr>
          <a:lstStyle/>
          <a:p>
            <a:r>
              <a:rPr lang="en-US" dirty="0">
                <a:solidFill>
                  <a:srgbClr val="FF0000"/>
                </a:solidFill>
                <a:effectLst/>
                <a:latin typeface="Calibri" pitchFamily="34" charset="0"/>
                <a:cs typeface="Calibri" pitchFamily="34" charset="0"/>
              </a:rPr>
              <a:t>*</a:t>
            </a:r>
            <a:r>
              <a:rPr lang="en-US" dirty="0" err="1">
                <a:solidFill>
                  <a:srgbClr val="FF0000"/>
                </a:solidFill>
                <a:effectLst/>
                <a:latin typeface="Calibri" pitchFamily="34" charset="0"/>
                <a:cs typeface="Calibri" pitchFamily="34" charset="0"/>
              </a:rPr>
              <a:t>Kiểm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tra</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khác</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trong</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hàm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a:solidFill>
                  <a:srgbClr val="FF0000"/>
                </a:solidFill>
                <a:effectLst/>
                <a:latin typeface="Calibri" pitchFamily="34" charset="0"/>
                <a:cs typeface="Calibri" pitchFamily="34" charset="0"/>
              </a:rPr>
              <a:t>qua </a:t>
            </a:r>
            <a:r>
              <a:rPr lang="en-US" dirty="0" err="1">
                <a:solidFill>
                  <a:srgbClr val="FF0000"/>
                </a:solidFill>
                <a:effectLst/>
                <a:latin typeface="Calibri" pitchFamily="34" charset="0"/>
                <a:cs typeface="Calibri" pitchFamily="34" charset="0"/>
              </a:rPr>
              <a:t>nhóm</a:t>
            </a:r>
            <a:r>
              <a:rPr lang="en-US" dirty="0">
                <a:solidFill>
                  <a:srgbClr val="FF0000"/>
                </a:solidFill>
                <a:effectLst/>
                <a:latin typeface="Calibri" pitchFamily="34" charset="0"/>
                <a:cs typeface="Calibri" pitchFamily="34" charset="0"/>
              </a:rPr>
              <a:t>:</a:t>
            </a:r>
            <a:endParaRPr lang="en-US" dirty="0">
              <a:solidFill>
                <a:srgbClr val="FF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600490635"/>
              </p:ext>
            </p:extLst>
          </p:nvPr>
        </p:nvGraphicFramePr>
        <p:xfrm>
          <a:off x="959074" y="1829150"/>
          <a:ext cx="7560840" cy="3328035"/>
        </p:xfrm>
        <a:graphic>
          <a:graphicData uri="http://schemas.openxmlformats.org/drawingml/2006/table">
            <a:tbl>
              <a:tblPr>
                <a:tableStyleId>{5C22544A-7EE6-4342-B048-85BDC9FD1C3A}</a:tableStyleId>
              </a:tblPr>
              <a:tblGrid>
                <a:gridCol w="2334693"/>
                <a:gridCol w="1276731"/>
                <a:gridCol w="1397112"/>
                <a:gridCol w="1398269"/>
                <a:gridCol w="1154035"/>
              </a:tblGrid>
              <a:tr h="221869">
                <a:tc gridSpan="3">
                  <a:txBody>
                    <a:bodyPr/>
                    <a:lstStyle/>
                    <a:p>
                      <a:pPr marL="0" marR="0">
                        <a:lnSpc>
                          <a:spcPct val="115000"/>
                        </a:lnSpc>
                        <a:spcBef>
                          <a:spcPts val="0"/>
                        </a:spcBef>
                        <a:spcAft>
                          <a:spcPts val="0"/>
                        </a:spcAft>
                      </a:pPr>
                      <a:r>
                        <a:rPr lang="en-US" sz="1100" dirty="0">
                          <a:effectLst/>
                        </a:rPr>
                        <a:t>Dependent Variable: SAV</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r>
              <a:tr h="221869">
                <a:tc gridSpan="3">
                  <a:txBody>
                    <a:bodyPr/>
                    <a:lstStyle/>
                    <a:p>
                      <a:pPr marL="0" marR="0">
                        <a:lnSpc>
                          <a:spcPct val="115000"/>
                        </a:lnSpc>
                        <a:spcBef>
                          <a:spcPts val="0"/>
                        </a:spcBef>
                        <a:spcAft>
                          <a:spcPts val="0"/>
                        </a:spcAft>
                      </a:pPr>
                      <a:r>
                        <a:rPr lang="en-US" sz="1100" dirty="0">
                          <a:effectLst/>
                        </a:rPr>
                        <a:t>Method: Least Squares</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21869">
                <a:tc gridSpan="3">
                  <a:txBody>
                    <a:bodyPr/>
                    <a:lstStyle/>
                    <a:p>
                      <a:pPr marL="0" marR="0">
                        <a:lnSpc>
                          <a:spcPct val="115000"/>
                        </a:lnSpc>
                        <a:spcBef>
                          <a:spcPts val="0"/>
                        </a:spcBef>
                        <a:spcAft>
                          <a:spcPts val="0"/>
                        </a:spcAft>
                      </a:pPr>
                      <a:r>
                        <a:rPr lang="en-US" sz="1100" dirty="0">
                          <a:effectLst/>
                        </a:rPr>
                        <a:t>Date: 12/12/18   Time: 18:00</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21869">
                <a:tc gridSpan="3">
                  <a:txBody>
                    <a:bodyPr/>
                    <a:lstStyle/>
                    <a:p>
                      <a:pPr marL="0" marR="0">
                        <a:lnSpc>
                          <a:spcPct val="115000"/>
                        </a:lnSpc>
                        <a:spcBef>
                          <a:spcPts val="0"/>
                        </a:spcBef>
                        <a:spcAft>
                          <a:spcPts val="0"/>
                        </a:spcAft>
                      </a:pPr>
                      <a:r>
                        <a:rPr lang="en-US" sz="1100" dirty="0">
                          <a:effectLst/>
                        </a:rPr>
                        <a:t>Sample: 1982 1995</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21869">
                <a:tc gridSpan="3">
                  <a:txBody>
                    <a:bodyPr/>
                    <a:lstStyle/>
                    <a:p>
                      <a:pPr marL="0" marR="0">
                        <a:lnSpc>
                          <a:spcPct val="115000"/>
                        </a:lnSpc>
                        <a:spcBef>
                          <a:spcPts val="0"/>
                        </a:spcBef>
                        <a:spcAft>
                          <a:spcPts val="0"/>
                        </a:spcAft>
                      </a:pPr>
                      <a:r>
                        <a:rPr lang="en-US" sz="1100" dirty="0">
                          <a:effectLst/>
                        </a:rPr>
                        <a:t>Included observations: 14</a:t>
                      </a:r>
                      <a:endParaRPr lang="en-US" sz="16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100">
                          <a:effectLst/>
                        </a:rPr>
                        <a:t> </a:t>
                      </a:r>
                      <a:endParaRPr lang="en-US" sz="1600">
                        <a:effectLst/>
                        <a:latin typeface="Calibri"/>
                        <a:ea typeface="Calibri"/>
                        <a:cs typeface="Times New Roman"/>
                      </a:endParaRPr>
                    </a:p>
                  </a:txBody>
                  <a:tcPr marL="0" marR="0" marT="0" marB="0" anchor="b"/>
                </a:tc>
              </a:tr>
              <a:tr h="221869">
                <a:tc>
                  <a:txBody>
                    <a:bodyPr/>
                    <a:lstStyle/>
                    <a:p>
                      <a:pPr marL="0" marR="0" algn="ctr">
                        <a:lnSpc>
                          <a:spcPct val="115000"/>
                        </a:lnSpc>
                        <a:spcBef>
                          <a:spcPts val="0"/>
                        </a:spcBef>
                        <a:spcAft>
                          <a:spcPts val="0"/>
                        </a:spcAft>
                      </a:pPr>
                      <a:r>
                        <a:rPr lang="en-US" sz="1100" dirty="0">
                          <a:effectLst/>
                        </a:rPr>
                        <a:t>Variable</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Coefficient</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Std. Error</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t-Statistic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Prob.  </a:t>
                      </a:r>
                      <a:endParaRPr lang="en-US" sz="1600" dirty="0">
                        <a:effectLst/>
                        <a:latin typeface="Calibri"/>
                        <a:ea typeface="Calibri"/>
                        <a:cs typeface="Times New Roman"/>
                      </a:endParaRPr>
                    </a:p>
                  </a:txBody>
                  <a:tcPr marL="0" marR="0" marT="0" marB="0" anchor="b"/>
                </a:tc>
              </a:tr>
              <a:tr h="221869">
                <a:tc>
                  <a:txBody>
                    <a:bodyPr/>
                    <a:lstStyle/>
                    <a:p>
                      <a:pPr marL="0" marR="0" algn="ctr">
                        <a:lnSpc>
                          <a:spcPct val="115000"/>
                        </a:lnSpc>
                        <a:spcBef>
                          <a:spcPts val="0"/>
                        </a:spcBef>
                        <a:spcAft>
                          <a:spcPts val="0"/>
                        </a:spcAft>
                      </a:pPr>
                      <a:r>
                        <a:rPr lang="en-US" sz="1100" dirty="0">
                          <a:effectLst/>
                        </a:rPr>
                        <a:t>C</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153.4947</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32.71227</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4.692266</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0.0005</a:t>
                      </a:r>
                      <a:endParaRPr lang="en-US" sz="1600" dirty="0">
                        <a:effectLst/>
                        <a:latin typeface="Calibri"/>
                        <a:ea typeface="Calibri"/>
                        <a:cs typeface="Times New Roman"/>
                      </a:endParaRPr>
                    </a:p>
                  </a:txBody>
                  <a:tcPr marL="0" marR="0" marT="0" marB="0" anchor="b"/>
                </a:tc>
              </a:tr>
              <a:tr h="221869">
                <a:tc>
                  <a:txBody>
                    <a:bodyPr/>
                    <a:lstStyle/>
                    <a:p>
                      <a:pPr marL="0" marR="0" algn="ctr">
                        <a:lnSpc>
                          <a:spcPct val="115000"/>
                        </a:lnSpc>
                        <a:spcBef>
                          <a:spcPts val="0"/>
                        </a:spcBef>
                        <a:spcAft>
                          <a:spcPts val="0"/>
                        </a:spcAft>
                      </a:pPr>
                      <a:r>
                        <a:rPr lang="en-US" sz="1100">
                          <a:effectLst/>
                        </a:rPr>
                        <a:t>INC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0.014862</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0.008393</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1.770773</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0.1020</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dirty="0">
                          <a:effectLst/>
                        </a:rPr>
                        <a:t>R-squared</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0.207169</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Mean dependent var</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209.7857</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a:effectLst/>
                        </a:rPr>
                        <a:t>Adjusted R-squared</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0.141100</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S.D. dependent var</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31.15670</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a:effectLst/>
                        </a:rPr>
                        <a:t>S.E. of regression</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28.87505</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Akaike info criterion</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9.695396</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a:effectLst/>
                        </a:rPr>
                        <a:t>Sum squared resid</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10005.22</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Schwarz criterion</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9.786690</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a:effectLst/>
                        </a:rPr>
                        <a:t>Log likelihood</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-65.86777</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Hannan-Quinn criter.</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9.686945</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a:effectLst/>
                        </a:rPr>
                        <a:t>F-statistic</a:t>
                      </a:r>
                      <a:endParaRPr lang="en-US" sz="16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a:effectLst/>
                        </a:rPr>
                        <a:t>3.135639</a:t>
                      </a:r>
                      <a:endParaRPr lang="en-US" sz="16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100">
                          <a:effectLst/>
                        </a:rPr>
                        <a:t>    Durbin-Watson stat</a:t>
                      </a:r>
                      <a:endParaRPr lang="en-US" sz="16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100" dirty="0">
                          <a:effectLst/>
                        </a:rPr>
                        <a:t>1.786588</a:t>
                      </a:r>
                      <a:endParaRPr lang="en-US" sz="1600" dirty="0">
                        <a:effectLst/>
                        <a:latin typeface="Calibri"/>
                        <a:ea typeface="Calibri"/>
                        <a:cs typeface="Times New Roman"/>
                      </a:endParaRPr>
                    </a:p>
                  </a:txBody>
                  <a:tcPr marL="0" marR="0" marT="0" marB="0" anchor="b"/>
                </a:tc>
              </a:tr>
              <a:tr h="221869">
                <a:tc>
                  <a:txBody>
                    <a:bodyPr/>
                    <a:lstStyle/>
                    <a:p>
                      <a:pPr marL="0" marR="0">
                        <a:lnSpc>
                          <a:spcPct val="115000"/>
                        </a:lnSpc>
                        <a:spcBef>
                          <a:spcPts val="0"/>
                        </a:spcBef>
                        <a:spcAft>
                          <a:spcPts val="0"/>
                        </a:spcAft>
                      </a:pPr>
                      <a:r>
                        <a:rPr lang="en-US" sz="1100" dirty="0" err="1">
                          <a:effectLst/>
                        </a:rPr>
                        <a:t>Prob</a:t>
                      </a:r>
                      <a:r>
                        <a:rPr lang="en-US" sz="1100" dirty="0">
                          <a:effectLst/>
                        </a:rPr>
                        <a:t>(F-statistic)</a:t>
                      </a:r>
                      <a:endParaRPr lang="en-US" sz="16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100" dirty="0">
                          <a:effectLst/>
                        </a:rPr>
                        <a:t>0.101972</a:t>
                      </a:r>
                      <a:endParaRPr lang="en-US" sz="1600" dirty="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100" dirty="0">
                          <a:effectLst/>
                        </a:rPr>
                        <a:t> </a:t>
                      </a:r>
                      <a:endParaRPr lang="en-US" sz="1600" dirty="0">
                        <a:effectLst/>
                        <a:latin typeface="Calibri"/>
                        <a:ea typeface="Calibri"/>
                        <a:cs typeface="Times New Roman"/>
                      </a:endParaRPr>
                    </a:p>
                  </a:txBody>
                  <a:tcPr marL="0" marR="0" marT="0" marB="0" anchor="b"/>
                </a:tc>
              </a:tr>
            </a:tbl>
          </a:graphicData>
        </a:graphic>
      </p:graphicFrame>
    </p:spTree>
    <p:extLst>
      <p:ext uri="{BB962C8B-B14F-4D97-AF65-F5344CB8AC3E}">
        <p14:creationId xmlns:p14="http://schemas.microsoft.com/office/powerpoint/2010/main" val="2655349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855807270"/>
              </p:ext>
            </p:extLst>
          </p:nvPr>
        </p:nvGraphicFramePr>
        <p:xfrm>
          <a:off x="683568" y="1638092"/>
          <a:ext cx="7848872" cy="3015044"/>
        </p:xfrm>
        <a:graphic>
          <a:graphicData uri="http://schemas.openxmlformats.org/drawingml/2006/table">
            <a:tbl>
              <a:tblPr>
                <a:tableStyleId>{5C22544A-7EE6-4342-B048-85BDC9FD1C3A}</a:tableStyleId>
              </a:tblPr>
              <a:tblGrid>
                <a:gridCol w="2423634"/>
                <a:gridCol w="1325368"/>
                <a:gridCol w="1450335"/>
                <a:gridCol w="1451537"/>
                <a:gridCol w="1197998"/>
              </a:tblGrid>
              <a:tr h="138255">
                <a:tc gridSpan="3">
                  <a:txBody>
                    <a:bodyPr/>
                    <a:lstStyle/>
                    <a:p>
                      <a:pPr marL="0" marR="0">
                        <a:lnSpc>
                          <a:spcPct val="115000"/>
                        </a:lnSpc>
                        <a:spcBef>
                          <a:spcPts val="0"/>
                        </a:spcBef>
                        <a:spcAft>
                          <a:spcPts val="0"/>
                        </a:spcAft>
                      </a:pPr>
                      <a:r>
                        <a:rPr lang="en-US" sz="1000" dirty="0">
                          <a:effectLst/>
                        </a:rPr>
                        <a:t>Dependent Variable: SAV</a:t>
                      </a:r>
                      <a:endParaRPr lang="en-US" sz="12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r>
              <a:tr h="138255">
                <a:tc gridSpan="3">
                  <a:txBody>
                    <a:bodyPr/>
                    <a:lstStyle/>
                    <a:p>
                      <a:pPr marL="0" marR="0">
                        <a:lnSpc>
                          <a:spcPct val="115000"/>
                        </a:lnSpc>
                        <a:spcBef>
                          <a:spcPts val="0"/>
                        </a:spcBef>
                        <a:spcAft>
                          <a:spcPts val="0"/>
                        </a:spcAft>
                      </a:pPr>
                      <a:r>
                        <a:rPr lang="en-US" sz="1000" dirty="0">
                          <a:effectLst/>
                        </a:rPr>
                        <a:t>Method: Least Squares</a:t>
                      </a:r>
                      <a:endParaRPr lang="en-US" sz="12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r>
              <a:tr h="138255">
                <a:tc gridSpan="3">
                  <a:txBody>
                    <a:bodyPr/>
                    <a:lstStyle/>
                    <a:p>
                      <a:pPr marL="0" marR="0">
                        <a:lnSpc>
                          <a:spcPct val="115000"/>
                        </a:lnSpc>
                        <a:spcBef>
                          <a:spcPts val="0"/>
                        </a:spcBef>
                        <a:spcAft>
                          <a:spcPts val="0"/>
                        </a:spcAft>
                      </a:pPr>
                      <a:r>
                        <a:rPr lang="en-US" sz="1000" dirty="0">
                          <a:effectLst/>
                        </a:rPr>
                        <a:t>Date: 12/12/18   Time: 18:29</a:t>
                      </a:r>
                      <a:endParaRPr lang="en-US" sz="12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r>
              <a:tr h="138255">
                <a:tc gridSpan="3">
                  <a:txBody>
                    <a:bodyPr/>
                    <a:lstStyle/>
                    <a:p>
                      <a:pPr marL="0" marR="0">
                        <a:lnSpc>
                          <a:spcPct val="115000"/>
                        </a:lnSpc>
                        <a:spcBef>
                          <a:spcPts val="0"/>
                        </a:spcBef>
                        <a:spcAft>
                          <a:spcPts val="0"/>
                        </a:spcAft>
                      </a:pPr>
                      <a:r>
                        <a:rPr lang="en-US" sz="1000" dirty="0">
                          <a:effectLst/>
                        </a:rPr>
                        <a:t>Sample: 1970 1995</a:t>
                      </a:r>
                      <a:endParaRPr lang="en-US" sz="12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r>
              <a:tr h="138255">
                <a:tc gridSpan="3">
                  <a:txBody>
                    <a:bodyPr/>
                    <a:lstStyle/>
                    <a:p>
                      <a:pPr marL="0" marR="0">
                        <a:lnSpc>
                          <a:spcPct val="115000"/>
                        </a:lnSpc>
                        <a:spcBef>
                          <a:spcPts val="0"/>
                        </a:spcBef>
                        <a:spcAft>
                          <a:spcPts val="0"/>
                        </a:spcAft>
                      </a:pPr>
                      <a:r>
                        <a:rPr lang="en-US" sz="1000" dirty="0">
                          <a:effectLst/>
                        </a:rPr>
                        <a:t>Included observations: 26</a:t>
                      </a:r>
                      <a:endParaRPr lang="en-US" sz="1200" dirty="0">
                        <a:effectLst/>
                        <a:latin typeface="Calibri"/>
                        <a:ea typeface="Calibri"/>
                        <a:cs typeface="Times New Roman"/>
                      </a:endParaRPr>
                    </a:p>
                  </a:txBody>
                  <a:tcPr marL="0" marR="0" marT="0" marB="0" anchor="b"/>
                </a:tc>
                <a:tc hMerge="1">
                  <a:txBody>
                    <a:bodyPr/>
                    <a:lstStyle/>
                    <a:p>
                      <a:endParaRPr lang="en-US"/>
                    </a:p>
                  </a:txBody>
                  <a:tcPr/>
                </a:tc>
                <a:tc hMerge="1">
                  <a:txBody>
                    <a:bodyPr/>
                    <a:lstStyle/>
                    <a:p>
                      <a:endParaRPr lang="en-US"/>
                    </a:p>
                  </a:txBody>
                  <a:tcPr/>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c>
                  <a:txBody>
                    <a:bodyPr/>
                    <a:lstStyle/>
                    <a:p>
                      <a:pPr marL="0" marR="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r>
              <a:tr h="138255">
                <a:tc>
                  <a:txBody>
                    <a:bodyPr/>
                    <a:lstStyle/>
                    <a:p>
                      <a:pPr marL="0" marR="0" algn="ctr">
                        <a:lnSpc>
                          <a:spcPct val="115000"/>
                        </a:lnSpc>
                        <a:spcBef>
                          <a:spcPts val="0"/>
                        </a:spcBef>
                        <a:spcAft>
                          <a:spcPts val="0"/>
                        </a:spcAft>
                      </a:pPr>
                      <a:r>
                        <a:rPr lang="en-US" sz="1000" dirty="0">
                          <a:effectLst/>
                        </a:rPr>
                        <a:t>Variable</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Coefficient</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Std. Error</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t-Statistic</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Prob.  </a:t>
                      </a:r>
                      <a:endParaRPr lang="en-US" sz="1200">
                        <a:effectLst/>
                        <a:latin typeface="Calibri"/>
                        <a:ea typeface="Calibri"/>
                        <a:cs typeface="Times New Roman"/>
                      </a:endParaRPr>
                    </a:p>
                  </a:txBody>
                  <a:tcPr marL="0" marR="0" marT="0" marB="0" anchor="b"/>
                </a:tc>
              </a:tr>
              <a:tr h="138255">
                <a:tc>
                  <a:txBody>
                    <a:bodyPr/>
                    <a:lstStyle/>
                    <a:p>
                      <a:pPr marL="0" marR="0" algn="ctr">
                        <a:lnSpc>
                          <a:spcPct val="115000"/>
                        </a:lnSpc>
                        <a:spcBef>
                          <a:spcPts val="0"/>
                        </a:spcBef>
                        <a:spcAft>
                          <a:spcPts val="0"/>
                        </a:spcAft>
                      </a:pPr>
                      <a:r>
                        <a:rPr lang="en-US" sz="1000" dirty="0">
                          <a:effectLst/>
                        </a:rPr>
                        <a:t>C</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1.016117</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20.16483</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0.050391</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0.9603</a:t>
                      </a:r>
                      <a:endParaRPr lang="en-US" sz="1200">
                        <a:effectLst/>
                        <a:latin typeface="Calibri"/>
                        <a:ea typeface="Calibri"/>
                        <a:cs typeface="Times New Roman"/>
                      </a:endParaRPr>
                    </a:p>
                  </a:txBody>
                  <a:tcPr marL="0" marR="0" marT="0" marB="0" anchor="b"/>
                </a:tc>
              </a:tr>
              <a:tr h="138255">
                <a:tc>
                  <a:txBody>
                    <a:bodyPr/>
                    <a:lstStyle/>
                    <a:p>
                      <a:pPr marL="0" marR="0" algn="ctr">
                        <a:lnSpc>
                          <a:spcPct val="115000"/>
                        </a:lnSpc>
                        <a:spcBef>
                          <a:spcPts val="0"/>
                        </a:spcBef>
                        <a:spcAft>
                          <a:spcPts val="0"/>
                        </a:spcAft>
                      </a:pPr>
                      <a:r>
                        <a:rPr lang="en-US" sz="1000">
                          <a:effectLst/>
                        </a:rPr>
                        <a:t>DUM</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152.4786</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33.08237</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4.609058</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0.0001</a:t>
                      </a:r>
                      <a:endParaRPr lang="en-US" sz="1200">
                        <a:effectLst/>
                        <a:latin typeface="Calibri"/>
                        <a:ea typeface="Calibri"/>
                        <a:cs typeface="Times New Roman"/>
                      </a:endParaRPr>
                    </a:p>
                  </a:txBody>
                  <a:tcPr marL="0" marR="0" marT="0" marB="0" anchor="b"/>
                </a:tc>
              </a:tr>
              <a:tr h="138255">
                <a:tc>
                  <a:txBody>
                    <a:bodyPr/>
                    <a:lstStyle/>
                    <a:p>
                      <a:pPr marL="0" marR="0" algn="ctr">
                        <a:lnSpc>
                          <a:spcPct val="115000"/>
                        </a:lnSpc>
                        <a:spcBef>
                          <a:spcPts val="0"/>
                        </a:spcBef>
                        <a:spcAft>
                          <a:spcPts val="0"/>
                        </a:spcAft>
                      </a:pPr>
                      <a:r>
                        <a:rPr lang="en-US" sz="1000">
                          <a:effectLst/>
                        </a:rPr>
                        <a:t>INC</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0.080332</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0.014497</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5.541347</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0.0000</a:t>
                      </a:r>
                      <a:endParaRPr lang="en-US" sz="1200">
                        <a:effectLst/>
                        <a:latin typeface="Calibri"/>
                        <a:ea typeface="Calibri"/>
                        <a:cs typeface="Times New Roman"/>
                      </a:endParaRPr>
                    </a:p>
                  </a:txBody>
                  <a:tcPr marL="0" marR="0" marT="0" marB="0" anchor="b"/>
                </a:tc>
              </a:tr>
              <a:tr h="138255">
                <a:tc>
                  <a:txBody>
                    <a:bodyPr/>
                    <a:lstStyle/>
                    <a:p>
                      <a:pPr marL="0" marR="0" algn="ctr">
                        <a:lnSpc>
                          <a:spcPct val="115000"/>
                        </a:lnSpc>
                        <a:spcBef>
                          <a:spcPts val="0"/>
                        </a:spcBef>
                        <a:spcAft>
                          <a:spcPts val="0"/>
                        </a:spcAft>
                      </a:pPr>
                      <a:r>
                        <a:rPr lang="en-US" sz="1000">
                          <a:effectLst/>
                        </a:rPr>
                        <a:t>DUM*INC</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-0.065469</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0.015982</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-4.096340</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0.0005</a:t>
                      </a:r>
                      <a:endParaRPr lang="en-US" sz="1200" dirty="0">
                        <a:effectLst/>
                        <a:latin typeface="Calibri"/>
                        <a:ea typeface="Calibri"/>
                        <a:cs typeface="Times New Roman"/>
                      </a:endParaRPr>
                    </a:p>
                  </a:txBody>
                  <a:tcPr marL="0" marR="0" marT="0" marB="0" anchor="b"/>
                </a:tc>
              </a:tr>
              <a:tr h="138255">
                <a:tc>
                  <a:txBody>
                    <a:bodyPr/>
                    <a:lstStyle/>
                    <a:p>
                      <a:pPr marL="0" marR="0">
                        <a:lnSpc>
                          <a:spcPct val="115000"/>
                        </a:lnSpc>
                        <a:spcBef>
                          <a:spcPts val="0"/>
                        </a:spcBef>
                        <a:spcAft>
                          <a:spcPts val="0"/>
                        </a:spcAft>
                      </a:pPr>
                      <a:r>
                        <a:rPr lang="en-US" sz="1000" dirty="0">
                          <a:effectLst/>
                        </a:rPr>
                        <a:t>R-squared</a:t>
                      </a:r>
                      <a:endParaRPr lang="en-US" sz="1200" dirty="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0.881944</a:t>
                      </a:r>
                      <a:endParaRPr lang="en-US" sz="12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000" dirty="0">
                          <a:effectLst/>
                        </a:rPr>
                        <a:t>    Mean dependent </a:t>
                      </a:r>
                      <a:r>
                        <a:rPr lang="en-US" sz="1000" dirty="0" err="1">
                          <a:effectLst/>
                        </a:rPr>
                        <a:t>var</a:t>
                      </a:r>
                      <a:endParaRPr lang="en-US" sz="1200" dirty="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000">
                          <a:effectLst/>
                        </a:rPr>
                        <a:t>162.0885</a:t>
                      </a:r>
                      <a:endParaRPr lang="en-US" sz="1200">
                        <a:effectLst/>
                        <a:latin typeface="Calibri"/>
                        <a:ea typeface="Calibri"/>
                        <a:cs typeface="Times New Roman"/>
                      </a:endParaRPr>
                    </a:p>
                  </a:txBody>
                  <a:tcPr marL="0" marR="0" marT="0" marB="0" anchor="b"/>
                </a:tc>
              </a:tr>
              <a:tr h="138255">
                <a:tc>
                  <a:txBody>
                    <a:bodyPr/>
                    <a:lstStyle/>
                    <a:p>
                      <a:pPr marL="0" marR="0">
                        <a:lnSpc>
                          <a:spcPct val="115000"/>
                        </a:lnSpc>
                        <a:spcBef>
                          <a:spcPts val="0"/>
                        </a:spcBef>
                        <a:spcAft>
                          <a:spcPts val="0"/>
                        </a:spcAft>
                      </a:pPr>
                      <a:r>
                        <a:rPr lang="en-US" sz="1000">
                          <a:effectLst/>
                        </a:rPr>
                        <a:t>Adjusted R-squared</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0.865846</a:t>
                      </a:r>
                      <a:endParaRPr lang="en-US" sz="12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000" dirty="0">
                          <a:effectLst/>
                        </a:rPr>
                        <a:t>    S.D. dependent </a:t>
                      </a:r>
                      <a:r>
                        <a:rPr lang="en-US" sz="1000" dirty="0" err="1">
                          <a:effectLst/>
                        </a:rPr>
                        <a:t>var</a:t>
                      </a:r>
                      <a:endParaRPr lang="en-US" sz="1200" dirty="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000">
                          <a:effectLst/>
                        </a:rPr>
                        <a:t>63.20446</a:t>
                      </a:r>
                      <a:endParaRPr lang="en-US" sz="1200">
                        <a:effectLst/>
                        <a:latin typeface="Calibri"/>
                        <a:ea typeface="Calibri"/>
                        <a:cs typeface="Times New Roman"/>
                      </a:endParaRPr>
                    </a:p>
                  </a:txBody>
                  <a:tcPr marL="0" marR="0" marT="0" marB="0" anchor="b"/>
                </a:tc>
              </a:tr>
              <a:tr h="138255">
                <a:tc>
                  <a:txBody>
                    <a:bodyPr/>
                    <a:lstStyle/>
                    <a:p>
                      <a:pPr marL="0" marR="0">
                        <a:lnSpc>
                          <a:spcPct val="115000"/>
                        </a:lnSpc>
                        <a:spcBef>
                          <a:spcPts val="0"/>
                        </a:spcBef>
                        <a:spcAft>
                          <a:spcPts val="0"/>
                        </a:spcAft>
                      </a:pPr>
                      <a:r>
                        <a:rPr lang="en-US" sz="1000">
                          <a:effectLst/>
                        </a:rPr>
                        <a:t>S.E. of regression</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23.14996</a:t>
                      </a:r>
                      <a:endParaRPr lang="en-US" sz="12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000" dirty="0">
                          <a:effectLst/>
                        </a:rPr>
                        <a:t>    </a:t>
                      </a:r>
                      <a:r>
                        <a:rPr lang="en-US" sz="1000" dirty="0" err="1">
                          <a:effectLst/>
                        </a:rPr>
                        <a:t>Akaike</a:t>
                      </a:r>
                      <a:r>
                        <a:rPr lang="en-US" sz="1000" dirty="0">
                          <a:effectLst/>
                        </a:rPr>
                        <a:t> info criterion</a:t>
                      </a:r>
                      <a:endParaRPr lang="en-US" sz="1200" dirty="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000">
                          <a:effectLst/>
                        </a:rPr>
                        <a:t>9.262501</a:t>
                      </a:r>
                      <a:endParaRPr lang="en-US" sz="1200">
                        <a:effectLst/>
                        <a:latin typeface="Calibri"/>
                        <a:ea typeface="Calibri"/>
                        <a:cs typeface="Times New Roman"/>
                      </a:endParaRPr>
                    </a:p>
                  </a:txBody>
                  <a:tcPr marL="0" marR="0" marT="0" marB="0" anchor="b"/>
                </a:tc>
              </a:tr>
              <a:tr h="138255">
                <a:tc>
                  <a:txBody>
                    <a:bodyPr/>
                    <a:lstStyle/>
                    <a:p>
                      <a:pPr marL="0" marR="0">
                        <a:lnSpc>
                          <a:spcPct val="115000"/>
                        </a:lnSpc>
                        <a:spcBef>
                          <a:spcPts val="0"/>
                        </a:spcBef>
                        <a:spcAft>
                          <a:spcPts val="0"/>
                        </a:spcAft>
                      </a:pPr>
                      <a:r>
                        <a:rPr lang="en-US" sz="1000">
                          <a:effectLst/>
                        </a:rPr>
                        <a:t>Sum squared resid</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dirty="0">
                          <a:effectLst/>
                        </a:rPr>
                        <a:t>11790.25</a:t>
                      </a:r>
                      <a:endParaRPr lang="en-US" sz="1200" dirty="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000" dirty="0">
                          <a:effectLst/>
                        </a:rPr>
                        <a:t>    Schwarz criterion</a:t>
                      </a:r>
                      <a:endParaRPr lang="en-US" sz="1200" dirty="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000">
                          <a:effectLst/>
                        </a:rPr>
                        <a:t>9.456055</a:t>
                      </a:r>
                      <a:endParaRPr lang="en-US" sz="1200">
                        <a:effectLst/>
                        <a:latin typeface="Calibri"/>
                        <a:ea typeface="Calibri"/>
                        <a:cs typeface="Times New Roman"/>
                      </a:endParaRPr>
                    </a:p>
                  </a:txBody>
                  <a:tcPr marL="0" marR="0" marT="0" marB="0" anchor="b"/>
                </a:tc>
              </a:tr>
              <a:tr h="138255">
                <a:tc>
                  <a:txBody>
                    <a:bodyPr/>
                    <a:lstStyle/>
                    <a:p>
                      <a:pPr marL="0" marR="0">
                        <a:lnSpc>
                          <a:spcPct val="115000"/>
                        </a:lnSpc>
                        <a:spcBef>
                          <a:spcPts val="0"/>
                        </a:spcBef>
                        <a:spcAft>
                          <a:spcPts val="0"/>
                        </a:spcAft>
                      </a:pPr>
                      <a:r>
                        <a:rPr lang="en-US" sz="1000">
                          <a:effectLst/>
                        </a:rPr>
                        <a:t>Log likelihood</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-116.4125</a:t>
                      </a:r>
                      <a:endParaRPr lang="en-US" sz="12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000" dirty="0">
                          <a:effectLst/>
                        </a:rPr>
                        <a:t>    </a:t>
                      </a:r>
                      <a:r>
                        <a:rPr lang="en-US" sz="1000" dirty="0" err="1">
                          <a:effectLst/>
                        </a:rPr>
                        <a:t>Hannan</a:t>
                      </a:r>
                      <a:r>
                        <a:rPr lang="en-US" sz="1000" dirty="0">
                          <a:effectLst/>
                        </a:rPr>
                        <a:t>-Quinn </a:t>
                      </a:r>
                      <a:r>
                        <a:rPr lang="en-US" sz="1000" dirty="0" err="1">
                          <a:effectLst/>
                        </a:rPr>
                        <a:t>criter</a:t>
                      </a:r>
                      <a:r>
                        <a:rPr lang="en-US" sz="1000" dirty="0">
                          <a:effectLst/>
                        </a:rPr>
                        <a:t>.</a:t>
                      </a:r>
                      <a:endParaRPr lang="en-US" sz="1200" dirty="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000">
                          <a:effectLst/>
                        </a:rPr>
                        <a:t>9.318238</a:t>
                      </a:r>
                      <a:endParaRPr lang="en-US" sz="1200">
                        <a:effectLst/>
                        <a:latin typeface="Calibri"/>
                        <a:ea typeface="Calibri"/>
                        <a:cs typeface="Times New Roman"/>
                      </a:endParaRPr>
                    </a:p>
                  </a:txBody>
                  <a:tcPr marL="0" marR="0" marT="0" marB="0" anchor="b"/>
                </a:tc>
              </a:tr>
              <a:tr h="138255">
                <a:tc>
                  <a:txBody>
                    <a:bodyPr/>
                    <a:lstStyle/>
                    <a:p>
                      <a:pPr marL="0" marR="0">
                        <a:lnSpc>
                          <a:spcPct val="115000"/>
                        </a:lnSpc>
                        <a:spcBef>
                          <a:spcPts val="0"/>
                        </a:spcBef>
                        <a:spcAft>
                          <a:spcPts val="0"/>
                        </a:spcAft>
                      </a:pPr>
                      <a:r>
                        <a:rPr lang="en-US" sz="1000">
                          <a:effectLst/>
                        </a:rPr>
                        <a:t>F-statistic</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54.78413</a:t>
                      </a:r>
                      <a:endParaRPr lang="en-US" sz="1200">
                        <a:effectLst/>
                        <a:latin typeface="Calibri"/>
                        <a:ea typeface="Calibri"/>
                        <a:cs typeface="Times New Roman"/>
                      </a:endParaRPr>
                    </a:p>
                  </a:txBody>
                  <a:tcPr marL="0" marR="0" marT="0" marB="0" anchor="b"/>
                </a:tc>
                <a:tc gridSpan="2">
                  <a:txBody>
                    <a:bodyPr/>
                    <a:lstStyle/>
                    <a:p>
                      <a:pPr marL="0" marR="6350">
                        <a:lnSpc>
                          <a:spcPct val="115000"/>
                        </a:lnSpc>
                        <a:spcBef>
                          <a:spcPts val="0"/>
                        </a:spcBef>
                        <a:spcAft>
                          <a:spcPts val="0"/>
                        </a:spcAft>
                      </a:pPr>
                      <a:r>
                        <a:rPr lang="en-US" sz="1000">
                          <a:effectLst/>
                        </a:rPr>
                        <a:t>    Durbin-Watson stat</a:t>
                      </a:r>
                      <a:endParaRPr lang="en-US" sz="1200">
                        <a:effectLst/>
                        <a:latin typeface="Calibri"/>
                        <a:ea typeface="Calibri"/>
                        <a:cs typeface="Times New Roman"/>
                      </a:endParaRPr>
                    </a:p>
                  </a:txBody>
                  <a:tcPr marL="0" marR="0" marT="0" marB="0" anchor="b"/>
                </a:tc>
                <a:tc hMerge="1">
                  <a:txBody>
                    <a:bodyPr/>
                    <a:lstStyle/>
                    <a:p>
                      <a:endParaRPr lang="en-US"/>
                    </a:p>
                  </a:txBody>
                  <a:tcPr/>
                </a:tc>
                <a:tc>
                  <a:txBody>
                    <a:bodyPr/>
                    <a:lstStyle/>
                    <a:p>
                      <a:pPr marL="0" marR="6350" algn="r">
                        <a:lnSpc>
                          <a:spcPct val="115000"/>
                        </a:lnSpc>
                        <a:spcBef>
                          <a:spcPts val="0"/>
                        </a:spcBef>
                        <a:spcAft>
                          <a:spcPts val="0"/>
                        </a:spcAft>
                      </a:pPr>
                      <a:r>
                        <a:rPr lang="en-US" sz="1000">
                          <a:effectLst/>
                        </a:rPr>
                        <a:t>1.648454</a:t>
                      </a:r>
                      <a:endParaRPr lang="en-US" sz="1200">
                        <a:effectLst/>
                        <a:latin typeface="Calibri"/>
                        <a:ea typeface="Calibri"/>
                        <a:cs typeface="Times New Roman"/>
                      </a:endParaRPr>
                    </a:p>
                  </a:txBody>
                  <a:tcPr marL="0" marR="0" marT="0" marB="0" anchor="b"/>
                </a:tc>
              </a:tr>
              <a:tr h="210884">
                <a:tc>
                  <a:txBody>
                    <a:bodyPr/>
                    <a:lstStyle/>
                    <a:p>
                      <a:pPr marL="0" marR="0">
                        <a:lnSpc>
                          <a:spcPct val="115000"/>
                        </a:lnSpc>
                        <a:spcBef>
                          <a:spcPts val="0"/>
                        </a:spcBef>
                        <a:spcAft>
                          <a:spcPts val="0"/>
                        </a:spcAft>
                      </a:pPr>
                      <a:r>
                        <a:rPr lang="en-US" sz="1000">
                          <a:effectLst/>
                        </a:rPr>
                        <a:t>Prob(F-statistic)</a:t>
                      </a:r>
                      <a:endParaRPr lang="en-US" sz="1200">
                        <a:effectLst/>
                        <a:latin typeface="Calibri"/>
                        <a:ea typeface="Calibri"/>
                        <a:cs typeface="Times New Roman"/>
                      </a:endParaRPr>
                    </a:p>
                  </a:txBody>
                  <a:tcPr marL="0" marR="0" marT="0" marB="0" anchor="b"/>
                </a:tc>
                <a:tc>
                  <a:txBody>
                    <a:bodyPr/>
                    <a:lstStyle/>
                    <a:p>
                      <a:pPr marL="0" marR="6350" algn="r">
                        <a:lnSpc>
                          <a:spcPct val="115000"/>
                        </a:lnSpc>
                        <a:spcBef>
                          <a:spcPts val="0"/>
                        </a:spcBef>
                        <a:spcAft>
                          <a:spcPts val="0"/>
                        </a:spcAft>
                      </a:pPr>
                      <a:r>
                        <a:rPr lang="en-US" sz="1000">
                          <a:effectLst/>
                        </a:rPr>
                        <a:t>0.000000</a:t>
                      </a:r>
                      <a:endParaRPr lang="en-US" sz="120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000">
                          <a:effectLst/>
                        </a:rPr>
                        <a:t> </a:t>
                      </a:r>
                      <a:endParaRPr lang="en-US" sz="120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000" dirty="0">
                          <a:effectLst/>
                        </a:rPr>
                        <a:t> </a:t>
                      </a:r>
                      <a:endParaRPr lang="en-US" sz="1200" dirty="0">
                        <a:effectLst/>
                        <a:latin typeface="Calibri"/>
                        <a:ea typeface="Calibri"/>
                        <a:cs typeface="Times New Roman"/>
                      </a:endParaRPr>
                    </a:p>
                  </a:txBody>
                  <a:tcPr marL="0" marR="0" marT="0" marB="0" anchor="b"/>
                </a:tc>
                <a:tc>
                  <a:txBody>
                    <a:bodyPr/>
                    <a:lstStyle/>
                    <a:p>
                      <a:pPr marL="0" marR="6350" algn="ctr">
                        <a:lnSpc>
                          <a:spcPct val="115000"/>
                        </a:lnSpc>
                        <a:spcBef>
                          <a:spcPts val="0"/>
                        </a:spcBef>
                        <a:spcAft>
                          <a:spcPts val="0"/>
                        </a:spcAft>
                      </a:pPr>
                      <a:r>
                        <a:rPr lang="en-US" sz="1000" dirty="0">
                          <a:effectLst/>
                        </a:rPr>
                        <a:t> </a:t>
                      </a:r>
                      <a:endParaRPr lang="en-US" sz="1200" dirty="0">
                        <a:effectLst/>
                        <a:latin typeface="Calibri"/>
                        <a:ea typeface="Calibri"/>
                        <a:cs typeface="Times New Roman"/>
                      </a:endParaRPr>
                    </a:p>
                  </a:txBody>
                  <a:tcPr marL="0" marR="0" marT="0" marB="0" anchor="b"/>
                </a:tc>
              </a:tr>
            </a:tbl>
          </a:graphicData>
        </a:graphic>
      </p:graphicFrame>
      <p:sp>
        <p:nvSpPr>
          <p:cNvPr id="3" name="Title 2"/>
          <p:cNvSpPr>
            <a:spLocks noGrp="1"/>
          </p:cNvSpPr>
          <p:nvPr>
            <p:ph type="title"/>
          </p:nvPr>
        </p:nvSpPr>
        <p:spPr>
          <a:xfrm>
            <a:off x="457200" y="269776"/>
            <a:ext cx="8229600" cy="1143000"/>
          </a:xfrm>
        </p:spPr>
        <p:txBody>
          <a:bodyPr>
            <a:normAutofit fontScale="90000"/>
          </a:bodyPr>
          <a:lstStyle/>
          <a:p>
            <a:r>
              <a:rPr lang="en-US" dirty="0">
                <a:solidFill>
                  <a:srgbClr val="FF0000"/>
                </a:solidFill>
                <a:effectLst/>
                <a:latin typeface="Calibri" pitchFamily="34" charset="0"/>
                <a:cs typeface="Calibri" pitchFamily="34" charset="0"/>
              </a:rPr>
              <a:t>*</a:t>
            </a:r>
            <a:r>
              <a:rPr lang="en-US" dirty="0" err="1">
                <a:solidFill>
                  <a:srgbClr val="FF0000"/>
                </a:solidFill>
                <a:effectLst/>
                <a:latin typeface="Calibri" pitchFamily="34" charset="0"/>
                <a:cs typeface="Calibri" pitchFamily="34" charset="0"/>
              </a:rPr>
              <a:t>Kiểm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tra</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khác</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trong</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hàm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a:solidFill>
                  <a:srgbClr val="FF0000"/>
                </a:solidFill>
                <a:effectLst/>
                <a:latin typeface="Calibri" pitchFamily="34" charset="0"/>
                <a:cs typeface="Calibri" pitchFamily="34" charset="0"/>
              </a:rPr>
              <a:t>qua </a:t>
            </a:r>
            <a:r>
              <a:rPr lang="en-US" dirty="0" err="1">
                <a:solidFill>
                  <a:srgbClr val="FF0000"/>
                </a:solidFill>
                <a:effectLst/>
                <a:latin typeface="Calibri" pitchFamily="34" charset="0"/>
                <a:cs typeface="Calibri" pitchFamily="34" charset="0"/>
              </a:rPr>
              <a:t>nhóm</a:t>
            </a:r>
            <a:r>
              <a:rPr lang="en-US" dirty="0">
                <a:solidFill>
                  <a:srgbClr val="FF0000"/>
                </a:solidFill>
                <a:effectLst/>
                <a:latin typeface="Calibri" pitchFamily="34" charset="0"/>
                <a:cs typeface="Calibri" pitchFamily="34" charset="0"/>
              </a:rPr>
              <a:t>:</a:t>
            </a:r>
            <a:endParaRPr lang="en-US" dirty="0">
              <a:solidFill>
                <a:srgbClr val="FF0000"/>
              </a:solidFill>
            </a:endParaRPr>
          </a:p>
        </p:txBody>
      </p:sp>
      <mc:AlternateContent xmlns:mc="http://schemas.openxmlformats.org/markup-compatibility/2006" xmlns:a14="http://schemas.microsoft.com/office/drawing/2010/main">
        <mc:Choice Requires="a14">
          <p:sp>
            <p:nvSpPr>
              <p:cNvPr id="5" name="TextBox 4"/>
              <p:cNvSpPr txBox="1"/>
              <p:nvPr/>
            </p:nvSpPr>
            <p:spPr>
              <a:xfrm>
                <a:off x="683568" y="1268760"/>
                <a:ext cx="79208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𝑆𝑎𝑣𝑖𝑛𝑔</m:t>
                      </m:r>
                      <m:r>
                        <a:rPr lang="en-US" b="0" i="1" smtClean="0">
                          <a:latin typeface="Cambria Math"/>
                        </a:rPr>
                        <m:t>=</m:t>
                      </m:r>
                      <m:sSub>
                        <m:sSubPr>
                          <m:ctrlPr>
                            <a:rPr lang="en-US" b="0" i="1" smtClean="0">
                              <a:latin typeface="Cambria Math"/>
                              <a:ea typeface="Cambria Math"/>
                            </a:rPr>
                          </m:ctrlPr>
                        </m:sSubPr>
                        <m:e>
                          <m:r>
                            <a:rPr lang="en-US" b="0" i="1" smtClean="0">
                              <a:latin typeface="Cambria Math"/>
                              <a:ea typeface="Cambria Math"/>
                            </a:rPr>
                            <m:t>𝛽</m:t>
                          </m:r>
                        </m:e>
                        <m:sub>
                          <m:r>
                            <a:rPr lang="en-US" b="0" i="1" smtClean="0">
                              <a:latin typeface="Cambria Math"/>
                              <a:ea typeface="Cambria Math"/>
                            </a:rPr>
                            <m:t>0</m:t>
                          </m:r>
                        </m:sub>
                      </m:sSub>
                      <m:r>
                        <a:rPr lang="en-US" b="0" i="1" smtClean="0">
                          <a:latin typeface="Cambria Math"/>
                          <a:ea typeface="Cambria Math"/>
                        </a:rPr>
                        <m:t>+</m:t>
                      </m:r>
                      <m:sSub>
                        <m:sSubPr>
                          <m:ctrlPr>
                            <a:rPr lang="en-US" b="0" i="1" smtClean="0">
                              <a:latin typeface="Cambria Math"/>
                              <a:ea typeface="Cambria Math"/>
                            </a:rPr>
                          </m:ctrlPr>
                        </m:sSubPr>
                        <m:e>
                          <m:r>
                            <a:rPr lang="en-US" b="0" i="1" smtClean="0">
                              <a:latin typeface="Cambria Math"/>
                              <a:ea typeface="Cambria Math"/>
                            </a:rPr>
                            <m:t>𝛽</m:t>
                          </m:r>
                        </m:e>
                        <m:sub>
                          <m:r>
                            <a:rPr lang="en-US" b="0" i="1" smtClean="0">
                              <a:latin typeface="Cambria Math"/>
                              <a:ea typeface="Cambria Math"/>
                            </a:rPr>
                            <m:t>1</m:t>
                          </m:r>
                        </m:sub>
                      </m:sSub>
                      <m:r>
                        <a:rPr lang="en-US" b="0" i="1" smtClean="0">
                          <a:latin typeface="Cambria Math"/>
                          <a:ea typeface="Cambria Math"/>
                        </a:rPr>
                        <m:t>𝐷𝑢𝑚</m:t>
                      </m:r>
                      <m:r>
                        <a:rPr lang="en-US" b="0" i="1" smtClean="0">
                          <a:latin typeface="Cambria Math"/>
                          <a:ea typeface="Cambria Math"/>
                        </a:rPr>
                        <m:t>+</m:t>
                      </m:r>
                      <m:sSub>
                        <m:sSubPr>
                          <m:ctrlPr>
                            <a:rPr lang="en-US" b="0" i="1" smtClean="0">
                              <a:latin typeface="Cambria Math"/>
                              <a:ea typeface="Cambria Math"/>
                            </a:rPr>
                          </m:ctrlPr>
                        </m:sSubPr>
                        <m:e>
                          <m:r>
                            <a:rPr lang="en-US" b="0" i="1" smtClean="0">
                              <a:latin typeface="Cambria Math"/>
                              <a:ea typeface="Cambria Math"/>
                            </a:rPr>
                            <m:t>𝛽</m:t>
                          </m:r>
                        </m:e>
                        <m:sub>
                          <m:r>
                            <a:rPr lang="en-US" b="0" i="1" smtClean="0">
                              <a:latin typeface="Cambria Math"/>
                              <a:ea typeface="Cambria Math"/>
                            </a:rPr>
                            <m:t>2</m:t>
                          </m:r>
                        </m:sub>
                      </m:sSub>
                      <m:r>
                        <a:rPr lang="en-US" b="0" i="1" smtClean="0">
                          <a:latin typeface="Cambria Math"/>
                          <a:ea typeface="Cambria Math"/>
                        </a:rPr>
                        <m:t>𝐼𝑛𝑐𝑜𝑚𝑒</m:t>
                      </m:r>
                      <m:r>
                        <a:rPr lang="en-US" b="0" i="1" smtClean="0">
                          <a:latin typeface="Cambria Math"/>
                          <a:ea typeface="Cambria Math"/>
                        </a:rPr>
                        <m:t>+</m:t>
                      </m:r>
                      <m:sSub>
                        <m:sSubPr>
                          <m:ctrlPr>
                            <a:rPr lang="en-US" b="0" i="1" smtClean="0">
                              <a:latin typeface="Cambria Math"/>
                              <a:ea typeface="Cambria Math"/>
                            </a:rPr>
                          </m:ctrlPr>
                        </m:sSubPr>
                        <m:e>
                          <m:r>
                            <a:rPr lang="en-US" b="0" i="1" smtClean="0">
                              <a:latin typeface="Cambria Math"/>
                              <a:ea typeface="Cambria Math"/>
                            </a:rPr>
                            <m:t>𝛽</m:t>
                          </m:r>
                        </m:e>
                        <m:sub>
                          <m:r>
                            <a:rPr lang="en-US" b="0" i="1" smtClean="0">
                              <a:latin typeface="Cambria Math"/>
                              <a:ea typeface="Cambria Math"/>
                            </a:rPr>
                            <m:t>3</m:t>
                          </m:r>
                        </m:sub>
                      </m:sSub>
                      <m:r>
                        <a:rPr lang="en-US" b="0" i="1" smtClean="0">
                          <a:latin typeface="Cambria Math"/>
                          <a:ea typeface="Cambria Math"/>
                        </a:rPr>
                        <m:t>𝐷𝑢𝑚</m:t>
                      </m:r>
                      <m:r>
                        <a:rPr lang="en-US" b="0" i="1" smtClean="0">
                          <a:latin typeface="Cambria Math"/>
                          <a:ea typeface="Cambria Math"/>
                        </a:rPr>
                        <m:t>×</m:t>
                      </m:r>
                      <m:r>
                        <a:rPr lang="en-US" b="0" i="1" smtClean="0">
                          <a:latin typeface="Cambria Math"/>
                          <a:ea typeface="Cambria Math"/>
                        </a:rPr>
                        <m:t>𝐼𝑛𝑐𝑜𝑚𝑒</m:t>
                      </m:r>
                      <m:r>
                        <a:rPr lang="en-US" b="0" i="1" smtClean="0">
                          <a:latin typeface="Cambria Math"/>
                          <a:ea typeface="Cambria Math"/>
                        </a:rPr>
                        <m:t>+</m:t>
                      </m:r>
                      <m:r>
                        <a:rPr lang="en-US" b="0" i="1" smtClean="0">
                          <a:latin typeface="Cambria Math"/>
                          <a:ea typeface="Cambria Math"/>
                        </a:rPr>
                        <m:t>𝑢</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683568" y="1268760"/>
                <a:ext cx="7920880" cy="369332"/>
              </a:xfrm>
              <a:prstGeom prst="rect">
                <a:avLst/>
              </a:prstGeom>
              <a:blipFill rotWithShape="1">
                <a:blip r:embed="rId2"/>
                <a:stretch>
                  <a:fillRect b="-8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23528" y="4684168"/>
                <a:ext cx="8568952" cy="17757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𝑆𝑎𝑣𝑖𝑛𝑔</m:t>
                      </m:r>
                      <m:r>
                        <a:rPr lang="en-US" b="0" i="1" smtClean="0">
                          <a:latin typeface="Cambria Math"/>
                        </a:rPr>
                        <m:t>=</m:t>
                      </m:r>
                      <m:r>
                        <a:rPr lang="en-US" b="0" i="1" smtClean="0">
                          <a:latin typeface="Cambria Math"/>
                        </a:rPr>
                        <m:t>1</m:t>
                      </m:r>
                      <m:r>
                        <a:rPr lang="en-US" b="0" i="1" smtClean="0">
                          <a:latin typeface="Cambria Math"/>
                        </a:rPr>
                        <m:t>.</m:t>
                      </m:r>
                      <m:r>
                        <a:rPr lang="en-US" b="0" i="1" smtClean="0">
                          <a:latin typeface="Cambria Math"/>
                        </a:rPr>
                        <m:t>016117</m:t>
                      </m:r>
                      <m:r>
                        <a:rPr lang="en-US" b="0" i="1" smtClean="0">
                          <a:latin typeface="Cambria Math"/>
                        </a:rPr>
                        <m:t>+</m:t>
                      </m:r>
                      <m:r>
                        <a:rPr lang="en-US" b="0" i="1" smtClean="0">
                          <a:latin typeface="Cambria Math"/>
                        </a:rPr>
                        <m:t>152</m:t>
                      </m:r>
                      <m:r>
                        <a:rPr lang="en-US" b="0" i="1" smtClean="0">
                          <a:latin typeface="Cambria Math"/>
                        </a:rPr>
                        <m:t>.</m:t>
                      </m:r>
                      <m:r>
                        <a:rPr lang="en-US" b="0" i="1" smtClean="0">
                          <a:latin typeface="Cambria Math"/>
                        </a:rPr>
                        <m:t>4786</m:t>
                      </m:r>
                      <m:r>
                        <a:rPr lang="en-US" b="0" i="1" smtClean="0">
                          <a:latin typeface="Cambria Math"/>
                        </a:rPr>
                        <m:t>𝐷𝑢𝑚</m:t>
                      </m:r>
                      <m:r>
                        <a:rPr lang="en-US" b="0" i="1" smtClean="0">
                          <a:latin typeface="Cambria Math"/>
                        </a:rPr>
                        <m:t>+</m:t>
                      </m:r>
                      <m:r>
                        <a:rPr lang="en-US" b="0" i="1" smtClean="0">
                          <a:latin typeface="Cambria Math"/>
                        </a:rPr>
                        <m:t>0</m:t>
                      </m:r>
                      <m:r>
                        <a:rPr lang="en-US" b="0" i="1" smtClean="0">
                          <a:latin typeface="Cambria Math"/>
                        </a:rPr>
                        <m:t>.</m:t>
                      </m:r>
                      <m:r>
                        <a:rPr lang="en-US" b="0" i="1" smtClean="0">
                          <a:latin typeface="Cambria Math"/>
                        </a:rPr>
                        <m:t>080332</m:t>
                      </m:r>
                      <m:r>
                        <a:rPr lang="en-US" b="0" i="1" smtClean="0">
                          <a:latin typeface="Cambria Math"/>
                        </a:rPr>
                        <m:t>𝐼𝑛𝑐𝑜𝑚𝑒</m:t>
                      </m:r>
                      <m:r>
                        <a:rPr lang="en-US" b="0" i="1" smtClean="0">
                          <a:latin typeface="Cambria Math"/>
                        </a:rPr>
                        <m:t>−</m:t>
                      </m:r>
                      <m:r>
                        <a:rPr lang="en-US" b="0" i="1" smtClean="0">
                          <a:latin typeface="Cambria Math"/>
                        </a:rPr>
                        <m:t>0</m:t>
                      </m:r>
                      <m:r>
                        <a:rPr lang="en-US" b="0" i="1" smtClean="0">
                          <a:latin typeface="Cambria Math"/>
                        </a:rPr>
                        <m:t>.</m:t>
                      </m:r>
                      <m:r>
                        <a:rPr lang="en-US" b="0" i="1" smtClean="0">
                          <a:latin typeface="Cambria Math"/>
                        </a:rPr>
                        <m:t>065469</m:t>
                      </m:r>
                      <m:r>
                        <a:rPr lang="en-US" b="0" i="1" smtClean="0">
                          <a:latin typeface="Cambria Math"/>
                        </a:rPr>
                        <m:t>𝐷𝑢𝑚</m:t>
                      </m:r>
                      <m:r>
                        <a:rPr lang="en-US" b="0" i="1" smtClean="0">
                          <a:latin typeface="Cambria Math"/>
                          <a:ea typeface="Cambria Math"/>
                        </a:rPr>
                        <m:t>×</m:t>
                      </m:r>
                      <m:r>
                        <a:rPr lang="en-US" b="0" i="1" smtClean="0">
                          <a:latin typeface="Cambria Math"/>
                          <a:ea typeface="Cambria Math"/>
                        </a:rPr>
                        <m:t>𝐼𝑛𝑐𝑜𝑚𝑒</m:t>
                      </m:r>
                    </m:oMath>
                  </m:oMathPara>
                </a14:m>
                <a:endParaRPr lang="en-US" dirty="0" smtClean="0"/>
              </a:p>
              <a:p>
                <a:r>
                  <a:rPr lang="en-US" dirty="0" smtClean="0"/>
                  <a:t>*</a:t>
                </a:r>
                <a14:m>
                  <m:oMath xmlns:m="http://schemas.openxmlformats.org/officeDocument/2006/math">
                    <m:r>
                      <a:rPr lang="en-US" b="0" i="1" smtClean="0">
                        <a:latin typeface="Cambria Math"/>
                      </a:rPr>
                      <m:t>𝐷𝑢𝑚</m:t>
                    </m:r>
                    <m:r>
                      <a:rPr lang="en-US" b="0" i="1" smtClean="0">
                        <a:latin typeface="Cambria Math"/>
                      </a:rPr>
                      <m:t>=</m:t>
                    </m:r>
                    <m:r>
                      <a:rPr lang="en-US" b="0" i="1" smtClean="0">
                        <a:latin typeface="Cambria Math"/>
                      </a:rPr>
                      <m:t>0</m:t>
                    </m:r>
                  </m:oMath>
                </a14:m>
                <a:endParaRPr lang="en-US" b="0" dirty="0" smtClean="0"/>
              </a:p>
              <a:p>
                <a:pPr/>
                <a14:m>
                  <m:oMathPara xmlns:m="http://schemas.openxmlformats.org/officeDocument/2006/math">
                    <m:oMathParaPr>
                      <m:jc m:val="centerGroup"/>
                    </m:oMathParaPr>
                    <m:oMath xmlns:m="http://schemas.openxmlformats.org/officeDocument/2006/math">
                      <m:r>
                        <a:rPr lang="en-US" b="0" i="1" smtClean="0">
                          <a:latin typeface="Cambria Math"/>
                        </a:rPr>
                        <m:t>𝑆𝑎𝑣𝑖𝑛𝑔</m:t>
                      </m:r>
                      <m:r>
                        <a:rPr lang="en-US" b="0" i="1" smtClean="0">
                          <a:latin typeface="Cambria Math"/>
                        </a:rPr>
                        <m:t>=</m:t>
                      </m:r>
                      <m:r>
                        <a:rPr lang="en-US" b="0" i="1" smtClean="0">
                          <a:latin typeface="Cambria Math"/>
                        </a:rPr>
                        <m:t>1</m:t>
                      </m:r>
                      <m:r>
                        <a:rPr lang="en-US" b="0" i="1" smtClean="0">
                          <a:latin typeface="Cambria Math"/>
                        </a:rPr>
                        <m:t>.</m:t>
                      </m:r>
                      <m:r>
                        <a:rPr lang="en-US" b="0" i="1" smtClean="0">
                          <a:latin typeface="Cambria Math"/>
                        </a:rPr>
                        <m:t>016117</m:t>
                      </m:r>
                      <m:r>
                        <a:rPr lang="en-US" b="0" i="1" smtClean="0">
                          <a:latin typeface="Cambria Math"/>
                        </a:rPr>
                        <m:t>+</m:t>
                      </m:r>
                      <m:r>
                        <a:rPr lang="en-US" b="0" i="1" smtClean="0">
                          <a:latin typeface="Cambria Math"/>
                        </a:rPr>
                        <m:t>0</m:t>
                      </m:r>
                      <m:r>
                        <a:rPr lang="en-US" b="0" i="1" smtClean="0">
                          <a:latin typeface="Cambria Math"/>
                        </a:rPr>
                        <m:t>.</m:t>
                      </m:r>
                      <m:r>
                        <a:rPr lang="en-US" b="0" i="1" smtClean="0">
                          <a:latin typeface="Cambria Math"/>
                        </a:rPr>
                        <m:t>080332</m:t>
                      </m:r>
                      <m:r>
                        <a:rPr lang="en-US" b="0" i="1" smtClean="0">
                          <a:latin typeface="Cambria Math"/>
                        </a:rPr>
                        <m:t>𝐼𝑛𝑐𝑜𝑚𝑒</m:t>
                      </m:r>
                    </m:oMath>
                  </m:oMathPara>
                </a14:m>
                <a:endParaRPr lang="en-US" dirty="0" smtClean="0"/>
              </a:p>
              <a:p>
                <a:r>
                  <a:rPr lang="en-US" dirty="0" smtClean="0"/>
                  <a:t>*</a:t>
                </a:r>
                <a14:m>
                  <m:oMath xmlns:m="http://schemas.openxmlformats.org/officeDocument/2006/math">
                    <m:r>
                      <a:rPr lang="en-US" b="0" i="1" smtClean="0">
                        <a:latin typeface="Cambria Math"/>
                      </a:rPr>
                      <m:t>𝐷𝑢𝑚</m:t>
                    </m:r>
                    <m:r>
                      <a:rPr lang="en-US" b="0" i="1" smtClean="0">
                        <a:latin typeface="Cambria Math"/>
                      </a:rPr>
                      <m:t>=</m:t>
                    </m:r>
                    <m:r>
                      <a:rPr lang="en-US" b="0" i="1" smtClean="0">
                        <a:latin typeface="Cambria Math"/>
                      </a:rPr>
                      <m:t>1</m:t>
                    </m:r>
                  </m:oMath>
                </a14:m>
                <a:endParaRPr lang="en-US" b="0" dirty="0" smtClean="0"/>
              </a:p>
              <a:p>
                <a:pPr/>
                <a14:m>
                  <m:oMathPara xmlns:m="http://schemas.openxmlformats.org/officeDocument/2006/math">
                    <m:oMathParaPr>
                      <m:jc m:val="centerGroup"/>
                    </m:oMathParaPr>
                    <m:oMath xmlns:m="http://schemas.openxmlformats.org/officeDocument/2006/math">
                      <m:r>
                        <a:rPr lang="en-US" b="0" i="1" smtClean="0">
                          <a:latin typeface="Cambria Math"/>
                        </a:rPr>
                        <m:t>𝑆𝑎𝑣𝑖𝑛𝑔</m:t>
                      </m:r>
                      <m:r>
                        <a:rPr lang="en-US" b="0" i="1" smtClean="0">
                          <a:latin typeface="Cambria Math"/>
                        </a:rPr>
                        <m:t>=</m:t>
                      </m:r>
                      <m:r>
                        <a:rPr lang="en-US" b="0" i="1" smtClean="0">
                          <a:latin typeface="Cambria Math"/>
                        </a:rPr>
                        <m:t>153</m:t>
                      </m:r>
                      <m:r>
                        <a:rPr lang="en-US" b="0" i="1" smtClean="0">
                          <a:latin typeface="Cambria Math"/>
                        </a:rPr>
                        <m:t>.</m:t>
                      </m:r>
                      <m:r>
                        <a:rPr lang="en-US" b="0" i="1" smtClean="0">
                          <a:latin typeface="Cambria Math"/>
                        </a:rPr>
                        <m:t>4947</m:t>
                      </m:r>
                      <m:r>
                        <a:rPr lang="en-US" b="0" i="1" smtClean="0">
                          <a:latin typeface="Cambria Math"/>
                        </a:rPr>
                        <m:t>+</m:t>
                      </m:r>
                      <m:r>
                        <a:rPr lang="en-US" b="0" i="1" smtClean="0">
                          <a:latin typeface="Cambria Math"/>
                        </a:rPr>
                        <m:t>0</m:t>
                      </m:r>
                      <m:r>
                        <a:rPr lang="en-US" b="0" i="1" smtClean="0">
                          <a:latin typeface="Cambria Math"/>
                        </a:rPr>
                        <m:t>.</m:t>
                      </m:r>
                      <m:r>
                        <a:rPr lang="en-US" b="0" i="1" smtClean="0">
                          <a:latin typeface="Cambria Math"/>
                        </a:rPr>
                        <m:t>014862</m:t>
                      </m:r>
                      <m:r>
                        <a:rPr lang="en-US" b="0" i="1" smtClean="0">
                          <a:latin typeface="Cambria Math"/>
                        </a:rPr>
                        <m:t>𝐼𝑛𝑐𝑜𝑚𝑒</m:t>
                      </m:r>
                    </m:oMath>
                  </m:oMathPara>
                </a14:m>
                <a:endParaRPr lang="en-US" dirty="0" smtClean="0"/>
              </a:p>
              <a:p>
                <a:pPr/>
                <a14:m>
                  <m:oMathPara xmlns:m="http://schemas.openxmlformats.org/officeDocument/2006/math">
                    <m:oMathParaPr>
                      <m:jc m:val="centerGroup"/>
                    </m:oMathParaPr>
                    <m:oMath xmlns:m="http://schemas.openxmlformats.org/officeDocument/2006/math">
                      <m:r>
                        <a:rPr lang="en-US" b="0" i="1" smtClean="0">
                          <a:latin typeface="Cambria Math"/>
                        </a:rPr>
                        <m:t>𝑆</m:t>
                      </m:r>
                      <m:sSub>
                        <m:sSubPr>
                          <m:ctrlPr>
                            <a:rPr lang="en-US" b="0" i="1" smtClean="0">
                              <a:latin typeface="Cambria Math"/>
                            </a:rPr>
                          </m:ctrlPr>
                        </m:sSubPr>
                        <m:e>
                          <m:r>
                            <a:rPr lang="en-US" b="0" i="1" smtClean="0">
                              <a:latin typeface="Cambria Math"/>
                            </a:rPr>
                            <m:t>𝑆𝑅</m:t>
                          </m:r>
                        </m:e>
                        <m:sub>
                          <m:r>
                            <a:rPr lang="en-US" b="0" i="1" smtClean="0">
                              <a:latin typeface="Cambria Math"/>
                            </a:rPr>
                            <m:t>𝑝</m:t>
                          </m:r>
                        </m:sub>
                      </m:sSub>
                      <m:r>
                        <a:rPr lang="en-US" b="0" i="1" smtClean="0">
                          <a:latin typeface="Cambria Math"/>
                        </a:rPr>
                        <m:t>=</m:t>
                      </m:r>
                      <m:r>
                        <a:rPr lang="en-US" b="0" i="1" smtClean="0">
                          <a:latin typeface="Cambria Math"/>
                        </a:rPr>
                        <m:t>11790</m:t>
                      </m:r>
                      <m:r>
                        <a:rPr lang="en-US" b="0" i="1" smtClean="0">
                          <a:latin typeface="Cambria Math"/>
                        </a:rPr>
                        <m:t>.</m:t>
                      </m:r>
                      <m:r>
                        <a:rPr lang="en-US" b="0" i="1" smtClean="0">
                          <a:latin typeface="Cambria Math"/>
                        </a:rPr>
                        <m:t>25</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23528" y="4684168"/>
                <a:ext cx="8568952" cy="1775743"/>
              </a:xfrm>
              <a:prstGeom prst="rect">
                <a:avLst/>
              </a:prstGeom>
              <a:blipFill rotWithShape="1">
                <a:blip r:embed="rId3"/>
                <a:stretch>
                  <a:fillRect l="-569"/>
                </a:stretch>
              </a:blipFill>
            </p:spPr>
            <p:txBody>
              <a:bodyPr/>
              <a:lstStyle/>
              <a:p>
                <a:r>
                  <a:rPr lang="en-US">
                    <a:noFill/>
                  </a:rPr>
                  <a:t> </a:t>
                </a:r>
              </a:p>
            </p:txBody>
          </p:sp>
        </mc:Fallback>
      </mc:AlternateContent>
    </p:spTree>
    <p:extLst>
      <p:ext uri="{BB962C8B-B14F-4D97-AF65-F5344CB8AC3E}">
        <p14:creationId xmlns:p14="http://schemas.microsoft.com/office/powerpoint/2010/main" val="3535196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10000"/>
              </a:bodyPr>
              <a:lstStyle/>
              <a:p>
                <a:pPr algn="just"/>
                <a:r>
                  <a:rPr lang="en-US" sz="1900" dirty="0" smtClean="0">
                    <a:latin typeface="Calibri" pitchFamily="34" charset="0"/>
                    <a:cs typeface="Calibri" pitchFamily="34" charset="0"/>
                  </a:rPr>
                  <a:t>Khi</a:t>
                </a:r>
                <a:r>
                  <a:rPr lang="en-US" sz="1900" dirty="0">
                    <a:latin typeface="Calibri" pitchFamily="34" charset="0"/>
                    <a:cs typeface="Calibri" pitchFamily="34" charset="0"/>
                  </a:rPr>
                  <a:t> </a:t>
                </a:r>
                <a:r>
                  <a:rPr lang="en-US" sz="1900" dirty="0" err="1">
                    <a:latin typeface="Calibri" pitchFamily="34" charset="0"/>
                    <a:cs typeface="Calibri" pitchFamily="34" charset="0"/>
                  </a:rPr>
                  <a:t>đo</a:t>
                </a:r>
                <a:r>
                  <a:rPr lang="en-US" sz="1900" dirty="0">
                    <a:latin typeface="Calibri" pitchFamily="34" charset="0"/>
                    <a:cs typeface="Calibri" pitchFamily="34" charset="0"/>
                  </a:rPr>
                  <a:t>́ </a:t>
                </a:r>
                <a:r>
                  <a:rPr lang="en-US" sz="1900" dirty="0" err="1">
                    <a:latin typeface="Calibri" pitchFamily="34" charset="0"/>
                    <a:cs typeface="Calibri" pitchFamily="34" charset="0"/>
                  </a:rPr>
                  <a:t>thống</a:t>
                </a:r>
                <a:r>
                  <a:rPr lang="en-US" sz="1900" dirty="0">
                    <a:latin typeface="Calibri" pitchFamily="34" charset="0"/>
                    <a:cs typeface="Calibri" pitchFamily="34" charset="0"/>
                  </a:rPr>
                  <a:t> </a:t>
                </a:r>
                <a:r>
                  <a:rPr lang="en-US" sz="1900" dirty="0" err="1">
                    <a:latin typeface="Calibri" pitchFamily="34" charset="0"/>
                    <a:cs typeface="Calibri" pitchFamily="34" charset="0"/>
                  </a:rPr>
                  <a:t>kê</a:t>
                </a:r>
                <a:r>
                  <a:rPr lang="en-US" sz="1900" dirty="0">
                    <a:latin typeface="Calibri" pitchFamily="34" charset="0"/>
                    <a:cs typeface="Calibri" pitchFamily="34" charset="0"/>
                  </a:rPr>
                  <a:t> F (</a:t>
                </a:r>
                <a:r>
                  <a:rPr lang="en-US" sz="1900" dirty="0" err="1">
                    <a:latin typeface="Calibri" pitchFamily="34" charset="0"/>
                    <a:cs typeface="Calibri" pitchFamily="34" charset="0"/>
                  </a:rPr>
                  <a:t>kiểm</a:t>
                </a:r>
                <a:r>
                  <a:rPr lang="en-US" sz="1900" dirty="0">
                    <a:latin typeface="Calibri" pitchFamily="34" charset="0"/>
                    <a:cs typeface="Calibri" pitchFamily="34" charset="0"/>
                  </a:rPr>
                  <a:t> </a:t>
                </a:r>
                <a:r>
                  <a:rPr lang="en-US" sz="1900" dirty="0" err="1">
                    <a:latin typeface="Calibri" pitchFamily="34" charset="0"/>
                    <a:cs typeface="Calibri" pitchFamily="34" charset="0"/>
                  </a:rPr>
                  <a:t>định</a:t>
                </a:r>
                <a:r>
                  <a:rPr lang="en-US" sz="1900" dirty="0">
                    <a:latin typeface="Calibri" pitchFamily="34" charset="0"/>
                    <a:cs typeface="Calibri" pitchFamily="34" charset="0"/>
                  </a:rPr>
                  <a:t> Chow</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được</a:t>
                </a:r>
                <a:r>
                  <a:rPr lang="en-US" sz="1900" dirty="0" smtClean="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a:t>
                </a:r>
                <a:r>
                  <a:rPr lang="en-US" sz="1900" dirty="0" err="1">
                    <a:latin typeface="Calibri" pitchFamily="34" charset="0"/>
                    <a:cs typeface="Calibri" pitchFamily="34" charset="0"/>
                  </a:rPr>
                  <a:t>như</a:t>
                </a:r>
                <a:r>
                  <a:rPr lang="en-US" sz="1900" dirty="0">
                    <a:latin typeface="Calibri" pitchFamily="34" charset="0"/>
                    <a:cs typeface="Calibri" pitchFamily="34" charset="0"/>
                  </a:rPr>
                  <a:t> </a:t>
                </a:r>
                <a:r>
                  <a:rPr lang="en-US" sz="1900" dirty="0" err="1">
                    <a:latin typeface="Calibri" pitchFamily="34" charset="0"/>
                    <a:cs typeface="Calibri" pitchFamily="34" charset="0"/>
                  </a:rPr>
                  <a:t>sau</a:t>
                </a:r>
                <a:r>
                  <a:rPr lang="en-US" sz="1900" dirty="0">
                    <a:latin typeface="Calibri" pitchFamily="34" charset="0"/>
                    <a:cs typeface="Calibri" pitchFamily="34" charset="0"/>
                  </a:rPr>
                  <a:t>:</a:t>
                </a:r>
              </a:p>
              <a:p>
                <a:pPr algn="just"/>
                <a:endParaRPr lang="en-US" sz="1900" dirty="0" smtClean="0">
                  <a:latin typeface="Calibri" pitchFamily="34" charset="0"/>
                  <a:cs typeface="Calibri" pitchFamily="34" charset="0"/>
                </a:endParaRPr>
              </a:p>
              <a:p>
                <a:pPr marL="109728" indent="0" algn="just">
                  <a:buNone/>
                </a:pPr>
                <a14:m>
                  <m:oMathPara xmlns:m="http://schemas.openxmlformats.org/officeDocument/2006/math">
                    <m:oMathParaPr>
                      <m:jc m:val="centerGroup"/>
                    </m:oMathParaPr>
                    <m:oMath xmlns:m="http://schemas.openxmlformats.org/officeDocument/2006/math">
                      <m:r>
                        <a:rPr lang="en-US" sz="1900" b="0" i="1" smtClean="0">
                          <a:latin typeface="Cambria Math"/>
                          <a:cs typeface="Calibri" pitchFamily="34" charset="0"/>
                        </a:rPr>
                        <m:t>𝐹</m:t>
                      </m:r>
                      <m:r>
                        <a:rPr lang="en-US" sz="1900" b="0" i="1" smtClean="0">
                          <a:latin typeface="Cambria Math"/>
                          <a:cs typeface="Calibri" pitchFamily="34" charset="0"/>
                        </a:rPr>
                        <m:t>=</m:t>
                      </m:r>
                      <m:f>
                        <m:fPr>
                          <m:ctrlPr>
                            <a:rPr lang="en-US" sz="1900" b="0" i="1" smtClean="0">
                              <a:latin typeface="Cambria Math"/>
                              <a:cs typeface="Calibri" pitchFamily="34" charset="0"/>
                            </a:rPr>
                          </m:ctrlPr>
                        </m:fPr>
                        <m:num>
                          <m:d>
                            <m:dPr>
                              <m:begChr m:val="["/>
                              <m:endChr m:val="]"/>
                              <m:ctrlPr>
                                <a:rPr lang="en-US" sz="1900" b="0" i="1" smtClean="0">
                                  <a:latin typeface="Cambria Math"/>
                                  <a:cs typeface="Calibri" pitchFamily="34" charset="0"/>
                                </a:rPr>
                              </m:ctrlPr>
                            </m:dPr>
                            <m:e>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𝑝</m:t>
                                  </m:r>
                                </m:sub>
                              </m:sSub>
                              <m:r>
                                <a:rPr lang="en-US" sz="1900" b="0" i="1" smtClean="0">
                                  <a:latin typeface="Cambria Math"/>
                                  <a:cs typeface="Calibri" pitchFamily="34" charset="0"/>
                                </a:rPr>
                                <m:t>−</m:t>
                              </m:r>
                              <m:d>
                                <m:dPr>
                                  <m:ctrlPr>
                                    <a:rPr lang="en-US" sz="1900" b="0" i="1" smtClean="0">
                                      <a:latin typeface="Cambria Math"/>
                                      <a:cs typeface="Calibri" pitchFamily="34" charset="0"/>
                                    </a:rPr>
                                  </m:ctrlPr>
                                </m:dPr>
                                <m:e>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1</m:t>
                                      </m:r>
                                    </m:sub>
                                  </m:sSub>
                                  <m:r>
                                    <a:rPr lang="en-US" sz="1900" b="0" i="1" smtClean="0">
                                      <a:latin typeface="Cambria Math"/>
                                      <a:cs typeface="Calibri" pitchFamily="34" charset="0"/>
                                    </a:rPr>
                                    <m:t>+</m:t>
                                  </m:r>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2</m:t>
                                      </m:r>
                                    </m:sub>
                                  </m:sSub>
                                </m:e>
                              </m:d>
                            </m:e>
                          </m:d>
                        </m:num>
                        <m:den>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1</m:t>
                              </m:r>
                            </m:sub>
                          </m:sSub>
                          <m:r>
                            <a:rPr lang="en-US" sz="1900" b="0" i="1" smtClean="0">
                              <a:latin typeface="Cambria Math"/>
                              <a:cs typeface="Calibri" pitchFamily="34" charset="0"/>
                            </a:rPr>
                            <m:t>+</m:t>
                          </m:r>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2</m:t>
                              </m:r>
                            </m:sub>
                          </m:sSub>
                        </m:den>
                      </m:f>
                      <m:r>
                        <a:rPr lang="en-US" sz="1900" b="0" i="1" smtClean="0">
                          <a:latin typeface="Cambria Math"/>
                          <a:ea typeface="Cambria Math"/>
                          <a:cs typeface="Calibri" pitchFamily="34" charset="0"/>
                        </a:rPr>
                        <m:t>×</m:t>
                      </m:r>
                      <m:f>
                        <m:fPr>
                          <m:ctrlPr>
                            <a:rPr lang="en-US" sz="1900" b="0" i="1" smtClean="0">
                              <a:latin typeface="Cambria Math"/>
                              <a:ea typeface="Cambria Math"/>
                              <a:cs typeface="Calibri" pitchFamily="34" charset="0"/>
                            </a:rPr>
                          </m:ctrlPr>
                        </m:fPr>
                        <m:num>
                          <m:r>
                            <a:rPr lang="en-US" sz="1900" b="0" i="1" smtClean="0">
                              <a:latin typeface="Cambria Math"/>
                              <a:ea typeface="Cambria Math"/>
                              <a:cs typeface="Calibri" pitchFamily="34" charset="0"/>
                            </a:rPr>
                            <m:t>𝑛</m:t>
                          </m:r>
                          <m:r>
                            <a:rPr lang="en-US" sz="1900" b="0" i="1" smtClean="0">
                              <a:latin typeface="Cambria Math"/>
                              <a:ea typeface="Cambria Math"/>
                              <a:cs typeface="Calibri" pitchFamily="34" charset="0"/>
                            </a:rPr>
                            <m:t>−2</m:t>
                          </m:r>
                          <m:d>
                            <m:dPr>
                              <m:ctrlPr>
                                <a:rPr lang="en-US" sz="1900" b="0" i="1" smtClean="0">
                                  <a:latin typeface="Cambria Math"/>
                                  <a:ea typeface="Cambria Math"/>
                                  <a:cs typeface="Calibri" pitchFamily="34" charset="0"/>
                                </a:rPr>
                              </m:ctrlPr>
                            </m:dPr>
                            <m:e>
                              <m:r>
                                <a:rPr lang="en-US" sz="1900" b="0" i="1" smtClean="0">
                                  <a:latin typeface="Cambria Math"/>
                                  <a:ea typeface="Cambria Math"/>
                                  <a:cs typeface="Calibri" pitchFamily="34" charset="0"/>
                                </a:rPr>
                                <m:t>𝑘</m:t>
                              </m:r>
                              <m:r>
                                <a:rPr lang="en-US" sz="1900" b="0" i="1" smtClean="0">
                                  <a:latin typeface="Cambria Math"/>
                                  <a:ea typeface="Cambria Math"/>
                                  <a:cs typeface="Calibri" pitchFamily="34" charset="0"/>
                                </a:rPr>
                                <m:t>+1</m:t>
                              </m:r>
                            </m:e>
                          </m:d>
                        </m:num>
                        <m:den>
                          <m:r>
                            <a:rPr lang="en-US" sz="1900" b="0" i="1" smtClean="0">
                              <a:latin typeface="Cambria Math"/>
                              <a:ea typeface="Cambria Math"/>
                              <a:cs typeface="Calibri" pitchFamily="34" charset="0"/>
                            </a:rPr>
                            <m:t>𝑘</m:t>
                          </m:r>
                          <m:r>
                            <a:rPr lang="en-US" sz="1900" b="0" i="1" smtClean="0">
                              <a:latin typeface="Cambria Math"/>
                              <a:ea typeface="Cambria Math"/>
                              <a:cs typeface="Calibri" pitchFamily="34" charset="0"/>
                            </a:rPr>
                            <m:t>+1</m:t>
                          </m:r>
                        </m:den>
                      </m:f>
                    </m:oMath>
                  </m:oMathPara>
                </a14:m>
                <a:endParaRPr lang="en-US" sz="1900" dirty="0" smtClean="0">
                  <a:latin typeface="Calibri" pitchFamily="34" charset="0"/>
                  <a:cs typeface="Calibri" pitchFamily="34" charset="0"/>
                </a:endParaRPr>
              </a:p>
              <a:p>
                <a:pPr algn="just"/>
                <a:endParaRPr lang="en-US" sz="1900" dirty="0">
                  <a:latin typeface="Calibri" pitchFamily="34" charset="0"/>
                  <a:cs typeface="Calibri" pitchFamily="34" charset="0"/>
                </a:endParaRPr>
              </a:p>
              <a:p>
                <a:pPr algn="just"/>
                <a:r>
                  <a:rPr lang="en-US" sz="1900" dirty="0">
                    <a:latin typeface="Calibri" pitchFamily="34" charset="0"/>
                    <a:cs typeface="Calibri" pitchFamily="34" charset="0"/>
                  </a:rPr>
                  <a:t>SSR</a:t>
                </a:r>
                <a:r>
                  <a:rPr lang="en-US" sz="1900" baseline="-25000" dirty="0">
                    <a:latin typeface="Calibri" pitchFamily="34" charset="0"/>
                    <a:cs typeface="Calibri" pitchFamily="34" charset="0"/>
                  </a:rPr>
                  <a:t>1</a:t>
                </a:r>
                <a:r>
                  <a:rPr lang="en-US" sz="1900" dirty="0">
                    <a:latin typeface="Calibri" pitchFamily="34" charset="0"/>
                    <a:cs typeface="Calibri" pitchFamily="34" charset="0"/>
                  </a:rPr>
                  <a:t>: </a:t>
                </a:r>
                <a:r>
                  <a:rPr lang="en-US" sz="1900" dirty="0" err="1">
                    <a:latin typeface="Calibri" pitchFamily="34" charset="0"/>
                    <a:cs typeface="Calibri" pitchFamily="34" charset="0"/>
                  </a:rPr>
                  <a:t>tổng</a:t>
                </a:r>
                <a:r>
                  <a:rPr lang="en-US" sz="1900" dirty="0">
                    <a:latin typeface="Calibri" pitchFamily="34" charset="0"/>
                    <a:cs typeface="Calibri" pitchFamily="34" charset="0"/>
                  </a:rPr>
                  <a:t> </a:t>
                </a:r>
                <a:r>
                  <a:rPr lang="en-US" sz="1900" dirty="0" err="1">
                    <a:latin typeface="Calibri" pitchFamily="34" charset="0"/>
                    <a:cs typeface="Calibri" pitchFamily="34" charset="0"/>
                  </a:rPr>
                  <a:t>bình</a:t>
                </a:r>
                <a:r>
                  <a:rPr lang="en-US" sz="1900" dirty="0">
                    <a:latin typeface="Calibri" pitchFamily="34" charset="0"/>
                    <a:cs typeface="Calibri" pitchFamily="34" charset="0"/>
                  </a:rPr>
                  <a:t> </a:t>
                </a:r>
                <a:r>
                  <a:rPr lang="en-US" sz="1900" dirty="0" err="1">
                    <a:latin typeface="Calibri" pitchFamily="34" charset="0"/>
                    <a:cs typeface="Calibri" pitchFamily="34" charset="0"/>
                  </a:rPr>
                  <a:t>phương</a:t>
                </a:r>
                <a:r>
                  <a:rPr lang="en-US" sz="1900" dirty="0">
                    <a:latin typeface="Calibri" pitchFamily="34" charset="0"/>
                    <a:cs typeface="Calibri" pitchFamily="34" charset="0"/>
                  </a:rPr>
                  <a:t> </a:t>
                </a:r>
                <a:r>
                  <a:rPr lang="en-US" sz="1900" dirty="0" err="1">
                    <a:latin typeface="Calibri" pitchFamily="34" charset="0"/>
                    <a:cs typeface="Calibri" pitchFamily="34" charset="0"/>
                  </a:rPr>
                  <a:t>phần</a:t>
                </a:r>
                <a:r>
                  <a:rPr lang="en-US" sz="1900" dirty="0">
                    <a:latin typeface="Calibri" pitchFamily="34" charset="0"/>
                    <a:cs typeface="Calibri" pitchFamily="34" charset="0"/>
                  </a:rPr>
                  <a:t> </a:t>
                </a:r>
                <a:r>
                  <a:rPr lang="en-US" sz="1900" dirty="0" err="1">
                    <a:latin typeface="Calibri" pitchFamily="34" charset="0"/>
                    <a:cs typeface="Calibri" pitchFamily="34" charset="0"/>
                  </a:rPr>
                  <a:t>dư</a:t>
                </a:r>
                <a:r>
                  <a:rPr lang="en-US" sz="1900" dirty="0">
                    <a:latin typeface="Calibri" pitchFamily="34" charset="0"/>
                    <a:cs typeface="Calibri" pitchFamily="34" charset="0"/>
                  </a:rPr>
                  <a:t> </a:t>
                </a:r>
                <a:r>
                  <a:rPr lang="en-US" sz="1900" dirty="0" err="1">
                    <a:latin typeface="Calibri" pitchFamily="34" charset="0"/>
                    <a:cs typeface="Calibri" pitchFamily="34" charset="0"/>
                  </a:rPr>
                  <a:t>được</a:t>
                </a:r>
                <a:r>
                  <a:rPr lang="en-US" sz="1900" dirty="0">
                    <a:latin typeface="Calibri" pitchFamily="34" charset="0"/>
                    <a:cs typeface="Calibri" pitchFamily="34" charset="0"/>
                  </a:rPr>
                  <a:t> </a:t>
                </a:r>
                <a:r>
                  <a:rPr lang="en-US" sz="1900" dirty="0" err="1">
                    <a:latin typeface="Calibri" pitchFamily="34" charset="0"/>
                    <a:cs typeface="Calibri" pitchFamily="34" charset="0"/>
                  </a:rPr>
                  <a:t>ước</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giai</a:t>
                </a:r>
                <a:r>
                  <a:rPr lang="en-US" sz="1900" dirty="0">
                    <a:latin typeface="Calibri" pitchFamily="34" charset="0"/>
                    <a:cs typeface="Calibri" pitchFamily="34" charset="0"/>
                  </a:rPr>
                  <a:t> </a:t>
                </a:r>
                <a:r>
                  <a:rPr lang="en-US" sz="1900" dirty="0" err="1">
                    <a:latin typeface="Calibri" pitchFamily="34" charset="0"/>
                    <a:cs typeface="Calibri" pitchFamily="34" charset="0"/>
                  </a:rPr>
                  <a:t>đoạn</a:t>
                </a:r>
                <a:r>
                  <a:rPr lang="en-US" sz="1900" dirty="0">
                    <a:latin typeface="Calibri" pitchFamily="34" charset="0"/>
                    <a:cs typeface="Calibri" pitchFamily="34" charset="0"/>
                  </a:rPr>
                  <a:t> 1, n</a:t>
                </a:r>
                <a:r>
                  <a:rPr lang="en-US" sz="1900" baseline="-25000" dirty="0">
                    <a:latin typeface="Calibri" pitchFamily="34" charset="0"/>
                    <a:cs typeface="Calibri" pitchFamily="34" charset="0"/>
                  </a:rPr>
                  <a:t>1</a:t>
                </a:r>
                <a:r>
                  <a:rPr lang="en-US" sz="1900" dirty="0">
                    <a:latin typeface="Calibri" pitchFamily="34" charset="0"/>
                    <a:cs typeface="Calibri" pitchFamily="34" charset="0"/>
                  </a:rPr>
                  <a:t> </a:t>
                </a:r>
                <a:r>
                  <a:rPr lang="en-US" sz="1900" dirty="0" err="1">
                    <a:latin typeface="Calibri" pitchFamily="34" charset="0"/>
                    <a:cs typeface="Calibri" pitchFamily="34" charset="0"/>
                  </a:rPr>
                  <a:t>quan</a:t>
                </a:r>
                <a:r>
                  <a:rPr lang="en-US" sz="1900" dirty="0">
                    <a:latin typeface="Calibri" pitchFamily="34" charset="0"/>
                    <a:cs typeface="Calibri" pitchFamily="34" charset="0"/>
                  </a:rPr>
                  <a:t> </a:t>
                </a:r>
                <a:r>
                  <a:rPr lang="en-US" sz="1900" dirty="0" err="1">
                    <a:latin typeface="Calibri" pitchFamily="34" charset="0"/>
                    <a:cs typeface="Calibri" pitchFamily="34" charset="0"/>
                  </a:rPr>
                  <a:t>sát</a:t>
                </a:r>
                <a:endParaRPr lang="en-US" sz="1900" dirty="0">
                  <a:latin typeface="Calibri" pitchFamily="34" charset="0"/>
                  <a:cs typeface="Calibri" pitchFamily="34" charset="0"/>
                </a:endParaRPr>
              </a:p>
              <a:p>
                <a:pPr algn="just"/>
                <a:r>
                  <a:rPr lang="en-US" sz="1900" dirty="0">
                    <a:latin typeface="Calibri" pitchFamily="34" charset="0"/>
                    <a:cs typeface="Calibri" pitchFamily="34" charset="0"/>
                  </a:rPr>
                  <a:t>SSR</a:t>
                </a:r>
                <a:r>
                  <a:rPr lang="en-US" sz="1900" baseline="-25000" dirty="0">
                    <a:latin typeface="Calibri" pitchFamily="34" charset="0"/>
                    <a:cs typeface="Calibri" pitchFamily="34" charset="0"/>
                  </a:rPr>
                  <a:t>2</a:t>
                </a:r>
                <a:r>
                  <a:rPr lang="en-US" sz="1900" dirty="0">
                    <a:latin typeface="Calibri" pitchFamily="34" charset="0"/>
                    <a:cs typeface="Calibri" pitchFamily="34" charset="0"/>
                  </a:rPr>
                  <a:t>: </a:t>
                </a:r>
                <a:r>
                  <a:rPr lang="en-US" sz="1900" dirty="0" err="1">
                    <a:latin typeface="Calibri" pitchFamily="34" charset="0"/>
                    <a:cs typeface="Calibri" pitchFamily="34" charset="0"/>
                  </a:rPr>
                  <a:t>tổng</a:t>
                </a:r>
                <a:r>
                  <a:rPr lang="en-US" sz="1900" dirty="0">
                    <a:latin typeface="Calibri" pitchFamily="34" charset="0"/>
                    <a:cs typeface="Calibri" pitchFamily="34" charset="0"/>
                  </a:rPr>
                  <a:t> </a:t>
                </a:r>
                <a:r>
                  <a:rPr lang="en-US" sz="1900" dirty="0" err="1">
                    <a:latin typeface="Calibri" pitchFamily="34" charset="0"/>
                    <a:cs typeface="Calibri" pitchFamily="34" charset="0"/>
                  </a:rPr>
                  <a:t>bình</a:t>
                </a:r>
                <a:r>
                  <a:rPr lang="en-US" sz="1900" dirty="0">
                    <a:latin typeface="Calibri" pitchFamily="34" charset="0"/>
                    <a:cs typeface="Calibri" pitchFamily="34" charset="0"/>
                  </a:rPr>
                  <a:t> </a:t>
                </a:r>
                <a:r>
                  <a:rPr lang="en-US" sz="1900" dirty="0" err="1">
                    <a:latin typeface="Calibri" pitchFamily="34" charset="0"/>
                    <a:cs typeface="Calibri" pitchFamily="34" charset="0"/>
                  </a:rPr>
                  <a:t>phương</a:t>
                </a:r>
                <a:r>
                  <a:rPr lang="en-US" sz="1900" dirty="0">
                    <a:latin typeface="Calibri" pitchFamily="34" charset="0"/>
                    <a:cs typeface="Calibri" pitchFamily="34" charset="0"/>
                  </a:rPr>
                  <a:t> </a:t>
                </a:r>
                <a:r>
                  <a:rPr lang="en-US" sz="1900" dirty="0" err="1">
                    <a:latin typeface="Calibri" pitchFamily="34" charset="0"/>
                    <a:cs typeface="Calibri" pitchFamily="34" charset="0"/>
                  </a:rPr>
                  <a:t>phần</a:t>
                </a:r>
                <a:r>
                  <a:rPr lang="en-US" sz="1900" dirty="0">
                    <a:latin typeface="Calibri" pitchFamily="34" charset="0"/>
                    <a:cs typeface="Calibri" pitchFamily="34" charset="0"/>
                  </a:rPr>
                  <a:t> </a:t>
                </a:r>
                <a:r>
                  <a:rPr lang="en-US" sz="1900" dirty="0" err="1">
                    <a:latin typeface="Calibri" pitchFamily="34" charset="0"/>
                    <a:cs typeface="Calibri" pitchFamily="34" charset="0"/>
                  </a:rPr>
                  <a:t>dư</a:t>
                </a:r>
                <a:r>
                  <a:rPr lang="en-US" sz="1900" dirty="0">
                    <a:latin typeface="Calibri" pitchFamily="34" charset="0"/>
                    <a:cs typeface="Calibri" pitchFamily="34" charset="0"/>
                  </a:rPr>
                  <a:t> </a:t>
                </a:r>
                <a:r>
                  <a:rPr lang="en-US" sz="1900" dirty="0" err="1">
                    <a:latin typeface="Calibri" pitchFamily="34" charset="0"/>
                    <a:cs typeface="Calibri" pitchFamily="34" charset="0"/>
                  </a:rPr>
                  <a:t>được</a:t>
                </a:r>
                <a:r>
                  <a:rPr lang="en-US" sz="1900" dirty="0">
                    <a:latin typeface="Calibri" pitchFamily="34" charset="0"/>
                    <a:cs typeface="Calibri" pitchFamily="34" charset="0"/>
                  </a:rPr>
                  <a:t> </a:t>
                </a:r>
                <a:r>
                  <a:rPr lang="en-US" sz="1900" dirty="0" err="1">
                    <a:latin typeface="Calibri" pitchFamily="34" charset="0"/>
                    <a:cs typeface="Calibri" pitchFamily="34" charset="0"/>
                  </a:rPr>
                  <a:t>ước</a:t>
                </a:r>
                <a:r>
                  <a:rPr lang="en-US" sz="1900" dirty="0">
                    <a:latin typeface="Calibri" pitchFamily="34" charset="0"/>
                    <a:cs typeface="Calibri" pitchFamily="34" charset="0"/>
                  </a:rPr>
                  <a:t> </a:t>
                </a:r>
                <a:r>
                  <a:rPr lang="en-US" sz="1900" dirty="0" err="1">
                    <a:latin typeface="Calibri" pitchFamily="34" charset="0"/>
                    <a:cs typeface="Calibri" pitchFamily="34" charset="0"/>
                  </a:rPr>
                  <a:t>tính</a:t>
                </a:r>
                <a:r>
                  <a:rPr lang="en-US" sz="1900" dirty="0">
                    <a:latin typeface="Calibri" pitchFamily="34" charset="0"/>
                    <a:cs typeface="Calibri" pitchFamily="34" charset="0"/>
                  </a:rPr>
                  <a:t> </a:t>
                </a:r>
                <a:r>
                  <a:rPr lang="en-US" sz="1900" dirty="0" err="1">
                    <a:latin typeface="Calibri" pitchFamily="34" charset="0"/>
                    <a:cs typeface="Calibri" pitchFamily="34" charset="0"/>
                  </a:rPr>
                  <a:t>cho</a:t>
                </a:r>
                <a:r>
                  <a:rPr lang="en-US" sz="1900" dirty="0">
                    <a:latin typeface="Calibri" pitchFamily="34" charset="0"/>
                    <a:cs typeface="Calibri" pitchFamily="34" charset="0"/>
                  </a:rPr>
                  <a:t> </a:t>
                </a:r>
                <a:r>
                  <a:rPr lang="en-US" sz="1900" dirty="0" err="1">
                    <a:latin typeface="Calibri" pitchFamily="34" charset="0"/>
                    <a:cs typeface="Calibri" pitchFamily="34" charset="0"/>
                  </a:rPr>
                  <a:t>giai</a:t>
                </a:r>
                <a:r>
                  <a:rPr lang="en-US" sz="1900" dirty="0">
                    <a:latin typeface="Calibri" pitchFamily="34" charset="0"/>
                    <a:cs typeface="Calibri" pitchFamily="34" charset="0"/>
                  </a:rPr>
                  <a:t> </a:t>
                </a:r>
                <a:r>
                  <a:rPr lang="en-US" sz="1900" dirty="0" err="1">
                    <a:latin typeface="Calibri" pitchFamily="34" charset="0"/>
                    <a:cs typeface="Calibri" pitchFamily="34" charset="0"/>
                  </a:rPr>
                  <a:t>đoạn</a:t>
                </a:r>
                <a:r>
                  <a:rPr lang="en-US" sz="1900" dirty="0">
                    <a:latin typeface="Calibri" pitchFamily="34" charset="0"/>
                    <a:cs typeface="Calibri" pitchFamily="34" charset="0"/>
                  </a:rPr>
                  <a:t> 2 , n</a:t>
                </a:r>
                <a:r>
                  <a:rPr lang="en-US" sz="1900" baseline="-25000" dirty="0">
                    <a:latin typeface="Calibri" pitchFamily="34" charset="0"/>
                    <a:cs typeface="Calibri" pitchFamily="34" charset="0"/>
                  </a:rPr>
                  <a:t>2</a:t>
                </a:r>
                <a:r>
                  <a:rPr lang="en-US" sz="1900" dirty="0">
                    <a:latin typeface="Calibri" pitchFamily="34" charset="0"/>
                    <a:cs typeface="Calibri" pitchFamily="34" charset="0"/>
                  </a:rPr>
                  <a:t> </a:t>
                </a:r>
                <a:r>
                  <a:rPr lang="en-US" sz="1900" dirty="0" err="1">
                    <a:latin typeface="Calibri" pitchFamily="34" charset="0"/>
                    <a:cs typeface="Calibri" pitchFamily="34" charset="0"/>
                  </a:rPr>
                  <a:t>quan</a:t>
                </a:r>
                <a:r>
                  <a:rPr lang="en-US" sz="1900" dirty="0">
                    <a:latin typeface="Calibri" pitchFamily="34" charset="0"/>
                    <a:cs typeface="Calibri" pitchFamily="34" charset="0"/>
                  </a:rPr>
                  <a:t> </a:t>
                </a:r>
                <a:r>
                  <a:rPr lang="en-US" sz="1900" dirty="0" err="1">
                    <a:latin typeface="Calibri" pitchFamily="34" charset="0"/>
                    <a:cs typeface="Calibri" pitchFamily="34" charset="0"/>
                  </a:rPr>
                  <a:t>sát</a:t>
                </a:r>
                <a:endParaRPr lang="en-US" sz="1900" dirty="0">
                  <a:latin typeface="Calibri" pitchFamily="34" charset="0"/>
                  <a:cs typeface="Calibri" pitchFamily="34" charset="0"/>
                </a:endParaRPr>
              </a:p>
              <a:p>
                <a:pPr algn="just"/>
                <a:r>
                  <a:rPr lang="en-US" sz="1900" dirty="0">
                    <a:latin typeface="Calibri" pitchFamily="34" charset="0"/>
                    <a:cs typeface="Calibri" pitchFamily="34" charset="0"/>
                  </a:rPr>
                  <a:t>SSR: </a:t>
                </a:r>
                <a:r>
                  <a:rPr lang="en-US" sz="1900" dirty="0" err="1">
                    <a:latin typeface="Calibri" pitchFamily="34" charset="0"/>
                    <a:cs typeface="Calibri" pitchFamily="34" charset="0"/>
                  </a:rPr>
                  <a:t>tổng</a:t>
                </a:r>
                <a:r>
                  <a:rPr lang="en-US" sz="1900" dirty="0">
                    <a:latin typeface="Calibri" pitchFamily="34" charset="0"/>
                    <a:cs typeface="Calibri" pitchFamily="34" charset="0"/>
                  </a:rPr>
                  <a:t> </a:t>
                </a:r>
                <a:r>
                  <a:rPr lang="en-US" sz="1900" dirty="0" err="1">
                    <a:latin typeface="Calibri" pitchFamily="34" charset="0"/>
                    <a:cs typeface="Calibri" pitchFamily="34" charset="0"/>
                  </a:rPr>
                  <a:t>bình</a:t>
                </a:r>
                <a:r>
                  <a:rPr lang="en-US" sz="1900" dirty="0">
                    <a:latin typeface="Calibri" pitchFamily="34" charset="0"/>
                    <a:cs typeface="Calibri" pitchFamily="34" charset="0"/>
                  </a:rPr>
                  <a:t> </a:t>
                </a:r>
                <a:r>
                  <a:rPr lang="en-US" sz="1900" dirty="0" err="1">
                    <a:latin typeface="Calibri" pitchFamily="34" charset="0"/>
                    <a:cs typeface="Calibri" pitchFamily="34" charset="0"/>
                  </a:rPr>
                  <a:t>phương</a:t>
                </a:r>
                <a:r>
                  <a:rPr lang="en-US" sz="1900" dirty="0">
                    <a:latin typeface="Calibri" pitchFamily="34" charset="0"/>
                    <a:cs typeface="Calibri" pitchFamily="34" charset="0"/>
                  </a:rPr>
                  <a:t> </a:t>
                </a:r>
                <a:r>
                  <a:rPr lang="en-US" sz="1900" dirty="0" err="1">
                    <a:latin typeface="Calibri" pitchFamily="34" charset="0"/>
                    <a:cs typeface="Calibri" pitchFamily="34" charset="0"/>
                  </a:rPr>
                  <a:t>phần</a:t>
                </a:r>
                <a:r>
                  <a:rPr lang="en-US" sz="1900" dirty="0">
                    <a:latin typeface="Calibri" pitchFamily="34" charset="0"/>
                    <a:cs typeface="Calibri" pitchFamily="34" charset="0"/>
                  </a:rPr>
                  <a:t> </a:t>
                </a:r>
                <a:r>
                  <a:rPr lang="en-US" sz="1900" dirty="0" err="1">
                    <a:latin typeface="Calibri" pitchFamily="34" charset="0"/>
                    <a:cs typeface="Calibri" pitchFamily="34" charset="0"/>
                  </a:rPr>
                  <a:t>dư</a:t>
                </a:r>
                <a:r>
                  <a:rPr lang="en-US" sz="1900" dirty="0">
                    <a:latin typeface="Calibri" pitchFamily="34" charset="0"/>
                    <a:cs typeface="Calibri" pitchFamily="34" charset="0"/>
                  </a:rPr>
                  <a:t> </a:t>
                </a:r>
                <a:r>
                  <a:rPr lang="en-US" sz="1900" dirty="0" err="1">
                    <a:latin typeface="Calibri" pitchFamily="34" charset="0"/>
                    <a:cs typeface="Calibri" pitchFamily="34" charset="0"/>
                  </a:rPr>
                  <a:t>gộp</a:t>
                </a:r>
                <a:r>
                  <a:rPr lang="en-US" sz="1900" dirty="0">
                    <a:latin typeface="Calibri" pitchFamily="34" charset="0"/>
                    <a:cs typeface="Calibri" pitchFamily="34" charset="0"/>
                  </a:rPr>
                  <a:t> </a:t>
                </a:r>
                <a:r>
                  <a:rPr lang="en-US" sz="1900" dirty="0" err="1">
                    <a:latin typeface="Calibri" pitchFamily="34" charset="0"/>
                    <a:cs typeface="Calibri" pitchFamily="34" charset="0"/>
                  </a:rPr>
                  <a:t>chung</a:t>
                </a:r>
                <a:r>
                  <a:rPr lang="en-US" sz="1900" dirty="0">
                    <a:latin typeface="Calibri" pitchFamily="34" charset="0"/>
                    <a:cs typeface="Calibri" pitchFamily="34" charset="0"/>
                  </a:rPr>
                  <a:t> </a:t>
                </a:r>
                <a:r>
                  <a:rPr lang="en-US" sz="1900" dirty="0" err="1">
                    <a:latin typeface="Calibri" pitchFamily="34" charset="0"/>
                    <a:cs typeface="Calibri" pitchFamily="34" charset="0"/>
                  </a:rPr>
                  <a:t>các</a:t>
                </a:r>
                <a:r>
                  <a:rPr lang="en-US" sz="1900" dirty="0">
                    <a:latin typeface="Calibri" pitchFamily="34" charset="0"/>
                    <a:cs typeface="Calibri" pitchFamily="34" charset="0"/>
                  </a:rPr>
                  <a:t> </a:t>
                </a:r>
                <a:r>
                  <a:rPr lang="en-US" sz="1900" dirty="0" err="1">
                    <a:latin typeface="Calibri" pitchFamily="34" charset="0"/>
                    <a:cs typeface="Calibri" pitchFamily="34" charset="0"/>
                  </a:rPr>
                  <a:t>nhóm</a:t>
                </a:r>
                <a:r>
                  <a:rPr lang="en-US" sz="1900" dirty="0">
                    <a:latin typeface="Calibri" pitchFamily="34" charset="0"/>
                    <a:cs typeface="Calibri" pitchFamily="34" charset="0"/>
                  </a:rPr>
                  <a:t> </a:t>
                </a:r>
                <a:r>
                  <a:rPr lang="en-US" sz="1900" dirty="0" err="1">
                    <a:latin typeface="Calibri" pitchFamily="34" charset="0"/>
                    <a:cs typeface="Calibri" pitchFamily="34" charset="0"/>
                  </a:rPr>
                  <a:t>thành</a:t>
                </a:r>
                <a:r>
                  <a:rPr lang="en-US" sz="1900" dirty="0">
                    <a:latin typeface="Calibri" pitchFamily="34" charset="0"/>
                    <a:cs typeface="Calibri" pitchFamily="34" charset="0"/>
                  </a:rPr>
                  <a:t> </a:t>
                </a:r>
                <a:r>
                  <a:rPr lang="en-US" sz="1900" dirty="0" err="1">
                    <a:latin typeface="Calibri" pitchFamily="34" charset="0"/>
                    <a:cs typeface="Calibri" pitchFamily="34" charset="0"/>
                  </a:rPr>
                  <a:t>một</a:t>
                </a:r>
                <a:r>
                  <a:rPr lang="en-US" sz="1900" dirty="0">
                    <a:latin typeface="Calibri" pitchFamily="34" charset="0"/>
                    <a:cs typeface="Calibri" pitchFamily="34" charset="0"/>
                  </a:rPr>
                  <a:t> </a:t>
                </a:r>
                <a:r>
                  <a:rPr lang="en-US" sz="1900" dirty="0" err="1">
                    <a:latin typeface="Calibri" pitchFamily="34" charset="0"/>
                    <a:cs typeface="Calibri" pitchFamily="34" charset="0"/>
                  </a:rPr>
                  <a:t>phương</a:t>
                </a:r>
                <a:r>
                  <a:rPr lang="en-US" sz="1900" dirty="0">
                    <a:latin typeface="Calibri" pitchFamily="34" charset="0"/>
                    <a:cs typeface="Calibri" pitchFamily="34" charset="0"/>
                  </a:rPr>
                  <a:t> </a:t>
                </a:r>
                <a:r>
                  <a:rPr lang="en-US" sz="1900" dirty="0" err="1">
                    <a:latin typeface="Calibri" pitchFamily="34" charset="0"/>
                    <a:cs typeface="Calibri" pitchFamily="34" charset="0"/>
                  </a:rPr>
                  <a:t>trình</a:t>
                </a:r>
                <a:r>
                  <a:rPr lang="en-US" sz="1900" dirty="0">
                    <a:latin typeface="Calibri" pitchFamily="34" charset="0"/>
                    <a:cs typeface="Calibri" pitchFamily="34" charset="0"/>
                  </a:rPr>
                  <a:t> </a:t>
                </a:r>
                <a:r>
                  <a:rPr lang="en-US" sz="1900" dirty="0" err="1">
                    <a:latin typeface="Calibri" pitchFamily="34" charset="0"/>
                    <a:cs typeface="Calibri" pitchFamily="34" charset="0"/>
                  </a:rPr>
                  <a:t>duy</a:t>
                </a:r>
                <a:r>
                  <a:rPr lang="en-US" sz="1900" dirty="0">
                    <a:latin typeface="Calibri" pitchFamily="34" charset="0"/>
                    <a:cs typeface="Calibri" pitchFamily="34" charset="0"/>
                  </a:rPr>
                  <a:t> </a:t>
                </a:r>
                <a:r>
                  <a:rPr lang="en-US" sz="1900" dirty="0" err="1">
                    <a:latin typeface="Calibri" pitchFamily="34" charset="0"/>
                    <a:cs typeface="Calibri" pitchFamily="34" charset="0"/>
                  </a:rPr>
                  <a:t>nhất</a:t>
                </a:r>
                <a:r>
                  <a:rPr lang="en-US" sz="1900" dirty="0">
                    <a:latin typeface="Calibri" pitchFamily="34" charset="0"/>
                    <a:cs typeface="Calibri" pitchFamily="34" charset="0"/>
                  </a:rPr>
                  <a:t> </a:t>
                </a:r>
                <a:r>
                  <a:rPr lang="en-US" sz="1900" dirty="0" err="1">
                    <a:latin typeface="Calibri" pitchFamily="34" charset="0"/>
                    <a:cs typeface="Calibri" pitchFamily="34" charset="0"/>
                  </a:rPr>
                  <a:t>gọi</a:t>
                </a:r>
                <a:r>
                  <a:rPr lang="en-US" sz="1900" dirty="0">
                    <a:latin typeface="Calibri" pitchFamily="34" charset="0"/>
                    <a:cs typeface="Calibri" pitchFamily="34" charset="0"/>
                  </a:rPr>
                  <a:t> là </a:t>
                </a:r>
                <a14:m>
                  <m:oMath xmlns:m="http://schemas.openxmlformats.org/officeDocument/2006/math">
                    <m:r>
                      <a:rPr lang="en-US" sz="1900" b="0" i="1" smtClean="0">
                        <a:latin typeface="Cambria Math"/>
                        <a:cs typeface="Calibri" pitchFamily="34" charset="0"/>
                      </a:rPr>
                      <m:t>𝑆𝑆</m:t>
                    </m:r>
                    <m:sSub>
                      <m:sSubPr>
                        <m:ctrlPr>
                          <a:rPr lang="en-US" sz="1900" b="0" i="1" smtClean="0">
                            <a:latin typeface="Cambria Math"/>
                            <a:cs typeface="Calibri" pitchFamily="34" charset="0"/>
                          </a:rPr>
                        </m:ctrlPr>
                      </m:sSubPr>
                      <m:e>
                        <m:r>
                          <a:rPr lang="en-US" sz="1900" b="0" i="1" smtClean="0">
                            <a:latin typeface="Cambria Math"/>
                            <a:cs typeface="Calibri" pitchFamily="34" charset="0"/>
                          </a:rPr>
                          <m:t>𝑅</m:t>
                        </m:r>
                      </m:e>
                      <m:sub>
                        <m:r>
                          <a:rPr lang="en-US" sz="1900" b="0" i="1" smtClean="0">
                            <a:latin typeface="Cambria Math"/>
                            <a:cs typeface="Calibri" pitchFamily="34" charset="0"/>
                          </a:rPr>
                          <m:t>𝑝</m:t>
                        </m:r>
                      </m:sub>
                    </m:sSub>
                  </m:oMath>
                </a14:m>
                <a:endParaRPr lang="en-US" sz="2000" baseline="-25000" dirty="0" smtClean="0"/>
              </a:p>
              <a:p>
                <a:pPr algn="just"/>
                <a:endParaRPr lang="en-US" sz="1900" dirty="0">
                  <a:latin typeface="Calibri" pitchFamily="34" charset="0"/>
                  <a:cs typeface="Calibri" pitchFamily="34" charset="0"/>
                </a:endParaRPr>
              </a:p>
              <a:p>
                <a:pPr algn="just"/>
                <a:r>
                  <a:rPr lang="en-US" sz="1900" dirty="0" err="1">
                    <a:latin typeface="Calibri" pitchFamily="34" charset="0"/>
                    <a:cs typeface="Calibri" pitchFamily="34" charset="0"/>
                  </a:rPr>
                  <a:t>Lúc</a:t>
                </a:r>
                <a:r>
                  <a:rPr lang="en-US" sz="1900" dirty="0">
                    <a:latin typeface="Calibri" pitchFamily="34" charset="0"/>
                    <a:cs typeface="Calibri" pitchFamily="34" charset="0"/>
                  </a:rPr>
                  <a:t> </a:t>
                </a:r>
                <a:r>
                  <a:rPr lang="en-US" sz="1900" dirty="0" err="1">
                    <a:latin typeface="Calibri" pitchFamily="34" charset="0"/>
                    <a:cs typeface="Calibri" pitchFamily="34" charset="0"/>
                  </a:rPr>
                  <a:t>đo</a:t>
                </a:r>
                <a:r>
                  <a:rPr lang="en-US" sz="1900" dirty="0">
                    <a:latin typeface="Calibri" pitchFamily="34" charset="0"/>
                    <a:cs typeface="Calibri" pitchFamily="34" charset="0"/>
                  </a:rPr>
                  <a:t>́ ta có </a:t>
                </a:r>
                <a:r>
                  <a:rPr lang="en-US" sz="1900" dirty="0" err="1" smtClean="0">
                    <a:latin typeface="Calibri" pitchFamily="34" charset="0"/>
                    <a:cs typeface="Calibri" pitchFamily="34" charset="0"/>
                  </a:rPr>
                  <a:t>được</a:t>
                </a:r>
                <a:r>
                  <a:rPr lang="en-US" sz="1900" dirty="0" smtClean="0">
                    <a:latin typeface="Calibri" pitchFamily="34" charset="0"/>
                    <a:cs typeface="Calibri" pitchFamily="34" charset="0"/>
                  </a:rPr>
                  <a:t>:</a:t>
                </a:r>
              </a:p>
              <a:p>
                <a:pPr marL="109728" indent="0" algn="just">
                  <a:buNone/>
                </a:pPr>
                <a14:m>
                  <m:oMathPara xmlns:m="http://schemas.openxmlformats.org/officeDocument/2006/math">
                    <m:oMathParaPr>
                      <m:jc m:val="centerGroup"/>
                    </m:oMathParaPr>
                    <m:oMath xmlns:m="http://schemas.openxmlformats.org/officeDocument/2006/math">
                      <m:r>
                        <m:rPr>
                          <m:sty m:val="p"/>
                        </m:rPr>
                        <a:rPr lang="en-US" sz="1900" i="1">
                          <a:latin typeface="Cambria Math"/>
                          <a:cs typeface="Calibri" pitchFamily="34" charset="0"/>
                        </a:rPr>
                        <m:t>F</m:t>
                      </m:r>
                      <m:r>
                        <a:rPr lang="en-US" sz="1900" b="0" i="1" smtClean="0">
                          <a:latin typeface="Cambria Math"/>
                          <a:cs typeface="Calibri" pitchFamily="34" charset="0"/>
                        </a:rPr>
                        <m:t>=</m:t>
                      </m:r>
                      <m:f>
                        <m:fPr>
                          <m:ctrlPr>
                            <a:rPr lang="en-US" sz="1900" b="0" i="1" smtClean="0">
                              <a:latin typeface="Cambria Math"/>
                              <a:cs typeface="Calibri" pitchFamily="34" charset="0"/>
                            </a:rPr>
                          </m:ctrlPr>
                        </m:fPr>
                        <m:num>
                          <m:d>
                            <m:dPr>
                              <m:begChr m:val="["/>
                              <m:endChr m:val="]"/>
                              <m:ctrlPr>
                                <a:rPr lang="en-US" sz="1900" b="0" i="1" smtClean="0">
                                  <a:latin typeface="Cambria Math"/>
                                  <a:cs typeface="Calibri" pitchFamily="34" charset="0"/>
                                </a:rPr>
                              </m:ctrlPr>
                            </m:dPr>
                            <m:e>
                              <m:r>
                                <a:rPr lang="en-US" sz="1900" b="0" i="1" smtClean="0">
                                  <a:latin typeface="Cambria Math"/>
                                  <a:cs typeface="Calibri" pitchFamily="34" charset="0"/>
                                </a:rPr>
                                <m:t>11790.25−</m:t>
                              </m:r>
                              <m:d>
                                <m:dPr>
                                  <m:ctrlPr>
                                    <a:rPr lang="en-US" sz="1900" b="0" i="1" smtClean="0">
                                      <a:latin typeface="Cambria Math"/>
                                      <a:cs typeface="Calibri" pitchFamily="34" charset="0"/>
                                    </a:rPr>
                                  </m:ctrlPr>
                                </m:dPr>
                                <m:e>
                                  <m:r>
                                    <a:rPr lang="en-US" sz="1900" b="0" i="1" smtClean="0">
                                      <a:latin typeface="Cambria Math"/>
                                      <a:cs typeface="Calibri" pitchFamily="34" charset="0"/>
                                    </a:rPr>
                                    <m:t>1785.032+10005.22</m:t>
                                  </m:r>
                                </m:e>
                              </m:d>
                            </m:e>
                          </m:d>
                        </m:num>
                        <m:den>
                          <m:r>
                            <a:rPr lang="en-US" sz="1900" b="0" i="1" smtClean="0">
                              <a:latin typeface="Cambria Math"/>
                              <a:cs typeface="Calibri" pitchFamily="34" charset="0"/>
                            </a:rPr>
                            <m:t>1785.032+10005.22</m:t>
                          </m:r>
                        </m:den>
                      </m:f>
                      <m:r>
                        <a:rPr lang="en-US" sz="1900" b="0" i="1" smtClean="0">
                          <a:latin typeface="Cambria Math"/>
                          <a:ea typeface="Cambria Math"/>
                          <a:cs typeface="Calibri" pitchFamily="34" charset="0"/>
                        </a:rPr>
                        <m:t>×</m:t>
                      </m:r>
                      <m:f>
                        <m:fPr>
                          <m:ctrlPr>
                            <a:rPr lang="en-US" sz="1900" b="0" i="1" smtClean="0">
                              <a:latin typeface="Cambria Math"/>
                              <a:ea typeface="Cambria Math"/>
                              <a:cs typeface="Calibri" pitchFamily="34" charset="0"/>
                            </a:rPr>
                          </m:ctrlPr>
                        </m:fPr>
                        <m:num>
                          <m:r>
                            <a:rPr lang="en-US" sz="1900" b="0" i="1" smtClean="0">
                              <a:latin typeface="Cambria Math"/>
                              <a:ea typeface="Cambria Math"/>
                              <a:cs typeface="Calibri" pitchFamily="34" charset="0"/>
                            </a:rPr>
                            <m:t>26−2</m:t>
                          </m:r>
                        </m:num>
                        <m:den>
                          <m:r>
                            <a:rPr lang="en-US" sz="1900" b="0" i="1" smtClean="0">
                              <a:latin typeface="Cambria Math"/>
                              <a:ea typeface="Cambria Math"/>
                              <a:cs typeface="Calibri" pitchFamily="34" charset="0"/>
                            </a:rPr>
                            <m:t>2</m:t>
                          </m:r>
                        </m:den>
                      </m:f>
                      <m:r>
                        <a:rPr lang="en-US" sz="1900" b="0" i="1" smtClean="0">
                          <a:latin typeface="Cambria Math"/>
                          <a:cs typeface="Calibri" pitchFamily="34" charset="0"/>
                        </a:rPr>
                        <m:t> </m:t>
                      </m:r>
                      <m:r>
                        <a:rPr lang="en-US" sz="1900" b="0" i="1" smtClean="0">
                          <a:latin typeface="Cambria Math"/>
                          <a:ea typeface="Cambria Math"/>
                          <a:cs typeface="Calibri" pitchFamily="34" charset="0"/>
                        </a:rPr>
                        <m:t>≈0&lt;</m:t>
                      </m:r>
                      <m:sSub>
                        <m:sSubPr>
                          <m:ctrlPr>
                            <a:rPr lang="en-US" sz="1900" b="0" i="1" smtClean="0">
                              <a:latin typeface="Cambria Math"/>
                              <a:ea typeface="Cambria Math"/>
                              <a:cs typeface="Calibri" pitchFamily="34" charset="0"/>
                            </a:rPr>
                          </m:ctrlPr>
                        </m:sSubPr>
                        <m:e>
                          <m:r>
                            <a:rPr lang="en-US" sz="1900" b="0" i="1" smtClean="0">
                              <a:latin typeface="Cambria Math"/>
                              <a:ea typeface="Cambria Math"/>
                              <a:cs typeface="Calibri" pitchFamily="34" charset="0"/>
                            </a:rPr>
                            <m:t>𝐹</m:t>
                          </m:r>
                        </m:e>
                        <m:sub>
                          <m:r>
                            <a:rPr lang="en-US" sz="1900" b="0" i="1" smtClean="0">
                              <a:latin typeface="Cambria Math"/>
                              <a:ea typeface="Cambria Math"/>
                              <a:cs typeface="Calibri" pitchFamily="34" charset="0"/>
                            </a:rPr>
                            <m:t>0.05</m:t>
                          </m:r>
                        </m:sub>
                      </m:sSub>
                      <m:d>
                        <m:dPr>
                          <m:ctrlPr>
                            <a:rPr lang="en-US" sz="1900" b="0" i="1" smtClean="0">
                              <a:latin typeface="Cambria Math"/>
                              <a:ea typeface="Cambria Math"/>
                              <a:cs typeface="Calibri" pitchFamily="34" charset="0"/>
                            </a:rPr>
                          </m:ctrlPr>
                        </m:dPr>
                        <m:e>
                          <m:r>
                            <a:rPr lang="en-US" sz="1900" b="0" i="1" smtClean="0">
                              <a:latin typeface="Cambria Math"/>
                              <a:ea typeface="Cambria Math"/>
                              <a:cs typeface="Calibri" pitchFamily="34" charset="0"/>
                            </a:rPr>
                            <m:t>2, 24</m:t>
                          </m:r>
                        </m:e>
                      </m:d>
                    </m:oMath>
                  </m:oMathPara>
                </a14:m>
                <a:endParaRPr lang="en-US" sz="1900" dirty="0" smtClean="0">
                  <a:latin typeface="Calibri" pitchFamily="34" charset="0"/>
                  <a:cs typeface="Calibri" pitchFamily="34" charset="0"/>
                </a:endParaRPr>
              </a:p>
              <a:p>
                <a:pPr algn="just"/>
                <a:endParaRPr lang="en-US" sz="1900" dirty="0" smtClean="0">
                  <a:latin typeface="Calibri" pitchFamily="34" charset="0"/>
                  <a:cs typeface="Calibri" pitchFamily="34" charset="0"/>
                </a:endParaRPr>
              </a:p>
              <a:p>
                <a:pPr algn="just"/>
                <a:r>
                  <a:rPr lang="en-US" sz="1900" dirty="0" err="1" smtClean="0">
                    <a:latin typeface="Calibri" pitchFamily="34" charset="0"/>
                    <a:cs typeface="Calibri" pitchFamily="34" charset="0"/>
                  </a:rPr>
                  <a:t>Vậy</a:t>
                </a:r>
                <a:r>
                  <a:rPr lang="en-US" sz="1900" dirty="0" smtClean="0">
                    <a:latin typeface="Calibri" pitchFamily="34" charset="0"/>
                    <a:cs typeface="Calibri" pitchFamily="34" charset="0"/>
                  </a:rPr>
                  <a:t> ta </a:t>
                </a:r>
                <a:r>
                  <a:rPr lang="en-US" sz="1900" dirty="0" err="1" smtClean="0">
                    <a:latin typeface="Calibri" pitchFamily="34" charset="0"/>
                    <a:cs typeface="Calibri" pitchFamily="34" charset="0"/>
                  </a:rPr>
                  <a:t>thấy</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chưa</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đu</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dư</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kiện</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để</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bác</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bo</a:t>
                </a:r>
                <a:r>
                  <a:rPr lang="en-US" sz="1900" dirty="0" smtClean="0">
                    <a:latin typeface="Calibri" pitchFamily="34" charset="0"/>
                    <a:cs typeface="Calibri" pitchFamily="34" charset="0"/>
                  </a:rPr>
                  <a:t>̉ </a:t>
                </a:r>
                <a14:m>
                  <m:oMath xmlns:m="http://schemas.openxmlformats.org/officeDocument/2006/math">
                    <m:sSub>
                      <m:sSubPr>
                        <m:ctrlPr>
                          <a:rPr lang="en-US" sz="1900" b="0" i="1" smtClean="0">
                            <a:latin typeface="Cambria Math"/>
                            <a:cs typeface="Calibri" pitchFamily="34" charset="0"/>
                          </a:rPr>
                        </m:ctrlPr>
                      </m:sSubPr>
                      <m:e>
                        <m:r>
                          <a:rPr lang="en-US" sz="1900" b="0" i="1" smtClean="0">
                            <a:latin typeface="Cambria Math"/>
                            <a:cs typeface="Calibri" pitchFamily="34" charset="0"/>
                          </a:rPr>
                          <m:t>𝐻</m:t>
                        </m:r>
                      </m:e>
                      <m:sub>
                        <m:r>
                          <a:rPr lang="en-US" sz="1900" b="0" i="1" smtClean="0">
                            <a:latin typeface="Cambria Math"/>
                            <a:cs typeface="Calibri" pitchFamily="34" charset="0"/>
                          </a:rPr>
                          <m:t>0</m:t>
                        </m:r>
                      </m:sub>
                    </m:sSub>
                  </m:oMath>
                </a14:m>
                <a:r>
                  <a:rPr lang="en-US" sz="1900" dirty="0" smtClean="0">
                    <a:latin typeface="Calibri" pitchFamily="34" charset="0"/>
                    <a:cs typeface="Calibri" pitchFamily="34" charset="0"/>
                  </a:rPr>
                  <a:t>:2 </a:t>
                </a:r>
                <a:r>
                  <a:rPr lang="en-US" sz="1900" dirty="0" err="1" smtClean="0">
                    <a:latin typeface="Calibri" pitchFamily="34" charset="0"/>
                    <a:cs typeface="Calibri" pitchFamily="34" charset="0"/>
                  </a:rPr>
                  <a:t>mô</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hình</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này</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giống</a:t>
                </a:r>
                <a:r>
                  <a:rPr lang="en-US" sz="1900" dirty="0" smtClean="0">
                    <a:latin typeface="Calibri" pitchFamily="34" charset="0"/>
                    <a:cs typeface="Calibri" pitchFamily="34" charset="0"/>
                  </a:rPr>
                  <a:t> </a:t>
                </a:r>
                <a:r>
                  <a:rPr lang="en-US" sz="1900" dirty="0" err="1" smtClean="0">
                    <a:latin typeface="Calibri" pitchFamily="34" charset="0"/>
                    <a:cs typeface="Calibri" pitchFamily="34" charset="0"/>
                  </a:rPr>
                  <a:t>nhau</a:t>
                </a:r>
                <a:r>
                  <a:rPr lang="en-US" sz="1900" dirty="0" smtClean="0">
                    <a:latin typeface="Calibri" pitchFamily="34" charset="0"/>
                    <a:cs typeface="Calibri" pitchFamily="34" charset="0"/>
                  </a:rPr>
                  <a:t>.</a:t>
                </a:r>
              </a:p>
              <a:p>
                <a:pPr marL="109728" indent="0" algn="just">
                  <a:buNone/>
                </a:pPr>
                <a:endParaRPr lang="en-US" sz="1900" dirty="0">
                  <a:latin typeface="Calibri" pitchFamily="34" charset="0"/>
                  <a:cs typeface="Calibri" pitchFamily="34" charset="0"/>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1213" r="-593" b="-270"/>
                </a:stretch>
              </a:blipFill>
            </p:spPr>
            <p:txBody>
              <a:bodyPr/>
              <a:lstStyle/>
              <a:p>
                <a:r>
                  <a:rPr lang="en-US">
                    <a:noFill/>
                  </a:rPr>
                  <a:t> </a:t>
                </a:r>
              </a:p>
            </p:txBody>
          </p:sp>
        </mc:Fallback>
      </mc:AlternateContent>
      <p:sp>
        <p:nvSpPr>
          <p:cNvPr id="3" name="Title 2"/>
          <p:cNvSpPr>
            <a:spLocks noGrp="1"/>
          </p:cNvSpPr>
          <p:nvPr>
            <p:ph type="title"/>
          </p:nvPr>
        </p:nvSpPr>
        <p:spPr/>
        <p:txBody>
          <a:bodyPr>
            <a:normAutofit fontScale="90000"/>
          </a:bodyPr>
          <a:lstStyle/>
          <a:p>
            <a:r>
              <a:rPr lang="en-US" dirty="0">
                <a:solidFill>
                  <a:srgbClr val="FF0000"/>
                </a:solidFill>
                <a:effectLst/>
                <a:latin typeface="Calibri" pitchFamily="34" charset="0"/>
                <a:cs typeface="Calibri" pitchFamily="34" charset="0"/>
              </a:rPr>
              <a:t>*</a:t>
            </a:r>
            <a:r>
              <a:rPr lang="en-US" dirty="0" err="1">
                <a:solidFill>
                  <a:srgbClr val="FF0000"/>
                </a:solidFill>
                <a:effectLst/>
                <a:latin typeface="Calibri" pitchFamily="34" charset="0"/>
                <a:cs typeface="Calibri" pitchFamily="34" charset="0"/>
              </a:rPr>
              <a:t>Kiểm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tra</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khác</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biệt</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trong</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hàm</a:t>
            </a:r>
            <a:r>
              <a:rPr lang="en-US" dirty="0">
                <a:solidFill>
                  <a:srgbClr val="FF0000"/>
                </a:solidFill>
                <a:effectLst/>
                <a:latin typeface="Calibri" pitchFamily="34" charset="0"/>
                <a:cs typeface="Calibri" pitchFamily="34" charset="0"/>
              </a:rPr>
              <a:t> </a:t>
            </a:r>
            <a:r>
              <a:rPr lang="en-US" dirty="0" err="1">
                <a:solidFill>
                  <a:srgbClr val="FF0000"/>
                </a:solidFill>
                <a:effectLst/>
                <a:latin typeface="Calibri" pitchFamily="34" charset="0"/>
                <a:cs typeface="Calibri" pitchFamily="34" charset="0"/>
              </a:rPr>
              <a:t>hồi</a:t>
            </a:r>
            <a:r>
              <a:rPr lang="en-US" dirty="0">
                <a:solidFill>
                  <a:srgbClr val="FF0000"/>
                </a:solidFill>
                <a:effectLst/>
                <a:latin typeface="Calibri" pitchFamily="34" charset="0"/>
                <a:cs typeface="Calibri" pitchFamily="34" charset="0"/>
              </a:rPr>
              <a:t> </a:t>
            </a:r>
            <a:r>
              <a:rPr lang="en-US" dirty="0" smtClean="0">
                <a:solidFill>
                  <a:srgbClr val="FF0000"/>
                </a:solidFill>
                <a:effectLst/>
                <a:latin typeface="Calibri" pitchFamily="34" charset="0"/>
                <a:cs typeface="Calibri" pitchFamily="34" charset="0"/>
              </a:rPr>
              <a:t>qui </a:t>
            </a:r>
            <a:r>
              <a:rPr lang="en-US" dirty="0">
                <a:solidFill>
                  <a:srgbClr val="FF0000"/>
                </a:solidFill>
                <a:effectLst/>
                <a:latin typeface="Calibri" pitchFamily="34" charset="0"/>
                <a:cs typeface="Calibri" pitchFamily="34" charset="0"/>
              </a:rPr>
              <a:t>qua </a:t>
            </a:r>
            <a:r>
              <a:rPr lang="en-US" dirty="0" err="1">
                <a:solidFill>
                  <a:srgbClr val="FF0000"/>
                </a:solidFill>
                <a:effectLst/>
                <a:latin typeface="Calibri" pitchFamily="34" charset="0"/>
                <a:cs typeface="Calibri" pitchFamily="34" charset="0"/>
              </a:rPr>
              <a:t>nhóm</a:t>
            </a:r>
            <a:r>
              <a:rPr lang="en-US" dirty="0">
                <a:solidFill>
                  <a:srgbClr val="FF0000"/>
                </a:solidFill>
                <a:effectLst/>
                <a:latin typeface="Calibri" pitchFamily="34" charset="0"/>
                <a:cs typeface="Calibri" pitchFamily="34" charset="0"/>
              </a:rPr>
              <a:t>:</a:t>
            </a:r>
            <a:endParaRPr lang="en-US" dirty="0">
              <a:solidFill>
                <a:srgbClr val="FF0000"/>
              </a:solidFill>
            </a:endParaRPr>
          </a:p>
        </p:txBody>
      </p:sp>
    </p:spTree>
    <p:extLst>
      <p:ext uri="{BB962C8B-B14F-4D97-AF65-F5344CB8AC3E}">
        <p14:creationId xmlns:p14="http://schemas.microsoft.com/office/powerpoint/2010/main" val="1144555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3856"/>
            <a:ext cx="9144000" cy="6871855"/>
          </a:xfrm>
          <a:prstGeom prst="rect">
            <a:avLst/>
          </a:prstGeom>
        </p:spPr>
      </p:pic>
    </p:spTree>
    <p:extLst>
      <p:ext uri="{BB962C8B-B14F-4D97-AF65-F5344CB8AC3E}">
        <p14:creationId xmlns:p14="http://schemas.microsoft.com/office/powerpoint/2010/main" val="27863332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890</TotalTime>
  <Words>3369</Words>
  <Application>Microsoft Office PowerPoint</Application>
  <PresentationFormat>On-screen Show (4:3)</PresentationFormat>
  <Paragraphs>464</Paragraphs>
  <Slides>21</Slides>
  <Notes>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3" baseType="lpstr">
      <vt:lpstr>Concourse</vt:lpstr>
      <vt:lpstr>MathType 6.0 Equation</vt:lpstr>
      <vt:lpstr>PowerPoint Presentation</vt:lpstr>
      <vt:lpstr>Lời mở đầu: </vt:lpstr>
      <vt:lpstr>Định nghĩa:</vt:lpstr>
      <vt:lpstr>Phân biệt Định Tính và Định Lượng</vt:lpstr>
      <vt:lpstr>Tại sao cần biến giả?</vt:lpstr>
      <vt:lpstr>Mô hình hồi qui đơn với 1 biến giả</vt:lpstr>
      <vt:lpstr>Mô hình hồi qui đơn với 1 biến giả</vt:lpstr>
      <vt:lpstr>Vậy khi đặt biến giả, ta cần lưu ý điều gì?</vt:lpstr>
      <vt:lpstr>* Mô hình hồi qui tuyến tính bội với 1 biến giả </vt:lpstr>
      <vt:lpstr>* Mô hình hồi qui tuyến tính bội với 1 biến giả </vt:lpstr>
      <vt:lpstr>* Mô hình hồi qui tuyến tính bội với 1 biến giả</vt:lpstr>
      <vt:lpstr>* Sử dụng đa biến giả</vt:lpstr>
      <vt:lpstr>*Mức chênh lệch về độ dốc cho phép:</vt:lpstr>
      <vt:lpstr>*Mức chênh lệch về độ dốc cho phép:</vt:lpstr>
      <vt:lpstr> *Kiểm tra khác biệt trong hàm hồi qui qua nhóm:</vt:lpstr>
      <vt:lpstr>*Kiểm tra khác biệt trong hàm hồi qui qua nhóm:</vt:lpstr>
      <vt:lpstr>*Kiểm tra khác biệt trong hàm hồi qui qua nhóm:</vt:lpstr>
      <vt:lpstr>*Kiểm tra khác biệt trong hàm hồi qui qua nhóm:</vt:lpstr>
      <vt:lpstr>*Kiểm tra khác biệt trong hàm hồi qui qua nhóm:</vt:lpstr>
      <vt:lpstr>*Kiểm tra khác biệt trong hàm hồi qui qua nhóm:</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Hewlett-Packard Company</dc:creator>
  <cp:lastModifiedBy>ADMIN</cp:lastModifiedBy>
  <cp:revision>76</cp:revision>
  <dcterms:created xsi:type="dcterms:W3CDTF">2018-12-13T03:48:23Z</dcterms:created>
  <dcterms:modified xsi:type="dcterms:W3CDTF">2018-12-14T12:55:55Z</dcterms:modified>
</cp:coreProperties>
</file>